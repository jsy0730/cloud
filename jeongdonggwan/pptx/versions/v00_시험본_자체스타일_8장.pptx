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d39b26-1575-fa9f-eac6-9fd44047bcb7}">
          <p14:sldIdLst>
            <p14:sldId id="256"/>
            <p14:sldId id="257"/>
          </p14:sldIdLst>
        </p14:section>
        <p14:section name="MAIN SUBJECT" id="{64478798-0841-2051-3dee-17fd01a561d2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확보율(%)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부산 전체(2021)</c:v>
                  </c:pt>
                  <c:pt idx="1">
                    <c:v>부산진구(2023)</c:v>
                  </c:pt>
                  <c:pt idx="2">
                    <c:v>개선지구 평균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130.5</c:v>
                </c:pt>
                <c:pt idx="1">
                  <c:v>118.5</c:v>
                </c:pt>
                <c:pt idx="2">
                  <c:v>69.1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주간 Leq 추정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A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7A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북(서전로)</c:v>
                  </c:pt>
                  <c:pt idx="1">
                    <c:v>서(전포대로)</c:v>
                  </c:pt>
                  <c:pt idx="2">
                    <c:v>남(224번길)</c:v>
                  </c:pt>
                  <c:pt idx="3">
                    <c:v>동(이면도로)</c:v>
                  </c:pt>
                  <c:pt idx="4">
                    <c:v>동측 주거 경계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72</c:v>
                </c:pt>
                <c:pt idx="2">
                  <c:v>70</c:v>
                </c:pt>
                <c:pt idx="3">
                  <c:v>69</c:v>
                </c:pt>
                <c:pt idx="4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  <c:min val="5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확보율 = 주차면수 ÷ 주차수요 × 100. 69.1%는 "상가밀집지역"이 아니라 노후주거지 밀집 등 주차환경개선지구 67곳의 평균이다(파이낸셜뉴스 2022.07.11).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가정과 한계: 그림자는 NOAA 태양 위치 근사식(북위 35.157°)과 본 시안 매스(옥상 광장 +21.1m, 홀 29.8m)로 계산했다. 주변 건물은 OpenStreetMap 등록분만 반영해 저층 건물이 빠져 있다. 일조 판단 시간대는 동지 9~15시로 가정했다. 건축법상 정북 일조 제한은 주거지역에만 적용되어 상업지역 대지에는 해당하지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가정과 한계: 소음 분포는 실측이 아니라 개략 추정이다. OSM 도로를 5m 간격 점음원으로 바꾸고 10m 기준 Leq를 광로·대로 70, 3차 63, 주거 58 dB(A)로 가정했다. 건물 차폐와 지면 효과는 반영하지 않아 실제와 다를 수 있다. 현장 낮·밤 실측으로 교체해야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황령산 정상(427m)은 OSM 좌표 기준 대지에서 동쪽 약 1.47km, BIFC(289m, 문현금융단지)는 남쪽 약 1.15km이다. 눈높이는 1층 1.6m, 옥상 광장 22.7m(+21.1m 지붕 위 1.6m)로 두었다. 주변 건물은 OSM 등록분(반경 약 420m)만 반영하므로 저층 건물이 빠져 조망이 실제보다 열려 보일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停動館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0" y="64190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jpg"/><Relationship Id="rId3" Type="http://schemas.openxmlformats.org/officeDocument/2006/relationships/image" Target="../media/image-2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sy07\AppData\Local\Temp\work\img\hero_s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80C18">
              <a:alpha val="78000"/>
            </a:srgbClr>
          </a:solidFill>
          <a:ln w="12700">
            <a:solidFill>
              <a:srgbClr val="080C1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공학설계기초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停動館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718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931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 밤에는 공연과 옥상 광장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720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복합주차장 시안 · 부산진구 전포동 207번지 일대 53필지 4,964.5㎡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4층 · 지상 6층 + 옥상 · 연면적 43,623.7㎡ · 주차 약 600대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202325137 정성윤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투시도는 개념 볼륨 모델로 만든 이미지이며 실제 설계안이 아님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3774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· 개요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69494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 한가운데 주차 공급이 모자란 곳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85632" y="274320"/>
            <a:ext cx="1060704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58291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68019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확보율 비교 (%)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417320"/>
          <a:ext cx="3931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130% · 부산진구는 등록 대비 118.5%</a:t>
            </a:r>
            <a:endParaRPr lang="en-US" sz="1000" dirty="0"/>
          </a:p>
        </p:txBody>
      </p:sp>
      <p:pic>
        <p:nvPicPr>
          <p:cNvPr id="12" name="Image 0" descr="C:\Users\jsy07\AppData\Local\Temp\work\img\photo_parking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94760"/>
            <a:ext cx="1679685" cy="2240280"/>
          </a:xfrm>
          <a:prstGeom prst="rect">
            <a:avLst/>
          </a:prstGeom>
        </p:spPr>
      </p:pic>
      <p:pic>
        <p:nvPicPr>
          <p:cNvPr id="13" name="Image 1" descr="C:\Users\jsy07\AppData\Local\Temp\work\img\photo_parking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3794760"/>
            <a:ext cx="1679685" cy="22402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57200" y="6062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 이면도로 현장(답사 2026.9) · 불법주차와 보행 혼재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수급 실태 지표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63040"/>
          <a:ext cx="69768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017520"/>
                <a:gridCol w="18105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확보율(등록 대비)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118.5% · 기준 130% 대비 약 1.7만 면 부족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 수급실태조사(2023)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반경 500m 공영주차장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27면 (1km 이내 약 415면)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표준데이터, 시설공단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불법주정차 단속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 1위 (2021.1~10월 109,993건)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글로벌경제 2021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 공급 계획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2025년까지 6,092면 · 1,995억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부산시 주차종합계획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17" name="Text 10"/>
          <p:cNvSpPr txBox="1"/>
          <p:nvPr/>
        </p:nvSpPr>
        <p:spPr>
          <a:xfrm>
            <a:off x="475488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개요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675888"/>
          <a:ext cx="69768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3766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위치·용도지역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전포동 207번지 일대 53필지 · 일반상업지역 · 방화지구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대지·연면적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4,964.5㎡ · 43,623.7㎡ (지상 23,923.7 + 지하 19,700.0)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 4층 · 지상 6층 + 옥상, 지상 약 29.1m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건폐율·용적률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87.1% (상한 90%) · 481.9% (지하 제외)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600대 · 주차 비율 75.62%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시설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 서점·카페·근생 · 5F 상인회 · 6F 가변홀 · B1~B2 공연장 200석 · 옥상 광장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19" name="Text 11"/>
          <p:cNvSpPr txBox="1"/>
          <p:nvPr/>
        </p:nvSpPr>
        <p:spPr>
          <a:xfrm>
            <a:off x="4754880" y="5989320"/>
            <a:ext cx="6976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소규모 필지에 점포가 밀집해 부설주차장 확보가 어려워, 상권 한가운데 거점형 주차장이 필요함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1600200" y="641908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파이낸셜뉴스 2022.07.11 · 부산일보 2024.07.04 · 글로벌경제 2021 · 토지이음(2026.10.11) · 69.1%는 주차환경개선지구 67곳 평균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3774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69494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53필지를 한 블록으로 묶어 쓰는 조건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8563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582912" y="274320"/>
            <a:ext cx="1060704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68019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850" dirty="0"/>
          </a:p>
        </p:txBody>
      </p:sp>
      <p:pic>
        <p:nvPicPr>
          <p:cNvPr id="8" name="Image 0" descr="C:\Users\jsy07\AppData\Local\Temp\work\img\site_e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429000" cy="41567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539115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토지이용계획 확인도면 · 필지군 표시(개략)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개요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63040"/>
          <a:ext cx="761695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1005840"/>
                <a:gridCol w="46908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형상 · 접도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쐐기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1,531.9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전포대로(서)에 면한 쐐기형, 남단이 뾰족함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소로 부지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733.1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구역 사이 폭 약 6m, 남단 전포대로 · 북단 서전로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블록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2,699.5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서전로 · 224번길 · 동측 이면도로에 면한 삼각형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지목 대 48필지, 도로 5필지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1148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조건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14800" y="3401568"/>
            <a:ext cx="37490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24528" y="3474720"/>
            <a:ext cx="3529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용도지역 · 높이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일반상업지역 · 방화지구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가로구역별 최고높이 기준 130m · 최고 180m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82712" y="3401568"/>
            <a:ext cx="37490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92440" y="3474720"/>
            <a:ext cx="3529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3m 이격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1,000㎡ 이상이라 북(서전로)·남(224번길)을 띄움, 전포대로 쪽은 면제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114800" y="4517136"/>
            <a:ext cx="37490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224528" y="4590288"/>
            <a:ext cx="3529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뾰족한 끝을 비움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북단 약 352㎡, 서측 남단 약 158㎡ → 개방 순환 계단 코어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982712" y="4517136"/>
            <a:ext cx="37490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92440" y="4590288"/>
            <a:ext cx="3529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이상 건축면적 4,322.1㎡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 87.1% (상한 90%)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114800" y="5577840"/>
            <a:ext cx="7616952" cy="640080"/>
          </a:xfrm>
          <a:prstGeom prst="rect">
            <a:avLst/>
          </a:prstGeom>
          <a:solidFill>
            <a:srgbClr val="FFF3CC"/>
          </a:solidFill>
          <a:ln w="12700">
            <a:solidFill>
              <a:srgbClr val="FFF3C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224528" y="5650992"/>
            <a:ext cx="7397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· 207-15·79는 제3종일반주거지역도 표기(상업지역으로 계산) · 207-84·85는 지목 대이나 도로로 쓰임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600200" y="641908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토지이음 필지별 토지이용계획 조회(2026.10.11) · 부산 건축조례 별표4 · 필지 위치는 확인도면 정합으로 판별, 치수 개략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3774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부지 선정 · 교통 및 동선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69494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수요와 접근이 맞는 곳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8563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582912" y="274320"/>
            <a:ext cx="1060704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68019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850" dirty="0"/>
          </a:p>
        </p:txBody>
      </p:sp>
      <p:pic>
        <p:nvPicPr>
          <p:cNvPr id="8" name="Image 0" descr="C:\Users\jsy07\AppData\Local\Temp\work\img\transit_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480560" cy="40883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53228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현황도 · 지도 © OpenStreetMap contributors, 위치 개략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 근거 세 가지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12080" y="1481328"/>
            <a:ext cx="6519672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21808" y="1481328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154533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두 역 도보권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1호선 서면역 737m · 2호선 전포역 529m. 주차 이용객뿐 아니라 공연·광장 방문객도 걸어서 접근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2350008"/>
            <a:ext cx="6519672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21808" y="2350008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41401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상권 사이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전리단길 · 전포카페거리 · 전포사잇길 사이. 낮 방문객과 밤 관객 수요를 함께 받음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12080" y="3218688"/>
            <a:ext cx="6519672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21808" y="3218688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328269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공영주차장 공백지대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 27면, 1km 약 415면. 2022 시의회에서 대지 옆 놀이마루 부지 공영주차장 건립이 제안됨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계획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212080" y="4453128"/>
            <a:ext cx="3209544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21808" y="4526280"/>
            <a:ext cx="2990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남단 진입 · 북단 진출, 소로는 남→북 일방 전용. 400대 초과 입구·출구 분리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522208" y="4453128"/>
            <a:ext cx="3209544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31936" y="4526280"/>
            <a:ext cx="2990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외곽을 한 바퀴, 소로 중간에 횡단보도 1곳. 서점·카페·로비는 전포대로 쪽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212080" y="5257800"/>
            <a:ext cx="3209544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21808" y="5330952"/>
            <a:ext cx="2990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 2곳(개방 순환 계단 + 승강기), 지하는 같은 자리에 특별피난계단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522208" y="5257800"/>
            <a:ext cx="3209544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31936" y="5330952"/>
            <a:ext cx="2990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하역·이륜차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이면도로 쪽 1층 북쪽, 일반 차량과 분리. 동측 주거 쪽 차량 진출입 없음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212080" y="6053328"/>
            <a:ext cx="6519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두 역 도보권과 카페거리 사이의 공영주차장 공백지라 거점형 입지로 적합함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600200" y="641908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도보 환산, 팀 상권 조사, 부산버스정보시스템(2026.9.30), 시설공단 · 표준데이터(2026.04), 시의회 5분 발언(2022.08)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3774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69494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남북 장축 블록의 일사와 그림자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8563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582912" y="274320"/>
            <a:ext cx="1060704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68019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850" dirty="0"/>
          </a:p>
        </p:txBody>
      </p:sp>
      <p:pic>
        <p:nvPicPr>
          <p:cNvPr id="9" name="Image 0" descr="C:\Users\jsy07\AppData\Local\Temp\work\img\shadow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23811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606443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그림자 · 동지 09/12/15시 (높이 29.8m 기준, 붉은 점선 = 제3종일반주거 경계 약 45m)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4114800"/>
            <a:ext cx="18288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6928" y="4187952"/>
            <a:ext cx="160934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· 전포대로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직사 동지 4.3h · 하지 6.7h (오후)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일사와 도로 소음을 함께 받는 면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타공 전돌 스크린, 6F는 세로 핀 유리(미정)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350008" y="4114800"/>
            <a:ext cx="18288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59736" y="4187952"/>
            <a:ext cx="160934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· 이면도로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직사 동지 4.3h · 하지 6.8h (오전)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15시경에야 주거 경계에 도달, 9~15시 최대 0.5h 미만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일조 침해 낮음, 차량 진출입 없음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242816" y="4114800"/>
            <a:ext cx="18288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352544" y="4187952"/>
            <a:ext cx="160934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남측 · 224번길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직사 동지 8.6h · 하지 6.9h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고도 31°로 깊이 입사, 하지는 78°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1층 근생 남단 + 옥상 광장 남향 배치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35624" y="4114800"/>
            <a:ext cx="18288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245352" y="4187952"/>
            <a:ext cx="160934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북측 · 서전로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직사 0h · 하지는 새벽·저녁만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확산광이라 밝기가 일정, 그림자는 북쪽 도로로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6F 홀을 북쪽에 둠, 광장은 홀 남쪽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5897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동지에도 동측 주거지 그림자는 0.5h 미만, 옥상 광장은 그림자 영향 없음</a:t>
            </a:r>
            <a:endParaRPr lang="en-US" sz="1400" dirty="0"/>
          </a:p>
        </p:txBody>
      </p:sp>
      <p:pic>
        <p:nvPicPr>
          <p:cNvPr id="20" name="Image 1" descr="C:\Users\jsy07\AppData\Local\Temp\work\img\sunpa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188720"/>
            <a:ext cx="3593592" cy="185887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38160" y="3084169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 경로 · 동지·춘추분·하지 (대지 위치)</a:t>
            </a:r>
            <a:endParaRPr lang="en-US" sz="1000" dirty="0"/>
          </a:p>
        </p:txBody>
      </p:sp>
      <p:pic>
        <p:nvPicPr>
          <p:cNvPr id="22" name="Image 2" descr="C:\Users\jsy07\AppData\Local\Temp\work\img\shadow_hou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459073"/>
            <a:ext cx="3108960" cy="252511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138160" y="605332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09~15시 그림자 누적 시간(h)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600200" y="641908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NOAA 태양 위치 근사식 · OpenStreetMap contributors(건물 층수·높이 일부 추정) · 본 시안 매스 계산, 직사 시간은 고도 5° 이상 · 가림 없음 가정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3774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69494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서·북 도로변 소음원과 동측 주거 경계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8563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582912" y="274320"/>
            <a:ext cx="1060704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68019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850" dirty="0"/>
          </a:p>
        </p:txBody>
      </p:sp>
      <p:pic>
        <p:nvPicPr>
          <p:cNvPr id="9" name="Image 0" descr="C:\Users\jsy07\AppData\Local\Temp\work\img\nois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69080" cy="375892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984219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소음 분포 추정 · 가정 교통량, 건물 차폐 미반영 · 점 = 4면 평가점</a:t>
            </a:r>
            <a:endParaRPr lang="en-US" sz="1000" dirty="0"/>
          </a:p>
        </p:txBody>
      </p:sp>
      <p:pic>
        <p:nvPicPr>
          <p:cNvPr id="11" name="Image 1" descr="C:\Users\jsy07\AppData\Local\Temp\work\img\photo_parking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5331691"/>
            <a:ext cx="1965960" cy="1051560"/>
          </a:xfrm>
          <a:prstGeom prst="rect">
            <a:avLst/>
          </a:prstGeom>
        </p:spPr>
      </p:pic>
      <p:pic>
        <p:nvPicPr>
          <p:cNvPr id="12" name="Image 2" descr="C:\Users\jsy07\AppData\Local\Temp\work\img\jeonpo_stree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60320" y="5331691"/>
            <a:ext cx="1965960" cy="10515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환경기준 · 소음 dB(A)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63040"/>
          <a:ext cx="3566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11480"/>
                <a:gridCol w="41148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다(상업)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대지(상업)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다(상업)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서·북 도로변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나(주거)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3종주거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가·나(주거)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주거변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</a:tr>
            </a:tbl>
          </a:graphicData>
        </a:graphic>
      </p:graphicFrame>
      <p:sp>
        <p:nvSpPr>
          <p:cNvPr id="15" name="Text 8"/>
          <p:cNvSpPr txBox="1"/>
          <p:nvPr/>
        </p:nvSpPr>
        <p:spPr>
          <a:xfrm>
            <a:off x="475488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환경정책기본법 시행령 · 낮 06~22시, 밤 22~06시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47548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면별 주간 추정치 (dB(A), 가정)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754880" y="3794760"/>
          <a:ext cx="35661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 10"/>
          <p:cNvSpPr txBox="1"/>
          <p:nvPr/>
        </p:nvSpPr>
        <p:spPr>
          <a:xfrm>
            <a:off x="85496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공간별 대응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8549640" y="1481328"/>
            <a:ext cx="318211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8659368" y="155448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 B1~B2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박스인박스 + 방진 바닥, 선큰 마당 쪽 로비가 완충. 실내 배경소음 NC 20~25 목표(제안)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8549640" y="2386584"/>
            <a:ext cx="318211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8659368" y="2459736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차음 지붕, 소음원인 서·북 면은 닫고 광장(남)으로 개구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8549640" y="3291840"/>
            <a:ext cx="318211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659368" y="3364992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· 램프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바닥이 덮은 높이 7m 통로라 엔진·경적 소음이 내부에 갇힘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8549640" y="4197096"/>
            <a:ext cx="318211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8659368" y="4270248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 상인회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 쪽 배치, 서측 면은 2중창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8549640" y="5102352"/>
            <a:ext cx="318211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8659368" y="5175504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주거 경계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진출입 없음, 하역·이륜차는 운영시간 제한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600200" y="641908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환경정책기본법 시행령 · 전포동 측정값 없음(부산시 측정망 목록에 전포동 지점 없음) · 표의 dB은 개략 추정, 실측 필요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3774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69494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황령산 · BIFC · 서면 도심, 옥상 광장에서 열림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8563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582912" y="274320"/>
            <a:ext cx="1060704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680192" y="274320"/>
            <a:ext cx="1060704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850" dirty="0"/>
          </a:p>
        </p:txBody>
      </p:sp>
      <p:pic>
        <p:nvPicPr>
          <p:cNvPr id="9" name="Image 0" descr="C:\Users\jsy07\AppData\Local\Temp\work\img\view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635240" cy="269793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914085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스카이라인 앙각 분석 · 옥상 광장 vs 1층 가로 (주변 건물 + 정동관 매스)</a:t>
            </a:r>
            <a:endParaRPr lang="en-US" sz="1000" dirty="0"/>
          </a:p>
        </p:txBody>
      </p:sp>
      <p:pic>
        <p:nvPicPr>
          <p:cNvPr id="11" name="Image 1" descr="C:\Users\jsy07\AppData\Local\Temp\work\img\jeonpo_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52413"/>
            <a:ext cx="3749040" cy="1691640"/>
          </a:xfrm>
          <a:prstGeom prst="rect">
            <a:avLst/>
          </a:prstGeom>
        </p:spPr>
      </p:pic>
      <p:pic>
        <p:nvPicPr>
          <p:cNvPr id="12" name="Image 2" descr="C:\Users\jsy07\AppData\Local\Temp\work\img\roof_view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252413"/>
            <a:ext cx="3017520" cy="16916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5971485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BIFC·서면 일대 조망 · Christian Bolz, CC BY-SA 4.0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4297680" y="597148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시뮬레이션(개념 모델)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83210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 대상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463040"/>
          <a:ext cx="341071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97280"/>
                <a:gridCol w="530352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방위·거리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앙각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 판정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황령산 정상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 87° · 1.47km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15.1°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상단만 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BIFC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 184° · 1.15km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12.6°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서면 도심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 · 약 0.6km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7" name="Shape 10"/>
          <p:cNvSpPr/>
          <p:nvPr/>
        </p:nvSpPr>
        <p:spPr>
          <a:xfrm>
            <a:off x="8321040" y="2926080"/>
            <a:ext cx="3410712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8430768" y="2999232"/>
            <a:ext cx="31912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시점별 차이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가로: 동쪽은 자체 매스가 가려 황령산 안 보임, 남쪽 전포대로 축으로 BIFC만 보임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광장: 열린 각도 약 128°(스카이라인 6° 미만), 동남동 29~30층 아파트 위로 능선 상단이 걸침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8321040" y="4572000"/>
            <a:ext cx="3410712" cy="1234440"/>
          </a:xfrm>
          <a:prstGeom prst="rect">
            <a:avLst/>
          </a:prstGeom>
          <a:solidFill>
            <a:srgbClr val="E8EEF9"/>
          </a:solidFill>
          <a:ln w="12700">
            <a:solidFill>
              <a:srgbClr val="E8EEF9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8430768" y="4645152"/>
            <a:ext cx="31912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반영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 개구부는 남(BIFC)과 동(황령산 능선)에 집중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북·서 면은 차음과 일사 때문에 닫음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동·남 모서리에 벤치, 난간은 낮게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8321040" y="589788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조망은 옥상에서, 남·동으로만 열음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600200" y="641908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OSM 좌표 · 위키백과 · 토지이음 · 본 시안 매스 · 앙각은 지면 8m 가정 · 사진: Wikimedia Commons(CC BY-SA 4.0) · 능선 형상은 반영 안 됨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sy07\AppData\Local\Temp\work\img\night_sw.jp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>
              <a:alpha val="65000"/>
            </a:srgbClr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22960" y="5029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停</a:t>
            </a:r>
            <a:endParaRPr lang="en-US" sz="9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動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06908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館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897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8686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밤에는 공연과 옥상 광장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65760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停動館의 뜻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342900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停은 멈춤, 動은 움직임, 館은 건물임. 차가 멈추는 주차층(停)은 차분한 전돌 스크린으로 감싸고, 사람이 움직이는 계단 · 홀 · 광장(動)은 붉은 순환 계단과 빛나는 홀로 드러냄. 낮에는 상권의 차를 받고, 밤에는 지하 공연장 · 6F 가변홀 · 옥상 광장이 켜짐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5715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정동관은 주차 건물이 아니라 멈춤과 움직임이 하루 안에서 교대하는 건물을 목표로 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전포 정동관 · 복합주차장 시안</dc:title>
  <dc:subject>PptxGenJS Presentation</dc:subject>
  <dc:creator>정성윤</dc:creator>
  <cp:lastModifiedBy>정성윤</cp:lastModifiedBy>
  <cp:revision>1</cp:revision>
  <dcterms:created xsi:type="dcterms:W3CDTF">2026-10-12T10:43:02Z</dcterms:created>
  <dcterms:modified xsi:type="dcterms:W3CDTF">2026-10-12T10:43:02Z</dcterms:modified>
</cp:coreProperties>
</file>