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919f9c-f200-0bbd-96f3-34edc3cf8998}">
          <p14:sldIdLst>
            <p14:sldId id="256"/>
            <p14:sldId id="257"/>
            <p14:sldId id="258"/>
          </p14:sldIdLst>
        </p14:section>
        <p14:section name="MAIN SUBJECT" id="{6be0114f-c7d6-3bd2-25cd-e76aa87f5578}">
          <p14:sldIdLst>
            <p14:sldId id="259"/>
            <p14:sldId id="260"/>
            <p14:sldId id="261"/>
            <p14:sldId id="262"/>
            <p14:sldId id="263"/>
            <p14:sldId id="264"/>
            <p14:sldId id="265"/>
            <p14:sldId id="266"/>
            <p14:sldId id="267"/>
            <p14:sldId id="268"/>
            <p14:sldId id="269"/>
            <p14:sldId id="270"/>
            <p14:sldId id="271"/>
          </p14:sldIdLst>
        </p14:section>
        <p14:section name="CONCLUSION" id="{3838a50c-f614-6c03-d72b-8226ef2b1cd1}">
          <p14:sldIdLst>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확보율(%)</c:v>
                </c:pt>
              </c:strCache>
            </c:strRef>
          </c:tx>
          <c:spPr>
            <a:solidFill>
              <a:srgbClr val="002060"/>
            </a:solidFill>
            <a:effectLst/>
          </c:spPr>
          <c:invertIfNegative val="0"/>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4272C4"/>
              </a:solidFill>
              <a:effectLst/>
            </c:spPr>
          </c:dPt>
          <c:dPt>
            <c:idx val="2"/>
            <c:invertIfNegative val="0"/>
            <c:bubble3D val="0"/>
            <c:spPr>
              <a:solidFill>
                <a:srgbClr val="8493B2"/>
              </a:solidFill>
              <a:effectLst/>
            </c:spPr>
          </c:dPt>
          <c:cat>
            <c:multiLvlStrRef>
              <c:f>Sheet1!$A$2:$A$4</c:f>
              <c:multiLvlStrCache>
                <c:ptCount val="3"/>
                <c:lvl>
                  <c:pt idx="0">
                    <c:v>부산 전체(2021)</c:v>
                  </c:pt>
                  <c:pt idx="1">
                    <c:v>부산진구(2023)</c:v>
                  </c:pt>
                  <c:pt idx="2">
                    <c:v>개선지구 평균</c:v>
                  </c:pt>
                </c:lvl>
              </c:multiLvlStrCache>
            </c:multiLvlStrRef>
          </c:cat>
          <c:val>
            <c:numRef>
              <c:f>Sheet1!$B$2:$B$4</c:f>
              <c:numCache>
                <c:formatCode>General</c:formatCode>
                <c:ptCount val="3"/>
                <c:pt idx="0">
                  <c:v>130.5</c:v>
                </c:pt>
                <c:pt idx="1">
                  <c:v>118.5</c:v>
                </c:pt>
                <c:pt idx="2">
                  <c:v>69.1</c:v>
                </c:pt>
              </c:numCache>
            </c:numRef>
          </c:val>
        </c:ser>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1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주간 Leq 추정</c:v>
                </c:pt>
              </c:strCache>
            </c:strRef>
          </c:tx>
          <c:spPr>
            <a:solidFill>
              <a:srgbClr val="002060"/>
            </a:solidFill>
            <a:effectLst/>
          </c:spPr>
          <c:invertIfNegative val="0"/>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4272C4"/>
              </a:solidFill>
              <a:effectLst/>
            </c:spPr>
          </c:dPt>
          <c:dPt>
            <c:idx val="3"/>
            <c:invertIfNegative val="0"/>
            <c:bubble3D val="0"/>
            <c:spPr>
              <a:solidFill>
                <a:srgbClr val="4272C4"/>
              </a:solidFill>
              <a:effectLst/>
            </c:spPr>
          </c:dPt>
          <c:dPt>
            <c:idx val="4"/>
            <c:invertIfNegative val="0"/>
            <c:bubble3D val="0"/>
            <c:spPr>
              <a:solidFill>
                <a:srgbClr val="8493B2"/>
              </a:solidFill>
              <a:effectLst/>
            </c:spPr>
          </c:dPt>
          <c:cat>
            <c:multiLvlStrRef>
              <c:f>Sheet1!$A$2:$A$6</c:f>
              <c:multiLvlStrCache>
                <c:ptCount val="5"/>
                <c:lvl>
                  <c:pt idx="0">
                    <c:v>북 · 서전로</c:v>
                  </c:pt>
                  <c:pt idx="1">
                    <c:v>서 · 전포대로</c:v>
                  </c:pt>
                  <c:pt idx="2">
                    <c:v>남 · 224번길</c:v>
                  </c:pt>
                  <c:pt idx="3">
                    <c:v>동 · 이면도로</c:v>
                  </c:pt>
                  <c:pt idx="4">
                    <c:v>동측 주거 경계</c:v>
                  </c:pt>
                </c:lvl>
              </c:multiLvlStrCache>
            </c:multiLvlStrRef>
          </c:cat>
          <c:val>
            <c:numRef>
              <c:f>Sheet1!$B$2:$B$6</c:f>
              <c:numCache>
                <c:formatCode>General</c:formatCode>
                <c:ptCount val="5"/>
                <c:pt idx="0">
                  <c:v>76</c:v>
                </c:pt>
                <c:pt idx="1">
                  <c:v>72</c:v>
                </c:pt>
                <c:pt idx="2">
                  <c:v>70</c:v>
                </c:pt>
                <c:pt idx="3">
                  <c:v>69</c:v>
                </c:pt>
                <c:pt idx="4">
                  <c:v>67</c:v>
                </c:pt>
              </c:numCache>
            </c:numRef>
          </c:val>
        </c:ser>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9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구성비</c:v>
                </c:pt>
              </c:strCache>
            </c:strRef>
          </c:tx>
          <c:spPr>
            <a:solidFill>
              <a:schemeClr val="accent1"/>
            </a:solidFill>
            <a:ln w="9525" cap="flat">
              <a:solidFill>
                <a:srgbClr val="F9F9F9"/>
              </a:solidFill>
              <a:prstDash val="solid"/>
              <a:round/>
            </a:ln>
            <a:effectLst/>
          </c:spPr>
          <c:dPt>
            <c:idx val="0"/>
            <c:bubble3D val="0"/>
            <c:spPr>
              <a:solidFill>
                <a:srgbClr val="08205E"/>
              </a:solidFill>
              <a:ln w="19050" cap="flat">
                <a:solidFill>
                  <a:srgbClr val="FFFFFF"/>
                </a:solidFill>
                <a:prstDash val="solid"/>
                <a:round/>
              </a:ln>
              <a:effectLst/>
            </c:spPr>
          </c:dPt>
          <c:dPt>
            <c:idx val="1"/>
            <c:bubble3D val="0"/>
            <c:spPr>
              <a:solidFill>
                <a:srgbClr val="4272C4"/>
              </a:solidFill>
              <a:ln w="19050" cap="flat">
                <a:solidFill>
                  <a:srgbClr val="FFFFFF"/>
                </a:solidFill>
                <a:prstDash val="solid"/>
                <a:round/>
              </a:ln>
              <a:effectLst/>
            </c:spPr>
          </c:dPt>
          <c:dPt>
            <c:idx val="2"/>
            <c:bubble3D val="0"/>
            <c:spPr>
              <a:solidFill>
                <a:srgbClr val="7F9DCF"/>
              </a:solidFill>
              <a:ln w="19050" cap="flat">
                <a:solidFill>
                  <a:srgbClr val="FFFFFF"/>
                </a:solidFill>
                <a:prstDash val="solid"/>
                <a:round/>
              </a:ln>
              <a:effectLst/>
            </c:spPr>
          </c:dPt>
          <c:dPt>
            <c:idx val="3"/>
            <c:bubble3D val="0"/>
            <c:spPr>
              <a:solidFill>
                <a:srgbClr val="ABBDE0"/>
              </a:solidFill>
              <a:ln w="19050" cap="flat">
                <a:solidFill>
                  <a:srgbClr val="FFFFFF"/>
                </a:solidFill>
                <a:prstDash val="solid"/>
                <a:round/>
              </a:ln>
              <a:effectLst/>
            </c:spPr>
          </c:dPt>
          <c:dPt>
            <c:idx val="4"/>
            <c:bubble3D val="0"/>
            <c:spPr>
              <a:solidFill>
                <a:srgbClr val="DBE2F5"/>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주차장</c:v>
                </c:pt>
                <c:pt idx="1">
                  <c:v>문화 · 공연</c:v>
                </c:pt>
                <c:pt idx="2">
                  <c:v>상업 · 상인</c:v>
                </c:pt>
                <c:pt idx="3">
                  <c:v>코어</c:v>
                </c:pt>
                <c:pt idx="4">
                  <c:v>설비 · 지원</c:v>
                </c:pt>
              </c:strCache>
            </c:strRef>
          </c:cat>
          <c:val>
            <c:numRef>
              <c:f>Sheet1!$B$2:$B$6</c:f>
              <c:numCache>
                <c:ptCount val="5"/>
                <c:pt idx="0">
                  <c:v>75.62</c:v>
                </c:pt>
                <c:pt idx="1">
                  <c:v>11.58</c:v>
                </c:pt>
                <c:pt idx="2">
                  <c:v>5.96</c:v>
                </c:pt>
                <c:pt idx="3">
                  <c:v>3.44</c:v>
                </c:pt>
                <c:pt idx="4">
                  <c:v>3.4</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확보율 = 주차면수 ÷ 주차수요 × 100. 69.1%는 상가밀집지역이 아니라 노후주거지 밀집 등 주차환경개선지구 67곳의 평균임.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그림자는 본 시안 매스(5F 지붕 21.1m, 6F 홀 29.8m)와 NOAA 근사식으로 계산함. 주변 건물은 OSM 등록분만 반영해 저층이 빠져 있음. 일조 판단 시간대는 동지 9~15시로 가정함. 정북 일조 제한은 주거지역에만 적용되어 상업지역 대지에는 해당하지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소음 분포는 실측이 아니라 개략 추정임. OSM 도로를 5m 간격 점음원으로 바꾸고 10m 기준 Leq를 광로·대로 70, 3차 63, 주거 58 dB(A)로 가정했으며 건물 차폐와 지면 효과는 넣지 않음. 부산시 소음 측정망에 전포동 지점이 없어 현장 낮·밤 실측으로 교체해야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황령산 정상(427m)은 OSM 좌표 기준 대지에서 동쪽 약 1.47km, BIFC(289m)는 남쪽 약 1.15km. 눈높이는 1층 1.6m, 옥상 광장 22.7m. 주변 건물은 OSM 등록분(반경 약 420m)만 반영해 저층이 빠져 있어 조망이 실제보다 열려 보일 수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렌더는 Blender 5.2 Cycles(192 샘플, OpenImageDenoise)이며 외피 슬랫 재질은 Poly Haven dark_wood 텍스처를 사용함. 슬랫 폭 0.15m, 피치 0.24m는 가정값임.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소로 시점은 황혼 조도로 렌더함. 사람과 차량은 단순 모형이며 실제 계획 인원과 무관함.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sy07\AppData\Local\Temp\work\img2\cover_hero.png">    </p:cNvPr>
          <p:cNvPicPr>
            <a:picLocks noChangeAspect="1"/>
          </p:cNvPicPr>
          <p:nvPr/>
        </p:nvPicPr>
        <p:blipFill>
          <a:blip r:embed="rId1"/>
          <a:stretch>
            <a:fillRect/>
          </a:stretch>
        </p:blipFill>
        <p:spPr>
          <a:xfrm>
            <a:off x="4967935" y="0"/>
            <a:ext cx="7223760" cy="6858000"/>
          </a:xfrm>
          <a:prstGeom prst="rect">
            <a:avLst/>
          </a:prstGeom>
        </p:spPr>
      </p:pic>
      <p:sp>
        <p:nvSpPr>
          <p:cNvPr id="3" name="Text 0"/>
          <p:cNvSpPr txBox="1"/>
          <p:nvPr/>
        </p:nvSpPr>
        <p:spPr>
          <a:xfrm>
            <a:off x="640080" y="685800"/>
            <a:ext cx="5486400" cy="365760"/>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2026 · 공학설계기초</a:t>
            </a:r>
            <a:endParaRPr lang="en-US" sz="1500" dirty="0"/>
          </a:p>
        </p:txBody>
      </p:sp>
      <p:sp>
        <p:nvSpPr>
          <p:cNvPr id="4" name="Text 1"/>
          <p:cNvSpPr txBox="1"/>
          <p:nvPr/>
        </p:nvSpPr>
        <p:spPr>
          <a:xfrm>
            <a:off x="640080" y="1554480"/>
            <a:ext cx="5943600" cy="914400"/>
          </a:xfrm>
          <a:prstGeom prst="rect">
            <a:avLst/>
          </a:prstGeom>
          <a:noFill/>
          <a:ln/>
        </p:spPr>
        <p:txBody>
          <a:bodyPr wrap="square" lIns="0" tIns="0" rIns="0" bIns="0" rtlCol="0" anchor="t"/>
          <a:lstStyle/>
          <a:p>
            <a:pPr eaLnBrk="0" indent="0" marL="0">
              <a:buNone/>
            </a:pPr>
            <a:r>
              <a:rPr lang="en-US" sz="5000" b="1" spc="-100" kern="0" dirty="0">
                <a:solidFill>
                  <a:srgbClr val="000000"/>
                </a:solidFill>
                <a:latin typeface="Malgun Gothic" pitchFamily="34" charset="0"/>
                <a:ea typeface="Malgun Gothic" pitchFamily="34" charset="-122"/>
                <a:cs typeface="Malgun Gothic" pitchFamily="34" charset="-120"/>
              </a:rPr>
              <a:t>전포동</a:t>
            </a:r>
            <a:endParaRPr lang="en-US" sz="5000" dirty="0"/>
          </a:p>
        </p:txBody>
      </p:sp>
      <p:sp>
        <p:nvSpPr>
          <p:cNvPr id="5" name="Text 2"/>
          <p:cNvSpPr txBox="1"/>
          <p:nvPr/>
        </p:nvSpPr>
        <p:spPr>
          <a:xfrm>
            <a:off x="640080" y="2514600"/>
            <a:ext cx="6583680" cy="914400"/>
          </a:xfrm>
          <a:prstGeom prst="rect">
            <a:avLst/>
          </a:prstGeom>
          <a:noFill/>
          <a:ln/>
        </p:spPr>
        <p:txBody>
          <a:bodyPr wrap="square" lIns="0" tIns="0" rIns="0" bIns="0" rtlCol="0" anchor="t"/>
          <a:lstStyle/>
          <a:p>
            <a:pPr eaLnBrk="0" indent="0" marL="0">
              <a:buNone/>
            </a:pPr>
            <a:r>
              <a:rPr lang="en-US" sz="5000" b="1" spc="-100" kern="0" dirty="0">
                <a:solidFill>
                  <a:srgbClr val="002060"/>
                </a:solidFill>
                <a:latin typeface="Malgun Gothic" pitchFamily="34" charset="0"/>
                <a:ea typeface="Malgun Gothic" pitchFamily="34" charset="-122"/>
                <a:cs typeface="Malgun Gothic" pitchFamily="34" charset="-120"/>
              </a:rPr>
              <a:t>복합주차장 정동관</a:t>
            </a:r>
            <a:endParaRPr lang="en-US" sz="5000" dirty="0"/>
          </a:p>
        </p:txBody>
      </p:sp>
      <p:sp>
        <p:nvSpPr>
          <p:cNvPr id="6" name="Text 3"/>
          <p:cNvSpPr txBox="1"/>
          <p:nvPr/>
        </p:nvSpPr>
        <p:spPr>
          <a:xfrm>
            <a:off x="640080" y="3474720"/>
            <a:ext cx="5943600" cy="914400"/>
          </a:xfrm>
          <a:prstGeom prst="rect">
            <a:avLst/>
          </a:prstGeom>
          <a:noFill/>
          <a:ln/>
        </p:spPr>
        <p:txBody>
          <a:bodyPr wrap="square" lIns="0" tIns="0" rIns="0" bIns="0" rtlCol="0" anchor="t"/>
          <a:lstStyle/>
          <a:p>
            <a:pPr eaLnBrk="0" indent="0" marL="0">
              <a:buNone/>
            </a:pPr>
            <a:r>
              <a:rPr lang="en-US" sz="5000" b="1" spc="-100" kern="0" dirty="0">
                <a:solidFill>
                  <a:srgbClr val="000000"/>
                </a:solidFill>
                <a:latin typeface="Malgun Gothic" pitchFamily="34" charset="0"/>
                <a:ea typeface="Malgun Gothic" pitchFamily="34" charset="-122"/>
                <a:cs typeface="Malgun Gothic" pitchFamily="34" charset="-120"/>
              </a:rPr>
              <a:t>건축계획</a:t>
            </a:r>
            <a:endParaRPr lang="en-US" sz="5000" dirty="0"/>
          </a:p>
        </p:txBody>
      </p:sp>
      <p:sp>
        <p:nvSpPr>
          <p:cNvPr id="7" name="Text 4"/>
          <p:cNvSpPr txBox="1"/>
          <p:nvPr/>
        </p:nvSpPr>
        <p:spPr>
          <a:xfrm>
            <a:off x="640080" y="4709160"/>
            <a:ext cx="5852160" cy="365760"/>
          </a:xfrm>
          <a:prstGeom prst="rect">
            <a:avLst/>
          </a:prstGeom>
          <a:noFill/>
          <a:ln/>
        </p:spPr>
        <p:txBody>
          <a:bodyPr wrap="square" lIns="0" tIns="0" rIns="0" bIns="0" rtlCol="0" anchor="t"/>
          <a:lstStyle/>
          <a:p>
            <a:pPr eaLnBrk="0" indent="0" marL="0">
              <a:buNone/>
            </a:pPr>
            <a:r>
              <a:rPr lang="en-US" sz="1500" dirty="0">
                <a:solidFill>
                  <a:srgbClr val="595959"/>
                </a:solidFill>
                <a:latin typeface="Malgun Gothic" pitchFamily="34" charset="0"/>
                <a:ea typeface="Malgun Gothic" pitchFamily="34" charset="-122"/>
                <a:cs typeface="Malgun Gothic" pitchFamily="34" charset="-120"/>
              </a:rPr>
              <a:t>낮에는 주차장, 밤에는 공연과 옥상 광장</a:t>
            </a:r>
            <a:endParaRPr lang="en-US" sz="1500" dirty="0"/>
          </a:p>
        </p:txBody>
      </p:sp>
      <p:sp>
        <p:nvSpPr>
          <p:cNvPr id="8" name="Text 5"/>
          <p:cNvSpPr txBox="1"/>
          <p:nvPr/>
        </p:nvSpPr>
        <p:spPr>
          <a:xfrm>
            <a:off x="640080" y="5166360"/>
            <a:ext cx="5852160" cy="640080"/>
          </a:xfrm>
          <a:prstGeom prst="rect">
            <a:avLst/>
          </a:prstGeom>
          <a:noFill/>
          <a:ln/>
        </p:spPr>
        <p:txBody>
          <a:bodyPr wrap="square" lIns="0" tIns="0" rIns="0" bIns="0" rtlCol="0" anchor="t"/>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부산진구 전포동 207번지 일대 53필지 4,964.5㎡</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지하 4층 · 지상 6층 + 옥상 · 연면적 43,623.7㎡ · 주차 약 600대</a:t>
            </a:r>
            <a:endParaRPr lang="en-US" sz="1100" dirty="0"/>
          </a:p>
        </p:txBody>
      </p:sp>
      <p:sp>
        <p:nvSpPr>
          <p:cNvPr id="9" name="Text 6"/>
          <p:cNvSpPr txBox="1"/>
          <p:nvPr/>
        </p:nvSpPr>
        <p:spPr>
          <a:xfrm>
            <a:off x="640080" y="6172200"/>
            <a:ext cx="3657600" cy="274320"/>
          </a:xfrm>
          <a:prstGeom prst="rect">
            <a:avLst/>
          </a:prstGeom>
          <a:noFill/>
          <a:ln/>
        </p:spPr>
        <p:txBody>
          <a:bodyPr wrap="square" lIns="0" tIns="0" rIns="0" bIns="0" rtlCol="0" anchor="t"/>
          <a:lstStyle/>
          <a:p>
            <a:pPr eaLnBrk="0" indent="0" marL="0">
              <a:buNone/>
            </a:pPr>
            <a:r>
              <a:rPr lang="en-US" sz="1200" b="1" dirty="0">
                <a:solidFill>
                  <a:srgbClr val="000000"/>
                </a:solidFill>
                <a:latin typeface="Malgun Gothic" pitchFamily="34" charset="0"/>
                <a:ea typeface="Malgun Gothic" pitchFamily="34" charset="-122"/>
                <a:cs typeface="Malgun Gothic" pitchFamily="34" charset="-120"/>
              </a:rPr>
              <a:t>202325137 정성윤</a:t>
            </a:r>
            <a:endParaRPr lang="en-US" sz="1200" dirty="0"/>
          </a:p>
        </p:txBody>
      </p:sp>
      <p:sp>
        <p:nvSpPr>
          <p:cNvPr id="10" name="Text 7"/>
          <p:cNvSpPr txBox="1"/>
          <p:nvPr/>
        </p:nvSpPr>
        <p:spPr>
          <a:xfrm>
            <a:off x="8899855" y="5806440"/>
            <a:ext cx="2926080" cy="822960"/>
          </a:xfrm>
          <a:prstGeom prst="rect">
            <a:avLst/>
          </a:prstGeom>
          <a:noFill/>
          <a:ln/>
        </p:spPr>
        <p:txBody>
          <a:bodyPr wrap="square" lIns="0" tIns="0" rIns="0" bIns="0" rtlCol="0" anchor="ctr"/>
          <a:lstStyle/>
          <a:p>
            <a:pPr eaLnBrk="0" algn="r" indent="0" marL="0">
              <a:buNone/>
            </a:pPr>
            <a:r>
              <a:rPr lang="en-US" sz="46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4600" dirty="0"/>
          </a:p>
        </p:txBody>
      </p:sp>
      <p:sp>
        <p:nvSpPr>
          <p:cNvPr id="11" name="Shape 8"/>
          <p:cNvSpPr/>
          <p:nvPr/>
        </p:nvSpPr>
        <p:spPr>
          <a:xfrm>
            <a:off x="6568135" y="6519672"/>
            <a:ext cx="5623560" cy="338328"/>
          </a:xfrm>
          <a:prstGeom prst="rect">
            <a:avLst/>
          </a:prstGeom>
          <a:solidFill>
            <a:srgbClr val="101216"/>
          </a:solidFill>
          <a:ln/>
        </p:spPr>
      </p:sp>
      <p:sp>
        <p:nvSpPr>
          <p:cNvPr id="12" name="Text 9"/>
          <p:cNvSpPr txBox="1"/>
          <p:nvPr/>
        </p:nvSpPr>
        <p:spPr>
          <a:xfrm>
            <a:off x="6705295" y="6519672"/>
            <a:ext cx="5303520" cy="338328"/>
          </a:xfrm>
          <a:prstGeom prst="rect">
            <a:avLst/>
          </a:prstGeom>
          <a:noFill/>
          <a:ln/>
        </p:spPr>
        <p:txBody>
          <a:bodyPr wrap="square" lIns="0" tIns="0" rIns="0" bIns="0" rtlCol="0" anchor="ctr"/>
          <a:lstStyle/>
          <a:p>
            <a:pPr eaLnBrk="0" algn="r" indent="0" marL="0">
              <a:buNone/>
            </a:pPr>
            <a:r>
              <a:rPr lang="en-US" sz="900" dirty="0">
                <a:solidFill>
                  <a:srgbClr val="FFFFFF"/>
                </a:solidFill>
                <a:latin typeface="Malgun Gothic" pitchFamily="34" charset="0"/>
                <a:ea typeface="Malgun Gothic" pitchFamily="34" charset="-122"/>
                <a:cs typeface="Malgun Gothic" pitchFamily="34" charset="-120"/>
              </a:rPr>
              <a:t>투시도는 개념 볼륨 모델로 만든 이미지이며 실제 설계안이 아님</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94015" y="0"/>
            <a:ext cx="4297680" cy="6858000"/>
          </a:xfrm>
          <a:prstGeom prst="rect">
            <a:avLst/>
          </a:prstGeom>
          <a:solidFill>
            <a:srgbClr val="DAE3F3"/>
          </a:solidFill>
          <a:ln/>
        </p:spPr>
      </p:sp>
      <p:pic>
        <p:nvPicPr>
          <p:cNvPr id="3" name="Image 0" descr="C:\Users\jsy07\AppData\Local\Temp\work\img2\contents_art.jpg">    </p:cNvPr>
          <p:cNvPicPr>
            <a:picLocks noChangeAspect="1"/>
          </p:cNvPicPr>
          <p:nvPr/>
        </p:nvPicPr>
        <p:blipFill>
          <a:blip r:embed="rId1"/>
          <a:stretch>
            <a:fillRect/>
          </a:stretch>
        </p:blipFill>
        <p:spPr>
          <a:xfrm>
            <a:off x="8076895" y="0"/>
            <a:ext cx="4114800" cy="6858000"/>
          </a:xfrm>
          <a:prstGeom prst="rect">
            <a:avLst/>
          </a:prstGeom>
        </p:spPr>
      </p:pic>
      <p:sp>
        <p:nvSpPr>
          <p:cNvPr id="4" name="Text 1"/>
          <p:cNvSpPr txBox="1"/>
          <p:nvPr/>
        </p:nvSpPr>
        <p:spPr>
          <a:xfrm>
            <a:off x="8076895" y="5806440"/>
            <a:ext cx="3749040" cy="822960"/>
          </a:xfrm>
          <a:prstGeom prst="rect">
            <a:avLst/>
          </a:prstGeom>
          <a:noFill/>
          <a:ln/>
        </p:spPr>
        <p:txBody>
          <a:bodyPr wrap="square" lIns="0" tIns="0" rIns="0" bIns="0" rtlCol="0" anchor="ctr"/>
          <a:lstStyle/>
          <a:p>
            <a:pPr eaLnBrk="0" algn="r" indent="0" marL="0">
              <a:buNone/>
            </a:pPr>
            <a:r>
              <a:rPr lang="en-US" sz="50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5000" dirty="0"/>
          </a:p>
        </p:txBody>
      </p:sp>
      <p:sp>
        <p:nvSpPr>
          <p:cNvPr id="5" name="Text 2"/>
          <p:cNvSpPr txBox="1"/>
          <p:nvPr/>
        </p:nvSpPr>
        <p:spPr>
          <a:xfrm>
            <a:off x="822960" y="777240"/>
            <a:ext cx="3657600" cy="640080"/>
          </a:xfrm>
          <a:prstGeom prst="rect">
            <a:avLst/>
          </a:prstGeom>
          <a:noFill/>
          <a:ln/>
        </p:spPr>
        <p:txBody>
          <a:bodyPr wrap="square" lIns="0" tIns="0" rIns="0" bIns="0" rtlCol="0" anchor="t"/>
          <a:lstStyle/>
          <a:p>
            <a:pPr eaLnBrk="0" indent="0" marL="0">
              <a:buNone/>
            </a:pPr>
            <a:r>
              <a:rPr lang="en-US" sz="3000" b="1" spc="-50" kern="0" dirty="0">
                <a:solidFill>
                  <a:srgbClr val="002060"/>
                </a:solidFill>
                <a:latin typeface="Malgun Gothic" pitchFamily="34" charset="0"/>
                <a:ea typeface="Malgun Gothic" pitchFamily="34" charset="-122"/>
                <a:cs typeface="Malgun Gothic" pitchFamily="34" charset="-120"/>
              </a:rPr>
              <a:t>CONTENTS</a:t>
            </a:r>
            <a:endParaRPr lang="en-US" sz="3000" dirty="0"/>
          </a:p>
        </p:txBody>
      </p:sp>
      <p:sp>
        <p:nvSpPr>
          <p:cNvPr id="6" name="Text 3"/>
          <p:cNvSpPr txBox="1"/>
          <p:nvPr/>
        </p:nvSpPr>
        <p:spPr>
          <a:xfrm>
            <a:off x="822960" y="1371600"/>
            <a:ext cx="5943600" cy="274320"/>
          </a:xfrm>
          <a:prstGeom prst="rect">
            <a:avLst/>
          </a:prstGeom>
          <a:noFill/>
          <a:ln/>
        </p:spPr>
        <p:txBody>
          <a:bodyPr wrap="square" lIns="0" tIns="0" rIns="0" bIns="0" rtlCol="0" anchor="t"/>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전포 정동관 · 낮에는 주차장, 밤에는 공연과 옥상 광장</a:t>
            </a:r>
            <a:endParaRPr lang="en-US" sz="1100" dirty="0"/>
          </a:p>
        </p:txBody>
      </p:sp>
      <p:sp>
        <p:nvSpPr>
          <p:cNvPr id="7" name="Text 4"/>
          <p:cNvSpPr txBox="1"/>
          <p:nvPr/>
        </p:nvSpPr>
        <p:spPr>
          <a:xfrm>
            <a:off x="822960" y="5394960"/>
            <a:ext cx="1828800" cy="228600"/>
          </a:xfrm>
          <a:prstGeom prst="rect">
            <a:avLst/>
          </a:prstGeom>
          <a:noFill/>
          <a:ln/>
        </p:spPr>
        <p:txBody>
          <a:bodyPr wrap="square" lIns="0" tIns="0" rIns="0" bIns="0" rtlCol="0" anchor="t"/>
          <a:lstStyle/>
          <a:p>
            <a:pPr eaLnBrk="0" indent="0" marL="0">
              <a:buNone/>
            </a:pPr>
            <a:r>
              <a:rPr lang="en-US" sz="1000" dirty="0">
                <a:solidFill>
                  <a:srgbClr val="000000"/>
                </a:solidFill>
                <a:latin typeface="Malgun Gothic" pitchFamily="34" charset="0"/>
                <a:ea typeface="Malgun Gothic" pitchFamily="34" charset="-122"/>
                <a:cs typeface="Malgun Gothic" pitchFamily="34" charset="-120"/>
              </a:rPr>
              <a:t>발표자</a:t>
            </a:r>
            <a:endParaRPr lang="en-US" sz="1000" dirty="0"/>
          </a:p>
        </p:txBody>
      </p:sp>
      <p:sp>
        <p:nvSpPr>
          <p:cNvPr id="8" name="Text 5"/>
          <p:cNvSpPr txBox="1"/>
          <p:nvPr/>
        </p:nvSpPr>
        <p:spPr>
          <a:xfrm>
            <a:off x="822960" y="5623560"/>
            <a:ext cx="2743200" cy="365760"/>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정성윤</a:t>
            </a:r>
            <a:endParaRPr lang="en-US" sz="1500" dirty="0"/>
          </a:p>
        </p:txBody>
      </p:sp>
      <p:sp>
        <p:nvSpPr>
          <p:cNvPr id="9" name="Shape 6"/>
          <p:cNvSpPr/>
          <p:nvPr/>
        </p:nvSpPr>
        <p:spPr>
          <a:xfrm>
            <a:off x="4663440" y="1042416"/>
            <a:ext cx="36576" cy="237744"/>
          </a:xfrm>
          <a:prstGeom prst="rect">
            <a:avLst/>
          </a:prstGeom>
          <a:solidFill>
            <a:srgbClr val="000000"/>
          </a:solidFill>
          <a:ln/>
        </p:spPr>
      </p:sp>
      <p:sp>
        <p:nvSpPr>
          <p:cNvPr id="10" name="Text 7"/>
          <p:cNvSpPr txBox="1"/>
          <p:nvPr/>
        </p:nvSpPr>
        <p:spPr>
          <a:xfrm>
            <a:off x="4800600" y="1005840"/>
            <a:ext cx="3108960" cy="310896"/>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INTRODUCTION</a:t>
            </a:r>
            <a:endParaRPr lang="en-US" sz="1300" dirty="0"/>
          </a:p>
        </p:txBody>
      </p:sp>
      <p:sp>
        <p:nvSpPr>
          <p:cNvPr id="11" name="Text 8"/>
          <p:cNvSpPr txBox="1"/>
          <p:nvPr/>
        </p:nvSpPr>
        <p:spPr>
          <a:xfrm>
            <a:off x="4937760" y="1389888"/>
            <a:ext cx="3200400" cy="256032"/>
          </a:xfrm>
          <a:prstGeom prst="rect">
            <a:avLst/>
          </a:prstGeom>
          <a:noFill/>
          <a:ln/>
        </p:spPr>
        <p:txBody>
          <a:bodyPr wrap="square" lIns="0" tIns="0" rIns="0" bIns="0" rtlCol="0" anchor="t"/>
          <a:lstStyle/>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사업 배경 · 사업 개요</a:t>
            </a:r>
            <a:endParaRPr lang="en-US" sz="1100" dirty="0"/>
          </a:p>
        </p:txBody>
      </p:sp>
      <p:sp>
        <p:nvSpPr>
          <p:cNvPr id="12" name="Shape 9"/>
          <p:cNvSpPr/>
          <p:nvPr/>
        </p:nvSpPr>
        <p:spPr>
          <a:xfrm>
            <a:off x="4663440" y="2185416"/>
            <a:ext cx="36576" cy="237744"/>
          </a:xfrm>
          <a:prstGeom prst="rect">
            <a:avLst/>
          </a:prstGeom>
          <a:solidFill>
            <a:srgbClr val="000000"/>
          </a:solidFill>
          <a:ln/>
        </p:spPr>
      </p:sp>
      <p:sp>
        <p:nvSpPr>
          <p:cNvPr id="13" name="Text 10"/>
          <p:cNvSpPr txBox="1"/>
          <p:nvPr/>
        </p:nvSpPr>
        <p:spPr>
          <a:xfrm>
            <a:off x="4800600" y="2148840"/>
            <a:ext cx="3108960" cy="310896"/>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MAIN SUBJECT</a:t>
            </a:r>
            <a:endParaRPr lang="en-US" sz="1300" dirty="0"/>
          </a:p>
        </p:txBody>
      </p:sp>
      <p:sp>
        <p:nvSpPr>
          <p:cNvPr id="14" name="Text 11"/>
          <p:cNvSpPr txBox="1"/>
          <p:nvPr/>
        </p:nvSpPr>
        <p:spPr>
          <a:xfrm>
            <a:off x="4937760" y="2532888"/>
            <a:ext cx="3200400" cy="1024128"/>
          </a:xfrm>
          <a:prstGeom prst="rect">
            <a:avLst/>
          </a:prstGeom>
          <a:noFill/>
          <a:ln/>
        </p:spPr>
        <p:txBody>
          <a:bodyPr wrap="square" lIns="0" tIns="0" rIns="0" bIns="0" rtlCol="0" anchor="t"/>
          <a:lstStyle/>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대지 분석 · 부지 선정 · 교통 및 동선</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향 · 일조 · 소음 · 조망</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콘셉트 · 사례 분석</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볼륨 도출 · 최종안 · 투시도</a:t>
            </a:r>
            <a:endParaRPr lang="en-US" sz="1100" dirty="0"/>
          </a:p>
        </p:txBody>
      </p:sp>
      <p:sp>
        <p:nvSpPr>
          <p:cNvPr id="15" name="Shape 12"/>
          <p:cNvSpPr/>
          <p:nvPr/>
        </p:nvSpPr>
        <p:spPr>
          <a:xfrm>
            <a:off x="4663440" y="4105656"/>
            <a:ext cx="36576" cy="237744"/>
          </a:xfrm>
          <a:prstGeom prst="rect">
            <a:avLst/>
          </a:prstGeom>
          <a:solidFill>
            <a:srgbClr val="000000"/>
          </a:solidFill>
          <a:ln/>
        </p:spPr>
      </p:sp>
      <p:sp>
        <p:nvSpPr>
          <p:cNvPr id="16" name="Text 13"/>
          <p:cNvSpPr txBox="1"/>
          <p:nvPr/>
        </p:nvSpPr>
        <p:spPr>
          <a:xfrm>
            <a:off x="4800600" y="4069080"/>
            <a:ext cx="3108960" cy="310896"/>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CONCLUSION</a:t>
            </a:r>
            <a:endParaRPr lang="en-US" sz="1300" dirty="0"/>
          </a:p>
        </p:txBody>
      </p:sp>
      <p:sp>
        <p:nvSpPr>
          <p:cNvPr id="17" name="Text 14"/>
          <p:cNvSpPr txBox="1"/>
          <p:nvPr/>
        </p:nvSpPr>
        <p:spPr>
          <a:xfrm>
            <a:off x="4937760" y="4453128"/>
            <a:ext cx="3200400" cy="1024128"/>
          </a:xfrm>
          <a:prstGeom prst="rect">
            <a:avLst/>
          </a:prstGeom>
          <a:noFill/>
          <a:ln/>
        </p:spPr>
        <p:txBody>
          <a:bodyPr wrap="square" lIns="0" tIns="0" rIns="0" bIns="0" rtlCol="0" anchor="t"/>
          <a:lstStyle/>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용도 선정 · 층별 계획 · 단면도</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실별 면적 · 동선 및 진입</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법규 검토 · 구조 · 방재 제안</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확인할 것</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01</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사업 배경 · 개요</a:t>
            </a:r>
            <a:endParaRPr lang="en-US" sz="1700" dirty="0"/>
          </a:p>
        </p:txBody>
      </p:sp>
      <p:sp>
        <p:nvSpPr>
          <p:cNvPr id="4" name="Shape 2"/>
          <p:cNvSpPr/>
          <p:nvPr/>
        </p:nvSpPr>
        <p:spPr>
          <a:xfrm>
            <a:off x="3630168" y="329184"/>
            <a:ext cx="41148" cy="292608"/>
          </a:xfrm>
          <a:prstGeom prst="rect">
            <a:avLst/>
          </a:prstGeom>
          <a:solidFill>
            <a:srgbClr val="002060"/>
          </a:solidFill>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상권 한가운데 주차 공급이 모자란 곳</a:t>
            </a:r>
            <a:endParaRPr lang="en-US" sz="1150" dirty="0"/>
          </a:p>
        </p:txBody>
      </p:sp>
      <p:sp>
        <p:nvSpPr>
          <p:cNvPr id="6" name="Shape 4"/>
          <p:cNvSpPr/>
          <p:nvPr/>
        </p:nvSpPr>
        <p:spPr>
          <a:xfrm>
            <a:off x="7324344" y="475488"/>
            <a:ext cx="9784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파이낸셜뉴스(2022.07.11), 부산일보(2024.07.04), 부산진구 수급실태조사(2023), 글로벌경제(2021), 전국주차장정보표준데이터(2026.04), 토지이음(2026.10.11) · 69.1%는 주차환경개선지구 67곳 평균</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03</a:t>
            </a:r>
            <a:endParaRPr lang="en-US" sz="800" dirty="0"/>
          </a:p>
        </p:txBody>
      </p:sp>
      <p:sp>
        <p:nvSpPr>
          <p:cNvPr id="15" name="Shape 12"/>
          <p:cNvSpPr/>
          <p:nvPr/>
        </p:nvSpPr>
        <p:spPr>
          <a:xfrm>
            <a:off x="457200" y="941832"/>
            <a:ext cx="50292" cy="237744"/>
          </a:xfrm>
          <a:prstGeom prst="rect">
            <a:avLst/>
          </a:prstGeom>
          <a:solidFill>
            <a:srgbClr val="002060"/>
          </a:solidFill>
          <a:ln/>
        </p:spPr>
      </p:sp>
      <p:sp>
        <p:nvSpPr>
          <p:cNvPr id="16"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주차장 확보율 비교 (%)</a:t>
            </a:r>
            <a:endParaRPr lang="en-US" sz="1300" dirty="0"/>
          </a:p>
        </p:txBody>
      </p:sp>
      <p:graphicFrame>
        <p:nvGraphicFramePr>
          <p:cNvPr id="17" name="Chart 0" descr=""/>
          <p:cNvGraphicFramePr/>
          <p:nvPr/>
        </p:nvGraphicFramePr>
        <p:xfrm>
          <a:off x="457200" y="1234440"/>
          <a:ext cx="4526280" cy="21031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3364992"/>
            <a:ext cx="452628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기준 130% · 부산 전체는 2021년, 부산진구는 등록 대비 2023년 값</a:t>
            </a:r>
            <a:endParaRPr lang="en-US" sz="900" dirty="0"/>
          </a:p>
        </p:txBody>
      </p:sp>
      <p:pic>
        <p:nvPicPr>
          <p:cNvPr id="19" name="Image 0" descr="C:\Users\jsy07\AppData\Local\Temp\work\img2\p_alley1.jpg">    </p:cNvPr>
          <p:cNvPicPr>
            <a:picLocks noChangeAspect="1"/>
          </p:cNvPicPr>
          <p:nvPr/>
        </p:nvPicPr>
        <p:blipFill>
          <a:blip r:embed="rId2"/>
          <a:stretch>
            <a:fillRect/>
          </a:stretch>
        </p:blipFill>
        <p:spPr>
          <a:xfrm>
            <a:off x="457200" y="3749040"/>
            <a:ext cx="2231136" cy="1874520"/>
          </a:xfrm>
          <a:prstGeom prst="rect">
            <a:avLst/>
          </a:prstGeom>
        </p:spPr>
      </p:pic>
      <p:pic>
        <p:nvPicPr>
          <p:cNvPr id="20" name="Image 1" descr="C:\Users\jsy07\AppData\Local\Temp\work\img2\p_alley2.jpg">    </p:cNvPr>
          <p:cNvPicPr>
            <a:picLocks noChangeAspect="1"/>
          </p:cNvPicPr>
          <p:nvPr/>
        </p:nvPicPr>
        <p:blipFill>
          <a:blip r:embed="rId3"/>
          <a:stretch>
            <a:fillRect/>
          </a:stretch>
        </p:blipFill>
        <p:spPr>
          <a:xfrm>
            <a:off x="2752344" y="3749040"/>
            <a:ext cx="2231136" cy="1874520"/>
          </a:xfrm>
          <a:prstGeom prst="rect">
            <a:avLst/>
          </a:prstGeom>
        </p:spPr>
      </p:pic>
      <p:sp>
        <p:nvSpPr>
          <p:cNvPr id="21" name="Text 15"/>
          <p:cNvSpPr txBox="1"/>
          <p:nvPr/>
        </p:nvSpPr>
        <p:spPr>
          <a:xfrm>
            <a:off x="457200" y="5669280"/>
            <a:ext cx="452628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전포동 이면도로 현장 (답사 2026.9)</a:t>
            </a:r>
            <a:endParaRPr lang="en-US" sz="900" dirty="0"/>
          </a:p>
        </p:txBody>
      </p:sp>
      <p:sp>
        <p:nvSpPr>
          <p:cNvPr id="22" name="Shape 16"/>
          <p:cNvSpPr/>
          <p:nvPr/>
        </p:nvSpPr>
        <p:spPr>
          <a:xfrm>
            <a:off x="5303520" y="941832"/>
            <a:ext cx="50292" cy="237744"/>
          </a:xfrm>
          <a:prstGeom prst="rect">
            <a:avLst/>
          </a:prstGeom>
          <a:solidFill>
            <a:srgbClr val="002060"/>
          </a:solidFill>
          <a:ln/>
        </p:spPr>
      </p:sp>
      <p:sp>
        <p:nvSpPr>
          <p:cNvPr id="23" name="Text 17"/>
          <p:cNvSpPr txBox="1"/>
          <p:nvPr/>
        </p:nvSpPr>
        <p:spPr>
          <a:xfrm>
            <a:off x="543153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수급 실태 지표</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0" y="1234440"/>
          <a:ext cx="6428232" cy="914400"/>
        </p:xfrm>
        <a:graphic>
          <a:graphicData uri="http://schemas.openxmlformats.org/drawingml/2006/table">
            <a:tbl>
              <a:tblPr/>
              <a:tblGrid>
                <a:gridCol w="2148840"/>
                <a:gridCol w="2606040"/>
                <a:gridCol w="1673352"/>
              </a:tblGrid>
              <a:tr h="0">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지표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값</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출처</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확보율(등록 대비)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118.5%, 기준 130% 대비 약 1.7만 면 부족</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수급실태조사(2023)</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대지 반경 500m 공영주차장</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27면 (1km 이내 약 415면)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표준데이터, 시설공단</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불법주정차 단속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 1위 (2021.1~10월 109,993건)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글로벌경제 2021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시 공급 계획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2025년까지 6,092면 · 1,995억 원</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부산시 주차종합계획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5" name="Shape 18"/>
          <p:cNvSpPr/>
          <p:nvPr/>
        </p:nvSpPr>
        <p:spPr>
          <a:xfrm>
            <a:off x="5303520" y="3044952"/>
            <a:ext cx="50292" cy="237744"/>
          </a:xfrm>
          <a:prstGeom prst="rect">
            <a:avLst/>
          </a:prstGeom>
          <a:solidFill>
            <a:srgbClr val="002060"/>
          </a:solidFill>
          <a:ln/>
        </p:spPr>
      </p:sp>
      <p:sp>
        <p:nvSpPr>
          <p:cNvPr id="26" name="Text 19"/>
          <p:cNvSpPr txBox="1"/>
          <p:nvPr/>
        </p:nvSpPr>
        <p:spPr>
          <a:xfrm>
            <a:off x="5431536" y="301752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정동관 개요</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303520" y="3337560"/>
          <a:ext cx="6428232" cy="914400"/>
        </p:xfrm>
        <a:graphic>
          <a:graphicData uri="http://schemas.openxmlformats.org/drawingml/2006/table">
            <a:tbl>
              <a:tblPr/>
              <a:tblGrid>
                <a:gridCol w="1234440"/>
                <a:gridCol w="5193792"/>
              </a:tblGrid>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위치</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전포동 207번지 일대 53필지 · 일반상업지역 · 방화지구</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대지 · 연면적</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4,964.5㎡ · 43,623.7㎡ (지상 23,923.7 + 지하 19,700.0)</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규모</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지하 4층 · 지상 6층 + 옥상, 지상 약 29.1m</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건폐율 · 용적률</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87.1% (상한 90%) · 481.9% (지하 제외)</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주차</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약 600대 · 주차 비율 75.62%</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주요 시설</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1F 서점·카페·근생 · 5F 상인회 · 6F 가변홀 · B1~B2 공연장 200석 · 옥상 광장</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
        <p:nvSpPr>
          <p:cNvPr id="28" name="Text 20"/>
          <p:cNvSpPr txBox="1"/>
          <p:nvPr/>
        </p:nvSpPr>
        <p:spPr>
          <a:xfrm>
            <a:off x="5303520" y="5440680"/>
            <a:ext cx="6428232" cy="73152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소규모 필지에 저층 점포가 밀집해 부설주차장을 확보할 수 없음. 상권 한가운데 거점형 주차장이 필요함</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대지 분석</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53필지를 한 블록으로 쓰는 조건</a:t>
            </a:r>
            <a:endParaRPr lang="en-US" sz="1150" dirty="0"/>
          </a:p>
        </p:txBody>
      </p:sp>
      <p:sp>
        <p:nvSpPr>
          <p:cNvPr id="6" name="Shape 4"/>
          <p:cNvSpPr/>
          <p:nvPr/>
        </p:nvSpPr>
        <p:spPr>
          <a:xfrm>
            <a:off x="5820156" y="475488"/>
            <a:ext cx="2482596"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토지이음 필지별 토지이용계획 조회(2026.10.11), 「부산광역시 건축 조례」 별표4 · 필지 위치는 확인도면 정합으로 판별함, 치수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04</a:t>
            </a:r>
            <a:endParaRPr lang="en-US" sz="800" dirty="0"/>
          </a:p>
        </p:txBody>
      </p:sp>
      <p:pic>
        <p:nvPicPr>
          <p:cNvPr id="14" name="Image 0" descr="C:\Users\jsy07\AppData\Local\Temp\work\img\site_eum.jpg">    </p:cNvPr>
          <p:cNvPicPr>
            <a:picLocks noChangeAspect="1"/>
          </p:cNvPicPr>
          <p:nvPr/>
        </p:nvPicPr>
        <p:blipFill>
          <a:blip r:embed="rId1"/>
          <a:stretch>
            <a:fillRect/>
          </a:stretch>
        </p:blipFill>
        <p:spPr>
          <a:xfrm>
            <a:off x="457200" y="914400"/>
            <a:ext cx="3794760" cy="4600092"/>
          </a:xfrm>
          <a:prstGeom prst="rect">
            <a:avLst/>
          </a:prstGeom>
        </p:spPr>
      </p:pic>
      <p:sp>
        <p:nvSpPr>
          <p:cNvPr id="15" name="Text 12"/>
          <p:cNvSpPr txBox="1"/>
          <p:nvPr/>
        </p:nvSpPr>
        <p:spPr>
          <a:xfrm>
            <a:off x="457200" y="5551068"/>
            <a:ext cx="379476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토지이용계획 확인도면 · 필지군 표시(개략)</a:t>
            </a:r>
            <a:endParaRPr lang="en-US" sz="900" dirty="0"/>
          </a:p>
        </p:txBody>
      </p:sp>
      <p:sp>
        <p:nvSpPr>
          <p:cNvPr id="16" name="Shape 13"/>
          <p:cNvSpPr/>
          <p:nvPr/>
        </p:nvSpPr>
        <p:spPr>
          <a:xfrm>
            <a:off x="4526280" y="941832"/>
            <a:ext cx="50292" cy="237744"/>
          </a:xfrm>
          <a:prstGeom prst="rect">
            <a:avLst/>
          </a:prstGeom>
          <a:solidFill>
            <a:srgbClr val="002060"/>
          </a:solidFill>
          <a:ln/>
        </p:spPr>
      </p:sp>
      <p:sp>
        <p:nvSpPr>
          <p:cNvPr id="17" name="Text 14"/>
          <p:cNvSpPr txBox="1"/>
          <p:nvPr/>
        </p:nvSpPr>
        <p:spPr>
          <a:xfrm>
            <a:off x="465429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대지 개요</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6280" y="1234440"/>
          <a:ext cx="7205472" cy="914400"/>
        </p:xfrm>
        <a:graphic>
          <a:graphicData uri="http://schemas.openxmlformats.org/drawingml/2006/table">
            <a:tbl>
              <a:tblPr/>
              <a:tblGrid>
                <a:gridCol w="1188720"/>
                <a:gridCol w="640080"/>
                <a:gridCol w="1005840"/>
                <a:gridCol w="4370832"/>
              </a:tblGrid>
              <a:tr h="329184">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구역</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150" b="1" dirty="0">
                          <a:solidFill>
                            <a:srgbClr val="FFFFFF"/>
                          </a:solidFill>
                          <a:latin typeface="Malgun Gothic" pitchFamily="34" charset="0"/>
                          <a:ea typeface="Malgun Gothic" pitchFamily="34" charset="-122"/>
                          <a:cs typeface="Malgun Gothic" pitchFamily="34" charset="-120"/>
                        </a:rPr>
                        <a:t>필지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150" b="1" dirty="0">
                          <a:solidFill>
                            <a:srgbClr val="FFFFFF"/>
                          </a:solidFill>
                          <a:latin typeface="Malgun Gothic" pitchFamily="34" charset="0"/>
                          <a:ea typeface="Malgun Gothic" pitchFamily="34" charset="-122"/>
                          <a:cs typeface="Malgun Gothic" pitchFamily="34" charset="-120"/>
                        </a:rPr>
                        <a:t>면적㎡</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형상 · 접도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29184">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서측 쐐기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19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1,531.9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전포대로(서)에 면한 쐐기형, 남단이 뾰족함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소로 부지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733.1</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두 구역 사이 폭 약 6m, 남단 전포대로 · 북단 서전로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29184">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동측 블록</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29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2,699.5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서전로 · 224번길 · 동측 이면도로에 면한 삼각형</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eaLnBrk="0" algn="l" indent="0" marL="0">
                        <a:buNone/>
                      </a:pPr>
                      <a:r>
                        <a:rPr lang="en-US" sz="1150" b="1" dirty="0">
                          <a:solidFill>
                            <a:srgbClr val="000000"/>
                          </a:solidFill>
                          <a:latin typeface="Malgun Gothic" pitchFamily="34" charset="0"/>
                          <a:ea typeface="Malgun Gothic" pitchFamily="34" charset="-122"/>
                          <a:cs typeface="Malgun Gothic" pitchFamily="34" charset="-120"/>
                        </a:rPr>
                        <a:t>합계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b="1" dirty="0">
                          <a:solidFill>
                            <a:srgbClr val="000000"/>
                          </a:solidFill>
                          <a:latin typeface="Malgun Gothic" pitchFamily="34" charset="0"/>
                          <a:ea typeface="Malgun Gothic" pitchFamily="34" charset="-122"/>
                          <a:cs typeface="Malgun Gothic" pitchFamily="34" charset="-120"/>
                        </a:rPr>
                        <a:t>53</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b="1" dirty="0">
                          <a:solidFill>
                            <a:srgbClr val="000000"/>
                          </a:solidFill>
                          <a:latin typeface="Malgun Gothic" pitchFamily="34" charset="0"/>
                          <a:ea typeface="Malgun Gothic" pitchFamily="34" charset="-122"/>
                          <a:cs typeface="Malgun Gothic" pitchFamily="34" charset="-120"/>
                        </a:rPr>
                        <a:t>4,964.5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b="1" dirty="0">
                          <a:solidFill>
                            <a:srgbClr val="000000"/>
                          </a:solidFill>
                          <a:latin typeface="Malgun Gothic" pitchFamily="34" charset="0"/>
                          <a:ea typeface="Malgun Gothic" pitchFamily="34" charset="-122"/>
                          <a:cs typeface="Malgun Gothic" pitchFamily="34" charset="-120"/>
                        </a:rPr>
                        <a:t>지목 대 48필지, 도로 5필지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9" name="Shape 15"/>
          <p:cNvSpPr/>
          <p:nvPr/>
        </p:nvSpPr>
        <p:spPr>
          <a:xfrm>
            <a:off x="4526280" y="3090672"/>
            <a:ext cx="50292" cy="237744"/>
          </a:xfrm>
          <a:prstGeom prst="rect">
            <a:avLst/>
          </a:prstGeom>
          <a:solidFill>
            <a:srgbClr val="002060"/>
          </a:solidFill>
          <a:ln/>
        </p:spPr>
      </p:sp>
      <p:sp>
        <p:nvSpPr>
          <p:cNvPr id="20" name="Text 16"/>
          <p:cNvSpPr txBox="1"/>
          <p:nvPr/>
        </p:nvSpPr>
        <p:spPr>
          <a:xfrm>
            <a:off x="4654296" y="306324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배치 조건</a:t>
            </a:r>
            <a:endParaRPr lang="en-US" sz="1300" dirty="0"/>
          </a:p>
        </p:txBody>
      </p:sp>
      <p:sp>
        <p:nvSpPr>
          <p:cNvPr id="21" name="Shape 17"/>
          <p:cNvSpPr/>
          <p:nvPr/>
        </p:nvSpPr>
        <p:spPr>
          <a:xfrm>
            <a:off x="4526280" y="3401568"/>
            <a:ext cx="3474720" cy="2103120"/>
          </a:xfrm>
          <a:prstGeom prst="rect">
            <a:avLst/>
          </a:prstGeom>
          <a:solidFill>
            <a:srgbClr val="F2F2F2"/>
          </a:solidFill>
          <a:ln/>
        </p:spPr>
      </p:sp>
      <p:sp>
        <p:nvSpPr>
          <p:cNvPr id="22" name="Text 18"/>
          <p:cNvSpPr txBox="1"/>
          <p:nvPr/>
        </p:nvSpPr>
        <p:spPr>
          <a:xfrm>
            <a:off x="4654296" y="3493008"/>
            <a:ext cx="1202436"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용도지역 · 높이</a:t>
            </a:r>
            <a:endParaRPr lang="en-US" sz="950" dirty="0"/>
          </a:p>
        </p:txBody>
      </p:sp>
      <p:sp>
        <p:nvSpPr>
          <p:cNvPr id="23" name="Text 19"/>
          <p:cNvSpPr txBox="1"/>
          <p:nvPr/>
        </p:nvSpPr>
        <p:spPr>
          <a:xfrm>
            <a:off x="4672584" y="3822192"/>
            <a:ext cx="3200400" cy="603504"/>
          </a:xfrm>
          <a:prstGeom prst="rect">
            <a:avLst/>
          </a:prstGeom>
          <a:noFill/>
          <a:ln/>
        </p:spPr>
        <p:txBody>
          <a:bodyPr wrap="square" lIns="0" tIns="0" rIns="0" bIns="0" rtlCol="0" anchor="t"/>
          <a:lstStyle/>
          <a:p>
            <a:pPr eaLnBrk="0" indent="0" marL="0">
              <a:buNone/>
            </a:pPr>
            <a:r>
              <a:rPr lang="en-US" sz="9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50" b="1" dirty="0">
                <a:solidFill>
                  <a:srgbClr val="000000"/>
                </a:solidFill>
                <a:latin typeface="Malgun Gothic" pitchFamily="34" charset="0"/>
                <a:ea typeface="Malgun Gothic" pitchFamily="34" charset="-122"/>
                <a:cs typeface="Malgun Gothic" pitchFamily="34" charset="-120"/>
              </a:rPr>
              <a:t>일반상업지역 · 방화지구</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가로구역별 최고높이 기준 130m, 최고 180m</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일조 제한은 주거지역에만 적용됨</a:t>
            </a:r>
            <a:endParaRPr lang="en-US" sz="1100" dirty="0"/>
          </a:p>
        </p:txBody>
      </p:sp>
      <p:sp>
        <p:nvSpPr>
          <p:cNvPr id="24" name="Shape 20"/>
          <p:cNvSpPr/>
          <p:nvPr/>
        </p:nvSpPr>
        <p:spPr>
          <a:xfrm>
            <a:off x="8119872" y="3401568"/>
            <a:ext cx="3611880" cy="2103120"/>
          </a:xfrm>
          <a:prstGeom prst="rect">
            <a:avLst/>
          </a:prstGeom>
          <a:solidFill>
            <a:srgbClr val="F2F2F2"/>
          </a:solidFill>
          <a:ln/>
        </p:spPr>
      </p:sp>
      <p:sp>
        <p:nvSpPr>
          <p:cNvPr id="25" name="Text 21"/>
          <p:cNvSpPr txBox="1"/>
          <p:nvPr/>
        </p:nvSpPr>
        <p:spPr>
          <a:xfrm>
            <a:off x="8247888" y="3493008"/>
            <a:ext cx="1202436"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건축선 · 건폐율</a:t>
            </a:r>
            <a:endParaRPr lang="en-US" sz="950" dirty="0"/>
          </a:p>
        </p:txBody>
      </p:sp>
      <p:sp>
        <p:nvSpPr>
          <p:cNvPr id="26" name="Text 22"/>
          <p:cNvSpPr txBox="1"/>
          <p:nvPr/>
        </p:nvSpPr>
        <p:spPr>
          <a:xfrm>
            <a:off x="8266176" y="3822192"/>
            <a:ext cx="3337560" cy="603504"/>
          </a:xfrm>
          <a:prstGeom prst="rect">
            <a:avLst/>
          </a:prstGeom>
          <a:noFill/>
          <a:ln/>
        </p:spPr>
        <p:txBody>
          <a:bodyPr wrap="square" lIns="0" tIns="0" rIns="0" bIns="0" rtlCol="0" anchor="t"/>
          <a:lstStyle/>
          <a:p>
            <a:pPr eaLnBrk="0" indent="0" marL="0">
              <a:buNone/>
            </a:pPr>
            <a:r>
              <a:rPr lang="en-US" sz="9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50" b="1" dirty="0">
                <a:solidFill>
                  <a:srgbClr val="000000"/>
                </a:solidFill>
                <a:latin typeface="Malgun Gothic" pitchFamily="34" charset="0"/>
                <a:ea typeface="Malgun Gothic" pitchFamily="34" charset="-122"/>
                <a:cs typeface="Malgun Gothic" pitchFamily="34" charset="-120"/>
              </a:rPr>
              <a:t>건축선 3m 이격</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공연장 1,000㎡ 이상으로 북·남 면을 띄움</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전포대로 쪽은 면제</a:t>
            </a:r>
            <a:endParaRPr lang="en-US" sz="1100" dirty="0"/>
          </a:p>
        </p:txBody>
      </p:sp>
      <p:sp>
        <p:nvSpPr>
          <p:cNvPr id="27" name="Text 23"/>
          <p:cNvSpPr txBox="1"/>
          <p:nvPr/>
        </p:nvSpPr>
        <p:spPr>
          <a:xfrm>
            <a:off x="8266176" y="4480560"/>
            <a:ext cx="3337560" cy="603504"/>
          </a:xfrm>
          <a:prstGeom prst="rect">
            <a:avLst/>
          </a:prstGeom>
          <a:noFill/>
          <a:ln/>
        </p:spPr>
        <p:txBody>
          <a:bodyPr wrap="square" lIns="0" tIns="0" rIns="0" bIns="0" rtlCol="0" anchor="t"/>
          <a:lstStyle/>
          <a:p>
            <a:pPr eaLnBrk="0" indent="0" marL="0">
              <a:buNone/>
            </a:pPr>
            <a:r>
              <a:rPr lang="en-US" sz="9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50" b="1" dirty="0">
                <a:solidFill>
                  <a:srgbClr val="000000"/>
                </a:solidFill>
                <a:latin typeface="Malgun Gothic" pitchFamily="34" charset="0"/>
                <a:ea typeface="Malgun Gothic" pitchFamily="34" charset="-122"/>
                <a:cs typeface="Malgun Gothic" pitchFamily="34" charset="-120"/>
              </a:rPr>
              <a:t>두 뾰족한 끝을 비움</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동측 북단 약 352㎡, 서측 남단 약 158㎡</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건폐율 87.1%(상한 90%)</a:t>
            </a:r>
            <a:endParaRPr lang="en-US" sz="1100" dirty="0"/>
          </a:p>
        </p:txBody>
      </p:sp>
      <p:sp>
        <p:nvSpPr>
          <p:cNvPr id="28" name="Shape 24"/>
          <p:cNvSpPr/>
          <p:nvPr/>
        </p:nvSpPr>
        <p:spPr>
          <a:xfrm>
            <a:off x="4526280" y="5669280"/>
            <a:ext cx="7205472" cy="502920"/>
          </a:xfrm>
          <a:prstGeom prst="roundRect">
            <a:avLst>
              <a:gd name="adj" fmla="val 18182"/>
            </a:avLst>
          </a:prstGeom>
          <a:solidFill>
            <a:srgbClr val="F0F3F7"/>
          </a:solidFill>
          <a:ln w="9525">
            <a:solidFill>
              <a:srgbClr val="A0A2A5"/>
            </a:solidFill>
            <a:prstDash val="solid"/>
          </a:ln>
        </p:spPr>
      </p:sp>
      <p:sp>
        <p:nvSpPr>
          <p:cNvPr id="29" name="Text 25"/>
          <p:cNvSpPr txBox="1"/>
          <p:nvPr/>
        </p:nvSpPr>
        <p:spPr>
          <a:xfrm>
            <a:off x="4663440" y="5724144"/>
            <a:ext cx="6931152" cy="393192"/>
          </a:xfrm>
          <a:prstGeom prst="rect">
            <a:avLst/>
          </a:prstGeom>
          <a:noFill/>
          <a:ln/>
        </p:spPr>
        <p:txBody>
          <a:bodyPr wrap="square" lIns="0" tIns="0" rIns="0" bIns="0" rtlCol="0" anchor="ctr"/>
          <a:lstStyle/>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확인할 것  </a:t>
            </a:r>
            <a:pPr eaLnBrk="0" indent="0" marL="0">
              <a:buNone/>
            </a:pPr>
            <a:r>
              <a:rPr lang="en-US" sz="1050" dirty="0">
                <a:solidFill>
                  <a:srgbClr val="000000"/>
                </a:solidFill>
                <a:latin typeface="Malgun Gothic" pitchFamily="34" charset="0"/>
                <a:ea typeface="Malgun Gothic" pitchFamily="34" charset="-122"/>
                <a:cs typeface="Malgun Gothic" pitchFamily="34" charset="-120"/>
              </a:rPr>
              <a:t>207-15·79는 제3종일반주거지역도 표기됨(상업지역으로 계산함). 207-84·85는 지목 대이나 도로로 쓰임</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03</a:t>
            </a:r>
            <a:endParaRPr lang="en-US" sz="3000" dirty="0"/>
          </a:p>
        </p:txBody>
      </p:sp>
      <p:sp>
        <p:nvSpPr>
          <p:cNvPr id="3" name="Text 1"/>
          <p:cNvSpPr txBox="1"/>
          <p:nvPr/>
        </p:nvSpPr>
        <p:spPr>
          <a:xfrm>
            <a:off x="1115568" y="201168"/>
            <a:ext cx="363474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부지 선정 · 교통 및 동선</a:t>
            </a:r>
            <a:endParaRPr lang="en-US" sz="1700" dirty="0"/>
          </a:p>
        </p:txBody>
      </p:sp>
      <p:sp>
        <p:nvSpPr>
          <p:cNvPr id="4" name="Shape 2"/>
          <p:cNvSpPr/>
          <p:nvPr/>
        </p:nvSpPr>
        <p:spPr>
          <a:xfrm>
            <a:off x="4796028" y="329184"/>
            <a:ext cx="41148" cy="292608"/>
          </a:xfrm>
          <a:prstGeom prst="rect">
            <a:avLst/>
          </a:prstGeom>
          <a:solidFill>
            <a:srgbClr val="002060"/>
          </a:solidFill>
          <a:ln/>
        </p:spPr>
      </p:sp>
      <p:sp>
        <p:nvSpPr>
          <p:cNvPr id="5" name="Text 3"/>
          <p:cNvSpPr txBox="1"/>
          <p:nvPr/>
        </p:nvSpPr>
        <p:spPr>
          <a:xfrm>
            <a:off x="492404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수요와 접근이 맞는 곳</a:t>
            </a:r>
            <a:endParaRPr lang="en-US" sz="1150" dirty="0"/>
          </a:p>
        </p:txBody>
      </p:sp>
      <p:sp>
        <p:nvSpPr>
          <p:cNvPr id="6" name="Shape 4"/>
          <p:cNvSpPr/>
          <p:nvPr/>
        </p:nvSpPr>
        <p:spPr>
          <a:xfrm>
            <a:off x="7136892" y="475488"/>
            <a:ext cx="11658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카카오맵 도보 환산, 부산버스정보시스템(2026.9.30), 시설공단, 전국주차장정보표준데이터(2026.04), 시의회 5분 발언(2022.08) · 지도 © OpenStreetMap contributors</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05</a:t>
            </a:r>
            <a:endParaRPr lang="en-US" sz="800" dirty="0"/>
          </a:p>
        </p:txBody>
      </p:sp>
      <p:pic>
        <p:nvPicPr>
          <p:cNvPr id="14" name="Image 0" descr="C:\Users\jsy07\AppData\Local\Temp\work\img\transit_map.jpg">    </p:cNvPr>
          <p:cNvPicPr>
            <a:picLocks noChangeAspect="1"/>
          </p:cNvPicPr>
          <p:nvPr/>
        </p:nvPicPr>
        <p:blipFill>
          <a:blip r:embed="rId1"/>
          <a:stretch>
            <a:fillRect/>
          </a:stretch>
        </p:blipFill>
        <p:spPr>
          <a:xfrm>
            <a:off x="457200" y="914400"/>
            <a:ext cx="4663440" cy="4255245"/>
          </a:xfrm>
          <a:prstGeom prst="rect">
            <a:avLst/>
          </a:prstGeom>
        </p:spPr>
      </p:pic>
      <p:sp>
        <p:nvSpPr>
          <p:cNvPr id="15" name="Text 12"/>
          <p:cNvSpPr txBox="1"/>
          <p:nvPr/>
        </p:nvSpPr>
        <p:spPr>
          <a:xfrm>
            <a:off x="457200" y="5206221"/>
            <a:ext cx="466344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주변 현황도 · 위치 개략</a:t>
            </a:r>
            <a:endParaRPr lang="en-US" sz="900" dirty="0"/>
          </a:p>
        </p:txBody>
      </p:sp>
      <p:sp>
        <p:nvSpPr>
          <p:cNvPr id="16" name="Shape 13"/>
          <p:cNvSpPr/>
          <p:nvPr/>
        </p:nvSpPr>
        <p:spPr>
          <a:xfrm>
            <a:off x="5440680" y="941832"/>
            <a:ext cx="50292" cy="237744"/>
          </a:xfrm>
          <a:prstGeom prst="rect">
            <a:avLst/>
          </a:prstGeom>
          <a:solidFill>
            <a:srgbClr val="002060"/>
          </a:solidFill>
          <a:ln/>
        </p:spPr>
      </p:sp>
      <p:sp>
        <p:nvSpPr>
          <p:cNvPr id="17" name="Text 14"/>
          <p:cNvSpPr txBox="1"/>
          <p:nvPr/>
        </p:nvSpPr>
        <p:spPr>
          <a:xfrm>
            <a:off x="556869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입지 근거</a:t>
            </a:r>
            <a:endParaRPr lang="en-US" sz="1300" dirty="0"/>
          </a:p>
        </p:txBody>
      </p:sp>
      <p:sp>
        <p:nvSpPr>
          <p:cNvPr id="18" name="Shape 15"/>
          <p:cNvSpPr/>
          <p:nvPr/>
        </p:nvSpPr>
        <p:spPr>
          <a:xfrm>
            <a:off x="5440680" y="1252728"/>
            <a:ext cx="6291072" cy="877824"/>
          </a:xfrm>
          <a:prstGeom prst="rect">
            <a:avLst/>
          </a:prstGeom>
          <a:solidFill>
            <a:srgbClr val="F2F2F2"/>
          </a:solidFill>
          <a:ln/>
        </p:spPr>
      </p:sp>
      <p:sp>
        <p:nvSpPr>
          <p:cNvPr id="19" name="Text 16"/>
          <p:cNvSpPr txBox="1"/>
          <p:nvPr/>
        </p:nvSpPr>
        <p:spPr>
          <a:xfrm>
            <a:off x="5623560" y="1335024"/>
            <a:ext cx="5925312" cy="274320"/>
          </a:xfrm>
          <a:prstGeom prst="rect">
            <a:avLst/>
          </a:prstGeom>
          <a:noFill/>
          <a:ln/>
        </p:spPr>
        <p:txBody>
          <a:bodyPr wrap="square" lIns="0" tIns="0" rIns="0" bIns="0" rtlCol="0" anchor="t"/>
          <a:lstStyle/>
          <a:p>
            <a:pPr eaLnBrk="0" indent="0" marL="0">
              <a:buNone/>
            </a:pPr>
            <a:r>
              <a:rPr lang="en-US" sz="1250" b="1" dirty="0">
                <a:solidFill>
                  <a:srgbClr val="002060"/>
                </a:solidFill>
                <a:latin typeface="Malgun Gothic" pitchFamily="34" charset="0"/>
                <a:ea typeface="Malgun Gothic" pitchFamily="34" charset="-122"/>
                <a:cs typeface="Malgun Gothic" pitchFamily="34" charset="-120"/>
              </a:rPr>
              <a:t>‘지하철 두 역 도보권’</a:t>
            </a:r>
            <a:endParaRPr lang="en-US" sz="1250" dirty="0"/>
          </a:p>
        </p:txBody>
      </p:sp>
      <p:sp>
        <p:nvSpPr>
          <p:cNvPr id="20" name="Text 17"/>
          <p:cNvSpPr txBox="1"/>
          <p:nvPr/>
        </p:nvSpPr>
        <p:spPr>
          <a:xfrm>
            <a:off x="5623560" y="1636776"/>
            <a:ext cx="5925312" cy="457200"/>
          </a:xfrm>
          <a:prstGeom prst="rect">
            <a:avLst/>
          </a:prstGeom>
          <a:noFill/>
          <a:ln/>
        </p:spPr>
        <p:txBody>
          <a:bodyPr wrap="square" lIns="0" tIns="0" rIns="0" bIns="0" rtlCol="0" anchor="t"/>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1호선 서면역 737m, 2호선 전포역 529m. 주차 이용객과 공연·광장 방문객이 걸어서 접근함</a:t>
            </a:r>
            <a:endParaRPr lang="en-US" sz="1050" dirty="0"/>
          </a:p>
        </p:txBody>
      </p:sp>
      <p:sp>
        <p:nvSpPr>
          <p:cNvPr id="21" name="Shape 18"/>
          <p:cNvSpPr/>
          <p:nvPr/>
        </p:nvSpPr>
        <p:spPr>
          <a:xfrm>
            <a:off x="5440680" y="2212848"/>
            <a:ext cx="6291072" cy="877824"/>
          </a:xfrm>
          <a:prstGeom prst="rect">
            <a:avLst/>
          </a:prstGeom>
          <a:solidFill>
            <a:srgbClr val="F2F2F2"/>
          </a:solidFill>
          <a:ln/>
        </p:spPr>
      </p:sp>
      <p:sp>
        <p:nvSpPr>
          <p:cNvPr id="22" name="Text 19"/>
          <p:cNvSpPr txBox="1"/>
          <p:nvPr/>
        </p:nvSpPr>
        <p:spPr>
          <a:xfrm>
            <a:off x="5623560" y="2295144"/>
            <a:ext cx="5925312" cy="274320"/>
          </a:xfrm>
          <a:prstGeom prst="rect">
            <a:avLst/>
          </a:prstGeom>
          <a:noFill/>
          <a:ln/>
        </p:spPr>
        <p:txBody>
          <a:bodyPr wrap="square" lIns="0" tIns="0" rIns="0" bIns="0" rtlCol="0" anchor="t"/>
          <a:lstStyle/>
          <a:p>
            <a:pPr eaLnBrk="0" indent="0" marL="0">
              <a:buNone/>
            </a:pPr>
            <a:r>
              <a:rPr lang="en-US" sz="1250" b="1" dirty="0">
                <a:solidFill>
                  <a:srgbClr val="002060"/>
                </a:solidFill>
                <a:latin typeface="Malgun Gothic" pitchFamily="34" charset="0"/>
                <a:ea typeface="Malgun Gothic" pitchFamily="34" charset="-122"/>
                <a:cs typeface="Malgun Gothic" pitchFamily="34" charset="-120"/>
              </a:rPr>
              <a:t>‘카페거리 상권 사이’</a:t>
            </a:r>
            <a:endParaRPr lang="en-US" sz="1250" dirty="0"/>
          </a:p>
        </p:txBody>
      </p:sp>
      <p:sp>
        <p:nvSpPr>
          <p:cNvPr id="23" name="Text 20"/>
          <p:cNvSpPr txBox="1"/>
          <p:nvPr/>
        </p:nvSpPr>
        <p:spPr>
          <a:xfrm>
            <a:off x="5623560" y="2596896"/>
            <a:ext cx="5925312" cy="457200"/>
          </a:xfrm>
          <a:prstGeom prst="rect">
            <a:avLst/>
          </a:prstGeom>
          <a:noFill/>
          <a:ln/>
        </p:spPr>
        <p:txBody>
          <a:bodyPr wrap="square" lIns="0" tIns="0" rIns="0" bIns="0" rtlCol="0" anchor="t"/>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전리단길 · 전포카페거리 · 전포사잇길 사이. 낮 방문객과 밤 관객 수요를 함께 받음</a:t>
            </a:r>
            <a:endParaRPr lang="en-US" sz="1050" dirty="0"/>
          </a:p>
        </p:txBody>
      </p:sp>
      <p:sp>
        <p:nvSpPr>
          <p:cNvPr id="24" name="Shape 21"/>
          <p:cNvSpPr/>
          <p:nvPr/>
        </p:nvSpPr>
        <p:spPr>
          <a:xfrm>
            <a:off x="5440680" y="3172968"/>
            <a:ext cx="6291072" cy="877824"/>
          </a:xfrm>
          <a:prstGeom prst="rect">
            <a:avLst/>
          </a:prstGeom>
          <a:solidFill>
            <a:srgbClr val="F2F2F2"/>
          </a:solidFill>
          <a:ln/>
        </p:spPr>
      </p:sp>
      <p:sp>
        <p:nvSpPr>
          <p:cNvPr id="25" name="Text 22"/>
          <p:cNvSpPr txBox="1"/>
          <p:nvPr/>
        </p:nvSpPr>
        <p:spPr>
          <a:xfrm>
            <a:off x="5623560" y="3255264"/>
            <a:ext cx="5925312" cy="274320"/>
          </a:xfrm>
          <a:prstGeom prst="rect">
            <a:avLst/>
          </a:prstGeom>
          <a:noFill/>
          <a:ln/>
        </p:spPr>
        <p:txBody>
          <a:bodyPr wrap="square" lIns="0" tIns="0" rIns="0" bIns="0" rtlCol="0" anchor="t"/>
          <a:lstStyle/>
          <a:p>
            <a:pPr eaLnBrk="0" indent="0" marL="0">
              <a:buNone/>
            </a:pPr>
            <a:r>
              <a:rPr lang="en-US" sz="1250" b="1" dirty="0">
                <a:solidFill>
                  <a:srgbClr val="002060"/>
                </a:solidFill>
                <a:latin typeface="Malgun Gothic" pitchFamily="34" charset="0"/>
                <a:ea typeface="Malgun Gothic" pitchFamily="34" charset="-122"/>
                <a:cs typeface="Malgun Gothic" pitchFamily="34" charset="-120"/>
              </a:rPr>
              <a:t>‘공영주차장 공백지대’</a:t>
            </a:r>
            <a:endParaRPr lang="en-US" sz="1250" dirty="0"/>
          </a:p>
        </p:txBody>
      </p:sp>
      <p:sp>
        <p:nvSpPr>
          <p:cNvPr id="26" name="Text 23"/>
          <p:cNvSpPr txBox="1"/>
          <p:nvPr/>
        </p:nvSpPr>
        <p:spPr>
          <a:xfrm>
            <a:off x="5623560" y="3557016"/>
            <a:ext cx="5925312" cy="457200"/>
          </a:xfrm>
          <a:prstGeom prst="rect">
            <a:avLst/>
          </a:prstGeom>
          <a:noFill/>
          <a:ln/>
        </p:spPr>
        <p:txBody>
          <a:bodyPr wrap="square" lIns="0" tIns="0" rIns="0" bIns="0" rtlCol="0" anchor="t"/>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반경 500m 공영 27면, 1km 약 415면. 2022 시의회에서 대지 옆 놀이마루 부지 공영주차장 건립이 제안됨</a:t>
            </a:r>
            <a:endParaRPr lang="en-US" sz="1050" dirty="0"/>
          </a:p>
        </p:txBody>
      </p:sp>
      <p:sp>
        <p:nvSpPr>
          <p:cNvPr id="27" name="Shape 24"/>
          <p:cNvSpPr/>
          <p:nvPr/>
        </p:nvSpPr>
        <p:spPr>
          <a:xfrm>
            <a:off x="5440680" y="4233672"/>
            <a:ext cx="50292" cy="237744"/>
          </a:xfrm>
          <a:prstGeom prst="rect">
            <a:avLst/>
          </a:prstGeom>
          <a:solidFill>
            <a:srgbClr val="002060"/>
          </a:solidFill>
          <a:ln/>
        </p:spPr>
      </p:sp>
      <p:sp>
        <p:nvSpPr>
          <p:cNvPr id="28" name="Text 25"/>
          <p:cNvSpPr txBox="1"/>
          <p:nvPr/>
        </p:nvSpPr>
        <p:spPr>
          <a:xfrm>
            <a:off x="5568696" y="420624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접근 계획</a:t>
            </a:r>
            <a:endParaRPr lang="en-US" sz="1300" dirty="0"/>
          </a:p>
        </p:txBody>
      </p:sp>
      <p:sp>
        <p:nvSpPr>
          <p:cNvPr id="29" name="Shape 26"/>
          <p:cNvSpPr/>
          <p:nvPr/>
        </p:nvSpPr>
        <p:spPr>
          <a:xfrm>
            <a:off x="5440680" y="4526280"/>
            <a:ext cx="3090672" cy="1097280"/>
          </a:xfrm>
          <a:prstGeom prst="rect">
            <a:avLst/>
          </a:prstGeom>
          <a:solidFill>
            <a:srgbClr val="F2F2F2"/>
          </a:solidFill>
          <a:ln/>
        </p:spPr>
      </p:sp>
      <p:sp>
        <p:nvSpPr>
          <p:cNvPr id="30" name="Text 27"/>
          <p:cNvSpPr txBox="1"/>
          <p:nvPr/>
        </p:nvSpPr>
        <p:spPr>
          <a:xfrm>
            <a:off x="5568696" y="4617720"/>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차량</a:t>
            </a:r>
            <a:endParaRPr lang="en-US" sz="950" dirty="0"/>
          </a:p>
        </p:txBody>
      </p:sp>
      <p:sp>
        <p:nvSpPr>
          <p:cNvPr id="31" name="Text 28"/>
          <p:cNvSpPr txBox="1"/>
          <p:nvPr/>
        </p:nvSpPr>
        <p:spPr>
          <a:xfrm>
            <a:off x="5586984" y="4946904"/>
            <a:ext cx="2816352" cy="60350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남단 진입 · 북단 진출</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- 400대 초과 입구·출구 분리</a:t>
            </a:r>
            <a:endParaRPr lang="en-US" sz="1100" dirty="0"/>
          </a:p>
        </p:txBody>
      </p:sp>
      <p:sp>
        <p:nvSpPr>
          <p:cNvPr id="32" name="Shape 29"/>
          <p:cNvSpPr/>
          <p:nvPr/>
        </p:nvSpPr>
        <p:spPr>
          <a:xfrm>
            <a:off x="8641080" y="4526280"/>
            <a:ext cx="3090672" cy="1097280"/>
          </a:xfrm>
          <a:prstGeom prst="rect">
            <a:avLst/>
          </a:prstGeom>
          <a:solidFill>
            <a:srgbClr val="F2F2F2"/>
          </a:solidFill>
          <a:ln/>
        </p:spPr>
      </p:sp>
      <p:sp>
        <p:nvSpPr>
          <p:cNvPr id="33" name="Text 30"/>
          <p:cNvSpPr txBox="1"/>
          <p:nvPr/>
        </p:nvSpPr>
        <p:spPr>
          <a:xfrm>
            <a:off x="8769096" y="461772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보행 · 수직</a:t>
            </a:r>
            <a:endParaRPr lang="en-US" sz="950" dirty="0"/>
          </a:p>
        </p:txBody>
      </p:sp>
      <p:sp>
        <p:nvSpPr>
          <p:cNvPr id="34" name="Text 31"/>
          <p:cNvSpPr txBox="1"/>
          <p:nvPr/>
        </p:nvSpPr>
        <p:spPr>
          <a:xfrm>
            <a:off x="8787384" y="4946904"/>
            <a:ext cx="2816352" cy="60350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1층 외곽을 한 바퀴</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끝 코어 2곳(개방 순환 계단 + 승강기)</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동측 주거 쪽 주 차량 진출입 없음</a:t>
            </a:r>
            <a:endParaRPr lang="en-US" sz="1100" dirty="0"/>
          </a:p>
        </p:txBody>
      </p:sp>
      <p:sp>
        <p:nvSpPr>
          <p:cNvPr id="35" name="Text 32"/>
          <p:cNvSpPr txBox="1"/>
          <p:nvPr/>
        </p:nvSpPr>
        <p:spPr>
          <a:xfrm>
            <a:off x="5440680" y="5806440"/>
            <a:ext cx="629107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두 역 도보권과 카페거리 사이, 반경 내 공영주차장이 거의 없는 곳임</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04</a:t>
            </a:r>
            <a:endParaRPr lang="en-US" sz="3000" dirty="0"/>
          </a:p>
        </p:txBody>
      </p:sp>
      <p:sp>
        <p:nvSpPr>
          <p:cNvPr id="3" name="Text 1"/>
          <p:cNvSpPr txBox="1"/>
          <p:nvPr/>
        </p:nvSpPr>
        <p:spPr>
          <a:xfrm>
            <a:off x="1115568" y="201168"/>
            <a:ext cx="1536192"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향 · 일조</a:t>
            </a:r>
            <a:endParaRPr lang="en-US" sz="1700" dirty="0"/>
          </a:p>
        </p:txBody>
      </p:sp>
      <p:sp>
        <p:nvSpPr>
          <p:cNvPr id="4" name="Shape 2"/>
          <p:cNvSpPr/>
          <p:nvPr/>
        </p:nvSpPr>
        <p:spPr>
          <a:xfrm>
            <a:off x="2697480" y="329184"/>
            <a:ext cx="41148" cy="292608"/>
          </a:xfrm>
          <a:prstGeom prst="rect">
            <a:avLst/>
          </a:prstGeom>
          <a:solidFill>
            <a:srgbClr val="002060"/>
          </a:solidFill>
          <a:ln/>
        </p:spPr>
      </p:sp>
      <p:sp>
        <p:nvSpPr>
          <p:cNvPr id="5" name="Text 3"/>
          <p:cNvSpPr txBox="1"/>
          <p:nvPr/>
        </p:nvSpPr>
        <p:spPr>
          <a:xfrm>
            <a:off x="2825496"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남북 장축 블록의 일사와 그림자</a:t>
            </a:r>
            <a:endParaRPr lang="en-US" sz="1150" dirty="0"/>
          </a:p>
        </p:txBody>
      </p:sp>
      <p:sp>
        <p:nvSpPr>
          <p:cNvPr id="6" name="Shape 4"/>
          <p:cNvSpPr/>
          <p:nvPr/>
        </p:nvSpPr>
        <p:spPr>
          <a:xfrm>
            <a:off x="5884164" y="475488"/>
            <a:ext cx="24185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NOAA 태양 위치 근사식(북위 35.157°), OpenStreetMap contributors(주변 건물 일부 누락), 본 시안 매스 계산 · 직사 시간은 고도 5° 이상, 가림 없음 가정</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06</a:t>
            </a:r>
            <a:endParaRPr lang="en-US" sz="800" dirty="0"/>
          </a:p>
        </p:txBody>
      </p:sp>
      <p:pic>
        <p:nvPicPr>
          <p:cNvPr id="15" name="Image 0" descr="C:\Users\jsy07\AppData\Local\Temp\work\img\shadow3.png">    </p:cNvPr>
          <p:cNvPicPr>
            <a:picLocks noChangeAspect="1"/>
          </p:cNvPicPr>
          <p:nvPr/>
        </p:nvPicPr>
        <p:blipFill>
          <a:blip r:embed="rId1"/>
          <a:stretch>
            <a:fillRect/>
          </a:stretch>
        </p:blipFill>
        <p:spPr>
          <a:xfrm>
            <a:off x="457200" y="914400"/>
            <a:ext cx="7315200" cy="2426062"/>
          </a:xfrm>
          <a:prstGeom prst="rect">
            <a:avLst/>
          </a:prstGeom>
        </p:spPr>
      </p:pic>
      <p:sp>
        <p:nvSpPr>
          <p:cNvPr id="16" name="Text 12"/>
          <p:cNvSpPr txBox="1"/>
          <p:nvPr/>
        </p:nvSpPr>
        <p:spPr>
          <a:xfrm>
            <a:off x="457200" y="3367894"/>
            <a:ext cx="731520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정동관 그림자 · 동지 09·12·15시, 지붕 설비 포함 높이 29.8m 기준 (붉은 선 = 대지, 점선 = 제3종일반주거 경계 약 45m)</a:t>
            </a:r>
            <a:endParaRPr lang="en-US" sz="900" dirty="0"/>
          </a:p>
        </p:txBody>
      </p:sp>
      <p:pic>
        <p:nvPicPr>
          <p:cNvPr id="17" name="Image 1" descr="C:\Users\jsy07\AppData\Local\Temp\work\img\shadow_hours.png">    </p:cNvPr>
          <p:cNvPicPr>
            <a:picLocks noChangeAspect="1"/>
          </p:cNvPicPr>
          <p:nvPr/>
        </p:nvPicPr>
        <p:blipFill>
          <a:blip r:embed="rId2"/>
          <a:stretch>
            <a:fillRect/>
          </a:stretch>
        </p:blipFill>
        <p:spPr>
          <a:xfrm>
            <a:off x="457200" y="3751942"/>
            <a:ext cx="2022758" cy="2011680"/>
          </a:xfrm>
          <a:prstGeom prst="rect">
            <a:avLst/>
          </a:prstGeom>
        </p:spPr>
      </p:pic>
      <p:sp>
        <p:nvSpPr>
          <p:cNvPr id="18" name="Text 13"/>
          <p:cNvSpPr txBox="1"/>
          <p:nvPr/>
        </p:nvSpPr>
        <p:spPr>
          <a:xfrm>
            <a:off x="457200" y="5781910"/>
            <a:ext cx="2022758" cy="237744"/>
          </a:xfrm>
          <a:prstGeom prst="rect">
            <a:avLst/>
          </a:prstGeom>
          <a:noFill/>
          <a:ln/>
        </p:spPr>
        <p:txBody>
          <a:bodyPr wrap="square" lIns="0" tIns="0" rIns="0" bIns="0" rtlCol="0" anchor="t"/>
          <a:lstStyle/>
          <a:p>
            <a:pPr eaLnBrk="0" algn="l" indent="0" marL="0">
              <a:buNone/>
            </a:pPr>
            <a:r>
              <a:rPr lang="en-US" sz="800" i="1" dirty="0">
                <a:solidFill>
                  <a:srgbClr val="595959"/>
                </a:solidFill>
                <a:latin typeface="Malgun Gothic" pitchFamily="34" charset="0"/>
                <a:ea typeface="Malgun Gothic" pitchFamily="34" charset="-122"/>
                <a:cs typeface="Malgun Gothic" pitchFamily="34" charset="-120"/>
              </a:rPr>
              <a:t>동지 09~15시 그림자 누적 시간</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662838" y="3751942"/>
          <a:ext cx="5109562" cy="914400"/>
        </p:xfrm>
        <a:graphic>
          <a:graphicData uri="http://schemas.openxmlformats.org/drawingml/2006/table">
            <a:tbl>
              <a:tblPr/>
              <a:tblGrid>
                <a:gridCol w="1325880"/>
                <a:gridCol w="868680"/>
                <a:gridCol w="822960"/>
                <a:gridCol w="2092042"/>
              </a:tblGrid>
              <a:tr h="384048">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직사 동지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직사 하지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관찰</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서측 · 전포대로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4.3h (오후)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6.7h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서향 일사와 도로 소음이 함께 닿는 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동측 · 이면도로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4.3h (오전)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6.8h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동지 15시경에야 주거 경계에 이름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남측 · 224번길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8.6h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6.9h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동지 고도 31.4°로 깊이 들어옴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북측 · 서전로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0h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새벽·저녁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직사 없이 확산광, 그림자는 도로 쪽</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pic>
        <p:nvPicPr>
          <p:cNvPr id="20" name="Image 2" descr="C:\Users\jsy07\AppData\Local\Temp\work\img\sunpath.png">    </p:cNvPr>
          <p:cNvPicPr>
            <a:picLocks noChangeAspect="1"/>
          </p:cNvPicPr>
          <p:nvPr/>
        </p:nvPicPr>
        <p:blipFill>
          <a:blip r:embed="rId3"/>
          <a:stretch>
            <a:fillRect/>
          </a:stretch>
        </p:blipFill>
        <p:spPr>
          <a:xfrm>
            <a:off x="8412480" y="914400"/>
            <a:ext cx="3017520" cy="3247114"/>
          </a:xfrm>
          <a:prstGeom prst="rect">
            <a:avLst/>
          </a:prstGeom>
        </p:spPr>
      </p:pic>
      <p:sp>
        <p:nvSpPr>
          <p:cNvPr id="21" name="Text 14"/>
          <p:cNvSpPr txBox="1"/>
          <p:nvPr/>
        </p:nvSpPr>
        <p:spPr>
          <a:xfrm>
            <a:off x="8092440" y="4179802"/>
            <a:ext cx="3639312"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태양 경로 · 대지 위치 (원 안쪽이 높은 고도)</a:t>
            </a:r>
            <a:endParaRPr lang="en-US" sz="900" dirty="0"/>
          </a:p>
        </p:txBody>
      </p:sp>
      <p:sp>
        <p:nvSpPr>
          <p:cNvPr id="22" name="Shape 15"/>
          <p:cNvSpPr/>
          <p:nvPr/>
        </p:nvSpPr>
        <p:spPr>
          <a:xfrm>
            <a:off x="8092440" y="4481554"/>
            <a:ext cx="3639312" cy="1572768"/>
          </a:xfrm>
          <a:prstGeom prst="rect">
            <a:avLst/>
          </a:prstGeom>
          <a:solidFill>
            <a:srgbClr val="F2F2F2"/>
          </a:solidFill>
          <a:ln/>
        </p:spPr>
      </p:sp>
      <p:sp>
        <p:nvSpPr>
          <p:cNvPr id="23" name="Text 16"/>
          <p:cNvSpPr txBox="1"/>
          <p:nvPr/>
        </p:nvSpPr>
        <p:spPr>
          <a:xfrm>
            <a:off x="8220456" y="4572994"/>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8238744" y="4902178"/>
            <a:ext cx="3364992" cy="60350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옥상 광장</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동지 9~15시 그림자 영향 없음</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홀(29.1m, 지붕 설비 포함 29.8m)이 광장의 북쪽에 있음</a:t>
            </a:r>
            <a:endParaRPr lang="en-US" sz="1100" dirty="0"/>
          </a:p>
        </p:txBody>
      </p:sp>
      <p:sp>
        <p:nvSpPr>
          <p:cNvPr id="25" name="Text 18"/>
          <p:cNvSpPr txBox="1"/>
          <p:nvPr/>
        </p:nvSpPr>
        <p:spPr>
          <a:xfrm>
            <a:off x="8238744" y="5560546"/>
            <a:ext cx="3364992" cy="42062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동측 주거 경계</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동지 9~15시 그림자 0.5h 미만</a:t>
            </a:r>
            <a:endParaRPr lang="en-US" sz="1100" dirty="0"/>
          </a:p>
        </p:txBody>
      </p:sp>
      <p:sp>
        <p:nvSpPr>
          <p:cNvPr id="26" name="Text 19"/>
          <p:cNvSpPr txBox="1"/>
          <p:nvPr/>
        </p:nvSpPr>
        <p:spPr>
          <a:xfrm>
            <a:off x="457200" y="5897880"/>
            <a:ext cx="10972800" cy="41148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서·동 면은 스크린으로, 광장과 근생은 남쪽에 둠</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05</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소음</a:t>
            </a:r>
            <a:endParaRPr lang="en-US" sz="1700" dirty="0"/>
          </a:p>
        </p:txBody>
      </p:sp>
      <p:sp>
        <p:nvSpPr>
          <p:cNvPr id="4" name="Shape 2"/>
          <p:cNvSpPr/>
          <p:nvPr/>
        </p:nvSpPr>
        <p:spPr>
          <a:xfrm>
            <a:off x="1764792" y="329184"/>
            <a:ext cx="41148" cy="292608"/>
          </a:xfrm>
          <a:prstGeom prst="rect">
            <a:avLst/>
          </a:prstGeom>
          <a:solidFill>
            <a:srgbClr val="002060"/>
          </a:solidFill>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서·북 도로변 소음원과 동측 주거 경계</a:t>
            </a:r>
            <a:endParaRPr lang="en-US" sz="1150" dirty="0"/>
          </a:p>
        </p:txBody>
      </p:sp>
      <p:sp>
        <p:nvSpPr>
          <p:cNvPr id="6" name="Shape 4"/>
          <p:cNvSpPr/>
          <p:nvPr/>
        </p:nvSpPr>
        <p:spPr>
          <a:xfrm>
            <a:off x="5628132" y="475488"/>
            <a:ext cx="26746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「환경정책기본법 시행령」 별표, OpenStreetMap contributors, 현장 답사(2026.9) · 전포동 측정값 없음, dB은 개략 추정 · 사진: Petr Meissner, CC BY 2.0</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07</a:t>
            </a:r>
            <a:endParaRPr lang="en-US" sz="800" dirty="0"/>
          </a:p>
        </p:txBody>
      </p:sp>
      <p:pic>
        <p:nvPicPr>
          <p:cNvPr id="15" name="Image 0" descr="C:\Users\jsy07\AppData\Local\Temp\work\img\noise_map.png">    </p:cNvPr>
          <p:cNvPicPr>
            <a:picLocks noChangeAspect="1"/>
          </p:cNvPicPr>
          <p:nvPr/>
        </p:nvPicPr>
        <p:blipFill>
          <a:blip r:embed="rId1"/>
          <a:stretch>
            <a:fillRect/>
          </a:stretch>
        </p:blipFill>
        <p:spPr>
          <a:xfrm>
            <a:off x="457200" y="914400"/>
            <a:ext cx="3611880" cy="3762835"/>
          </a:xfrm>
          <a:prstGeom prst="rect">
            <a:avLst/>
          </a:prstGeom>
        </p:spPr>
      </p:pic>
      <p:sp>
        <p:nvSpPr>
          <p:cNvPr id="16" name="Text 12"/>
          <p:cNvSpPr txBox="1"/>
          <p:nvPr/>
        </p:nvSpPr>
        <p:spPr>
          <a:xfrm>
            <a:off x="457200" y="4695523"/>
            <a:ext cx="361188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 = 면별 평가점(북·서·남·동·주거 경계)</a:t>
            </a:r>
            <a:endParaRPr lang="en-US" sz="900" dirty="0"/>
          </a:p>
        </p:txBody>
      </p:sp>
      <p:pic>
        <p:nvPicPr>
          <p:cNvPr id="17" name="Image 1" descr="C:\Users\jsy07\AppData\Local\Temp\work\img2\n_p1.jpg">    </p:cNvPr>
          <p:cNvPicPr>
            <a:picLocks noChangeAspect="1"/>
          </p:cNvPicPr>
          <p:nvPr/>
        </p:nvPicPr>
        <p:blipFill>
          <a:blip r:embed="rId2"/>
          <a:stretch>
            <a:fillRect/>
          </a:stretch>
        </p:blipFill>
        <p:spPr>
          <a:xfrm>
            <a:off x="457200" y="4951555"/>
            <a:ext cx="1161288" cy="1005840"/>
          </a:xfrm>
          <a:prstGeom prst="rect">
            <a:avLst/>
          </a:prstGeom>
        </p:spPr>
      </p:pic>
      <p:pic>
        <p:nvPicPr>
          <p:cNvPr id="18" name="Image 2" descr="C:\Users\jsy07\AppData\Local\Temp\work\img2\n_p2.jpg">    </p:cNvPr>
          <p:cNvPicPr>
            <a:picLocks noChangeAspect="1"/>
          </p:cNvPicPr>
          <p:nvPr/>
        </p:nvPicPr>
        <p:blipFill>
          <a:blip r:embed="rId3"/>
          <a:stretch>
            <a:fillRect/>
          </a:stretch>
        </p:blipFill>
        <p:spPr>
          <a:xfrm>
            <a:off x="1682496" y="4951555"/>
            <a:ext cx="1161288" cy="1005840"/>
          </a:xfrm>
          <a:prstGeom prst="rect">
            <a:avLst/>
          </a:prstGeom>
        </p:spPr>
      </p:pic>
      <p:pic>
        <p:nvPicPr>
          <p:cNvPr id="19" name="Image 3" descr="C:\Users\jsy07\AppData\Local\Temp\work\img2\n_p3.jpg">    </p:cNvPr>
          <p:cNvPicPr>
            <a:picLocks noChangeAspect="1"/>
          </p:cNvPicPr>
          <p:nvPr/>
        </p:nvPicPr>
        <p:blipFill>
          <a:blip r:embed="rId4"/>
          <a:stretch>
            <a:fillRect/>
          </a:stretch>
        </p:blipFill>
        <p:spPr>
          <a:xfrm>
            <a:off x="2907792" y="4951555"/>
            <a:ext cx="1161288" cy="1005840"/>
          </a:xfrm>
          <a:prstGeom prst="rect">
            <a:avLst/>
          </a:prstGeom>
        </p:spPr>
      </p:pic>
      <p:sp>
        <p:nvSpPr>
          <p:cNvPr id="20" name="Shape 13"/>
          <p:cNvSpPr/>
          <p:nvPr/>
        </p:nvSpPr>
        <p:spPr>
          <a:xfrm>
            <a:off x="4434840" y="941832"/>
            <a:ext cx="50292" cy="237744"/>
          </a:xfrm>
          <a:prstGeom prst="rect">
            <a:avLst/>
          </a:prstGeom>
          <a:solidFill>
            <a:srgbClr val="002060"/>
          </a:solidFill>
          <a:ln/>
        </p:spPr>
      </p:sp>
      <p:sp>
        <p:nvSpPr>
          <p:cNvPr id="21" name="Text 14"/>
          <p:cNvSpPr txBox="1"/>
          <p:nvPr/>
        </p:nvSpPr>
        <p:spPr>
          <a:xfrm>
            <a:off x="456285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소음 환경기준 (dB)</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34840" y="1234440"/>
          <a:ext cx="3703320" cy="914400"/>
        </p:xfrm>
        <a:graphic>
          <a:graphicData uri="http://schemas.openxmlformats.org/drawingml/2006/table">
            <a:tbl>
              <a:tblPr/>
              <a:tblGrid>
                <a:gridCol w="1463040"/>
                <a:gridCol w="502920"/>
                <a:gridCol w="502920"/>
                <a:gridCol w="1234440"/>
              </a:tblGrid>
              <a:tr h="310896">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구분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50" b="1" dirty="0">
                          <a:solidFill>
                            <a:srgbClr val="FFFFFF"/>
                          </a:solidFill>
                          <a:latin typeface="Malgun Gothic" pitchFamily="34" charset="0"/>
                          <a:ea typeface="Malgun Gothic" pitchFamily="34" charset="-122"/>
                          <a:cs typeface="Malgun Gothic" pitchFamily="34" charset="-120"/>
                        </a:rPr>
                        <a:t>낮</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50" b="1" dirty="0">
                          <a:solidFill>
                            <a:srgbClr val="FFFFFF"/>
                          </a:solidFill>
                          <a:latin typeface="Malgun Gothic" pitchFamily="34" charset="0"/>
                          <a:ea typeface="Malgun Gothic" pitchFamily="34" charset="-122"/>
                          <a:cs typeface="Malgun Gothic" pitchFamily="34" charset="-120"/>
                        </a:rPr>
                        <a:t>밤</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해당</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일반지역 다(상업)</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대지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도로변 다(상업)</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70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60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서·북 도로변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일반지역 나(주거)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동측 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도로변 가·나(주거)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동측 도로변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3" name="Shape 15"/>
          <p:cNvSpPr/>
          <p:nvPr/>
        </p:nvSpPr>
        <p:spPr>
          <a:xfrm>
            <a:off x="4434840" y="3044952"/>
            <a:ext cx="50292" cy="237744"/>
          </a:xfrm>
          <a:prstGeom prst="rect">
            <a:avLst/>
          </a:prstGeom>
          <a:solidFill>
            <a:srgbClr val="002060"/>
          </a:solidFill>
          <a:ln/>
        </p:spPr>
      </p:sp>
      <p:sp>
        <p:nvSpPr>
          <p:cNvPr id="24" name="Text 16"/>
          <p:cNvSpPr txBox="1"/>
          <p:nvPr/>
        </p:nvSpPr>
        <p:spPr>
          <a:xfrm>
            <a:off x="4562856" y="301752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면별 주간 추정치 (dB(A), 가정)</a:t>
            </a:r>
            <a:endParaRPr lang="en-US" sz="1300" dirty="0"/>
          </a:p>
        </p:txBody>
      </p:sp>
      <p:graphicFrame>
        <p:nvGraphicFramePr>
          <p:cNvPr id="25" name="Chart 0" descr=""/>
          <p:cNvGraphicFramePr/>
          <p:nvPr/>
        </p:nvGraphicFramePr>
        <p:xfrm>
          <a:off x="4434840" y="3337560"/>
          <a:ext cx="3703320" cy="2377440"/>
        </p:xfrm>
        <a:graphic xmlns:a="http://schemas.openxmlformats.org/drawingml/2006/main">
          <a:graphicData uri="http://schemas.openxmlformats.org/drawingml/2006/chart">
            <c:chart xmlns:c="http://schemas.openxmlformats.org/drawingml/2006/chart" r:id="rId5"/>
          </a:graphicData>
        </a:graphic>
      </p:graphicFrame>
      <p:sp>
        <p:nvSpPr>
          <p:cNvPr id="26" name="Shape 17"/>
          <p:cNvSpPr/>
          <p:nvPr/>
        </p:nvSpPr>
        <p:spPr>
          <a:xfrm>
            <a:off x="8366760" y="941832"/>
            <a:ext cx="50292" cy="237744"/>
          </a:xfrm>
          <a:prstGeom prst="rect">
            <a:avLst/>
          </a:prstGeom>
          <a:solidFill>
            <a:srgbClr val="002060"/>
          </a:solidFill>
          <a:ln/>
        </p:spPr>
      </p:sp>
      <p:sp>
        <p:nvSpPr>
          <p:cNvPr id="27" name="Text 18"/>
          <p:cNvSpPr txBox="1"/>
          <p:nvPr/>
        </p:nvSpPr>
        <p:spPr>
          <a:xfrm>
            <a:off x="849477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공간별 대응</a:t>
            </a:r>
            <a:endParaRPr lang="en-US" sz="1300" dirty="0"/>
          </a:p>
        </p:txBody>
      </p:sp>
      <p:sp>
        <p:nvSpPr>
          <p:cNvPr id="28" name="Shape 19"/>
          <p:cNvSpPr/>
          <p:nvPr/>
        </p:nvSpPr>
        <p:spPr>
          <a:xfrm>
            <a:off x="8366760" y="1234440"/>
            <a:ext cx="3364992" cy="1719072"/>
          </a:xfrm>
          <a:prstGeom prst="rect">
            <a:avLst/>
          </a:prstGeom>
          <a:solidFill>
            <a:srgbClr val="F2F2F2"/>
          </a:solidFill>
          <a:ln/>
        </p:spPr>
      </p:sp>
      <p:sp>
        <p:nvSpPr>
          <p:cNvPr id="29" name="Text 20"/>
          <p:cNvSpPr txBox="1"/>
          <p:nvPr/>
        </p:nvSpPr>
        <p:spPr>
          <a:xfrm>
            <a:off x="8494776" y="1325880"/>
            <a:ext cx="886968"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공연 · 홀</a:t>
            </a:r>
            <a:endParaRPr lang="en-US" sz="950" dirty="0"/>
          </a:p>
        </p:txBody>
      </p:sp>
      <p:sp>
        <p:nvSpPr>
          <p:cNvPr id="30" name="Text 21"/>
          <p:cNvSpPr txBox="1"/>
          <p:nvPr/>
        </p:nvSpPr>
        <p:spPr>
          <a:xfrm>
            <a:off x="8513064" y="1655064"/>
            <a:ext cx="309067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지하 공연장 B1~B2</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박스인박스와 방진 바닥 제안</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선큰 마당 쪽 로비가 완충</a:t>
            </a:r>
            <a:endParaRPr lang="en-US" sz="1100" dirty="0"/>
          </a:p>
        </p:txBody>
      </p:sp>
      <p:sp>
        <p:nvSpPr>
          <p:cNvPr id="31" name="Text 22"/>
          <p:cNvSpPr txBox="1"/>
          <p:nvPr/>
        </p:nvSpPr>
        <p:spPr>
          <a:xfrm>
            <a:off x="8513064" y="2295144"/>
            <a:ext cx="309067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6F 가변홀</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이중 차음 지붕</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서·북 면은 닫고 남쪽 광장으로 개구</a:t>
            </a:r>
            <a:endParaRPr lang="en-US" sz="1100" dirty="0"/>
          </a:p>
        </p:txBody>
      </p:sp>
      <p:sp>
        <p:nvSpPr>
          <p:cNvPr id="32" name="Shape 23"/>
          <p:cNvSpPr/>
          <p:nvPr/>
        </p:nvSpPr>
        <p:spPr>
          <a:xfrm>
            <a:off x="8366760" y="3044952"/>
            <a:ext cx="3364992" cy="1371600"/>
          </a:xfrm>
          <a:prstGeom prst="rect">
            <a:avLst/>
          </a:prstGeom>
          <a:solidFill>
            <a:srgbClr val="F2F2F2"/>
          </a:solidFill>
          <a:ln/>
        </p:spPr>
      </p:sp>
      <p:sp>
        <p:nvSpPr>
          <p:cNvPr id="33" name="Text 24"/>
          <p:cNvSpPr txBox="1"/>
          <p:nvPr/>
        </p:nvSpPr>
        <p:spPr>
          <a:xfrm>
            <a:off x="8494776" y="3136392"/>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주차 · 지원</a:t>
            </a:r>
            <a:endParaRPr lang="en-US" sz="950" dirty="0"/>
          </a:p>
        </p:txBody>
      </p:sp>
      <p:sp>
        <p:nvSpPr>
          <p:cNvPr id="34" name="Text 25"/>
          <p:cNvSpPr txBox="1"/>
          <p:nvPr/>
        </p:nvSpPr>
        <p:spPr>
          <a:xfrm>
            <a:off x="8513064" y="3465576"/>
            <a:ext cx="3090672" cy="411480"/>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소로 · 램프</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- 2층 바닥이 덮은 높이 7m 통로</a:t>
            </a:r>
            <a:endParaRPr lang="en-US" sz="1100" dirty="0"/>
          </a:p>
        </p:txBody>
      </p:sp>
      <p:sp>
        <p:nvSpPr>
          <p:cNvPr id="35" name="Text 26"/>
          <p:cNvSpPr txBox="1"/>
          <p:nvPr/>
        </p:nvSpPr>
        <p:spPr>
          <a:xfrm>
            <a:off x="8513064" y="3931920"/>
            <a:ext cx="3090672" cy="411480"/>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동측 하역 · 이륜차</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운영시간 제한 검토</a:t>
            </a:r>
            <a:endParaRPr lang="en-US" sz="1100" dirty="0"/>
          </a:p>
        </p:txBody>
      </p:sp>
      <p:sp>
        <p:nvSpPr>
          <p:cNvPr id="36" name="Shape 27"/>
          <p:cNvSpPr/>
          <p:nvPr/>
        </p:nvSpPr>
        <p:spPr>
          <a:xfrm>
            <a:off x="8366760" y="4507992"/>
            <a:ext cx="3364992" cy="1078992"/>
          </a:xfrm>
          <a:prstGeom prst="rect">
            <a:avLst/>
          </a:prstGeom>
          <a:solidFill>
            <a:srgbClr val="F2F2F2"/>
          </a:solidFill>
          <a:ln/>
        </p:spPr>
      </p:sp>
      <p:sp>
        <p:nvSpPr>
          <p:cNvPr id="37" name="Text 28"/>
          <p:cNvSpPr txBox="1"/>
          <p:nvPr/>
        </p:nvSpPr>
        <p:spPr>
          <a:xfrm>
            <a:off x="8494776" y="4599432"/>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업무 · 상업</a:t>
            </a:r>
            <a:endParaRPr lang="en-US" sz="950" dirty="0"/>
          </a:p>
        </p:txBody>
      </p:sp>
      <p:sp>
        <p:nvSpPr>
          <p:cNvPr id="38" name="Text 29"/>
          <p:cNvSpPr txBox="1"/>
          <p:nvPr/>
        </p:nvSpPr>
        <p:spPr>
          <a:xfrm>
            <a:off x="8513064" y="4928616"/>
            <a:ext cx="309067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5F 상인회</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동측 이면 쪽에 배치</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서측 면은 이중창 검토</a:t>
            </a:r>
            <a:endParaRPr lang="en-US" sz="1100" dirty="0"/>
          </a:p>
        </p:txBody>
      </p:sp>
      <p:sp>
        <p:nvSpPr>
          <p:cNvPr id="39" name="Text 30"/>
          <p:cNvSpPr txBox="1"/>
          <p:nvPr/>
        </p:nvSpPr>
        <p:spPr>
          <a:xfrm>
            <a:off x="4434840" y="5852160"/>
            <a:ext cx="7296912" cy="41148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소음이 큰 실은 지하와 최상층 안쪽에 둠</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06</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조망</a:t>
            </a:r>
            <a:endParaRPr lang="en-US" sz="1700" dirty="0"/>
          </a:p>
        </p:txBody>
      </p:sp>
      <p:sp>
        <p:nvSpPr>
          <p:cNvPr id="4" name="Shape 2"/>
          <p:cNvSpPr/>
          <p:nvPr/>
        </p:nvSpPr>
        <p:spPr>
          <a:xfrm>
            <a:off x="1764792" y="329184"/>
            <a:ext cx="41148" cy="292608"/>
          </a:xfrm>
          <a:prstGeom prst="rect">
            <a:avLst/>
          </a:prstGeom>
          <a:solidFill>
            <a:srgbClr val="002060"/>
          </a:solidFill>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황령산 · BIFC · 서면 도심</a:t>
            </a:r>
            <a:endParaRPr lang="en-US" sz="1150" dirty="0"/>
          </a:p>
        </p:txBody>
      </p:sp>
      <p:sp>
        <p:nvSpPr>
          <p:cNvPr id="6" name="Shape 4"/>
          <p:cNvSpPr/>
          <p:nvPr/>
        </p:nvSpPr>
        <p:spPr>
          <a:xfrm>
            <a:off x="5120640" y="475488"/>
            <a:ext cx="31821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OSM 좌표, 「위키백과」 황령산 427m · BIFC 289m, 본 시안 매스 · 앙각은 지면 8m 가정 · 사진: Christian Bolz, CC BY-SA 4.0</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08</a:t>
            </a:r>
            <a:endParaRPr lang="en-US" sz="800" dirty="0"/>
          </a:p>
        </p:txBody>
      </p:sp>
      <p:pic>
        <p:nvPicPr>
          <p:cNvPr id="15" name="Image 0" descr="C:\Users\jsy07\AppData\Local\Temp\work\img\view_profile.png">    </p:cNvPr>
          <p:cNvPicPr>
            <a:picLocks noChangeAspect="1"/>
          </p:cNvPicPr>
          <p:nvPr/>
        </p:nvPicPr>
        <p:blipFill>
          <a:blip r:embed="rId1"/>
          <a:stretch>
            <a:fillRect/>
          </a:stretch>
        </p:blipFill>
        <p:spPr>
          <a:xfrm>
            <a:off x="457200" y="914400"/>
            <a:ext cx="11274552" cy="2757584"/>
          </a:xfrm>
          <a:prstGeom prst="rect">
            <a:avLst/>
          </a:prstGeom>
        </p:spPr>
      </p:pic>
      <p:sp>
        <p:nvSpPr>
          <p:cNvPr id="16" name="Text 12"/>
          <p:cNvSpPr txBox="1"/>
          <p:nvPr/>
        </p:nvSpPr>
        <p:spPr>
          <a:xfrm>
            <a:off x="457200" y="3671984"/>
            <a:ext cx="11274552"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스카이라인 앙각 분석 · 옥상 광장과 1층 가로, 주변 건물과 정동관 매스 포함</a:t>
            </a:r>
            <a:endParaRPr lang="en-US" sz="900" dirty="0"/>
          </a:p>
        </p:txBody>
      </p:sp>
      <p:pic>
        <p:nvPicPr>
          <p:cNvPr id="17" name="Image 1" descr="C:\Users\jsy07\AppData\Local\Temp\work\img2\view_jeonpo.jpg">    </p:cNvPr>
          <p:cNvPicPr>
            <a:picLocks noChangeAspect="1"/>
          </p:cNvPicPr>
          <p:nvPr/>
        </p:nvPicPr>
        <p:blipFill>
          <a:blip r:embed="rId2"/>
          <a:stretch>
            <a:fillRect/>
          </a:stretch>
        </p:blipFill>
        <p:spPr>
          <a:xfrm>
            <a:off x="457200" y="3946304"/>
            <a:ext cx="3429000" cy="1591056"/>
          </a:xfrm>
          <a:prstGeom prst="rect">
            <a:avLst/>
          </a:prstGeom>
        </p:spPr>
      </p:pic>
      <p:pic>
        <p:nvPicPr>
          <p:cNvPr id="18" name="Image 2" descr="C:\Users\jsy07\AppData\Local\Temp\work\img2\view_roof.jpg">    </p:cNvPr>
          <p:cNvPicPr>
            <a:picLocks noChangeAspect="1"/>
          </p:cNvPicPr>
          <p:nvPr/>
        </p:nvPicPr>
        <p:blipFill>
          <a:blip r:embed="rId3"/>
          <a:stretch>
            <a:fillRect/>
          </a:stretch>
        </p:blipFill>
        <p:spPr>
          <a:xfrm>
            <a:off x="3950208" y="3946304"/>
            <a:ext cx="2743200" cy="1591056"/>
          </a:xfrm>
          <a:prstGeom prst="rect">
            <a:avLst/>
          </a:prstGeom>
        </p:spPr>
      </p:pic>
      <p:sp>
        <p:nvSpPr>
          <p:cNvPr id="19" name="Text 13"/>
          <p:cNvSpPr txBox="1"/>
          <p:nvPr/>
        </p:nvSpPr>
        <p:spPr>
          <a:xfrm>
            <a:off x="457200" y="5555648"/>
            <a:ext cx="3429000" cy="237744"/>
          </a:xfrm>
          <a:prstGeom prst="rect">
            <a:avLst/>
          </a:prstGeom>
          <a:noFill/>
          <a:ln/>
        </p:spPr>
        <p:txBody>
          <a:bodyPr wrap="square" lIns="0" tIns="0" rIns="0" bIns="0" rtlCol="0" anchor="t"/>
          <a:lstStyle/>
          <a:p>
            <a:pPr eaLnBrk="0" algn="l" indent="0" marL="0">
              <a:buNone/>
            </a:pPr>
            <a:r>
              <a:rPr lang="en-US" sz="900" i="1" dirty="0">
                <a:solidFill>
                  <a:srgbClr val="595959"/>
                </a:solidFill>
                <a:latin typeface="Malgun Gothic" pitchFamily="34" charset="0"/>
                <a:ea typeface="Malgun Gothic" pitchFamily="34" charset="-122"/>
                <a:cs typeface="Malgun Gothic" pitchFamily="34" charset="-120"/>
              </a:rPr>
              <a:t>BIFC · 서면 일대 조망</a:t>
            </a:r>
            <a:endParaRPr lang="en-US" sz="900" dirty="0"/>
          </a:p>
        </p:txBody>
      </p:sp>
      <p:sp>
        <p:nvSpPr>
          <p:cNvPr id="20" name="Text 14"/>
          <p:cNvSpPr txBox="1"/>
          <p:nvPr/>
        </p:nvSpPr>
        <p:spPr>
          <a:xfrm>
            <a:off x="3950208" y="5555648"/>
            <a:ext cx="2743200" cy="237744"/>
          </a:xfrm>
          <a:prstGeom prst="rect">
            <a:avLst/>
          </a:prstGeom>
          <a:noFill/>
          <a:ln/>
        </p:spPr>
        <p:txBody>
          <a:bodyPr wrap="square" lIns="0" tIns="0" rIns="0" bIns="0" rtlCol="0" anchor="t"/>
          <a:lstStyle/>
          <a:p>
            <a:pPr eaLnBrk="0" algn="l" indent="0" marL="0">
              <a:buNone/>
            </a:pPr>
            <a:r>
              <a:rPr lang="en-US" sz="900" i="1" dirty="0">
                <a:solidFill>
                  <a:srgbClr val="595959"/>
                </a:solidFill>
                <a:latin typeface="Malgun Gothic" pitchFamily="34" charset="0"/>
                <a:ea typeface="Malgun Gothic" pitchFamily="34" charset="-122"/>
                <a:cs typeface="Malgun Gothic" pitchFamily="34" charset="-120"/>
              </a:rPr>
              <a:t>옥상 광장 시뮬레이션(개념 모델)</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49440" y="3946304"/>
          <a:ext cx="4782312" cy="914400"/>
        </p:xfrm>
        <a:graphic>
          <a:graphicData uri="http://schemas.openxmlformats.org/drawingml/2006/table">
            <a:tbl>
              <a:tblPr/>
              <a:tblGrid>
                <a:gridCol w="1463040"/>
                <a:gridCol w="1463040"/>
                <a:gridCol w="731520"/>
                <a:gridCol w="1124712"/>
              </a:tblGrid>
              <a:tr h="274320">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대상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방위 · 거리</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앙각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옥상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27432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황령산 정상 427m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 87° · 1.47km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15.1°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b="1" dirty="0">
                          <a:solidFill>
                            <a:srgbClr val="FF0000"/>
                          </a:solidFill>
                          <a:latin typeface="Malgun Gothic" pitchFamily="34" charset="0"/>
                          <a:ea typeface="Malgun Gothic" pitchFamily="34" charset="-122"/>
                          <a:cs typeface="Malgun Gothic" pitchFamily="34" charset="-120"/>
                        </a:rPr>
                        <a:t>상단만 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27432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BIFC 289m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남 184° · 1.15km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12.6°</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b="1" dirty="0">
                          <a:solidFill>
                            <a:srgbClr val="002060"/>
                          </a:solidFill>
                          <a:latin typeface="Malgun Gothic" pitchFamily="34" charset="0"/>
                          <a:ea typeface="Malgun Gothic" pitchFamily="34" charset="-122"/>
                          <a:cs typeface="Malgun Gothic" pitchFamily="34" charset="-120"/>
                        </a:rPr>
                        <a:t>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27432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서면 도심</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 · 약 0.6km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고층군</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b="1" dirty="0">
                          <a:solidFill>
                            <a:srgbClr val="002060"/>
                          </a:solidFill>
                          <a:latin typeface="Malgun Gothic" pitchFamily="34" charset="0"/>
                          <a:ea typeface="Malgun Gothic" pitchFamily="34" charset="-122"/>
                          <a:cs typeface="Malgun Gothic" pitchFamily="34" charset="-120"/>
                        </a:rPr>
                        <a:t>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22" name="Shape 15"/>
          <p:cNvSpPr/>
          <p:nvPr/>
        </p:nvSpPr>
        <p:spPr>
          <a:xfrm>
            <a:off x="6949440" y="5135024"/>
            <a:ext cx="4782312" cy="1078992"/>
          </a:xfrm>
          <a:prstGeom prst="rect">
            <a:avLst/>
          </a:prstGeom>
          <a:solidFill>
            <a:srgbClr val="F2F2F2"/>
          </a:solidFill>
          <a:ln/>
        </p:spPr>
      </p:sp>
      <p:sp>
        <p:nvSpPr>
          <p:cNvPr id="23" name="Text 16"/>
          <p:cNvSpPr txBox="1"/>
          <p:nvPr/>
        </p:nvSpPr>
        <p:spPr>
          <a:xfrm>
            <a:off x="7077456" y="5226464"/>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7095744" y="5555648"/>
            <a:ext cx="450799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1층 가로 · 옥상 광장</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- 1층: 자체 매스가 동쪽을 가려 황령산이 보이지 않음</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옥상: 열린 각도 약 128°, 동남동 29~30층 아파트 위로 능선 상단이 걸침</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3F7"/>
          </a:solidFill>
          <a:ln/>
        </p:spPr>
      </p:sp>
      <p:pic>
        <p:nvPicPr>
          <p:cNvPr id="3" name="Image 0" descr="C:\Users\jsy07\AppData\Local\Temp\work\img2\concept_grey.jpg">    </p:cNvPr>
          <p:cNvPicPr>
            <a:picLocks noChangeAspect="1"/>
          </p:cNvPicPr>
          <p:nvPr/>
        </p:nvPicPr>
        <p:blipFill>
          <a:blip r:embed="rId1"/>
          <a:stretch>
            <a:fillRect/>
          </a:stretch>
        </p:blipFill>
        <p:spPr>
          <a:xfrm>
            <a:off x="7894015" y="0"/>
            <a:ext cx="4297680" cy="6858000"/>
          </a:xfrm>
          <a:prstGeom prst="rect">
            <a:avLst/>
          </a:prstGeom>
        </p:spPr>
      </p:pic>
      <p:sp>
        <p:nvSpPr>
          <p:cNvPr id="4" name="Shape 1"/>
          <p:cNvSpPr/>
          <p:nvPr/>
        </p:nvSpPr>
        <p:spPr>
          <a:xfrm>
            <a:off x="7894015" y="0"/>
            <a:ext cx="4297680" cy="6858000"/>
          </a:xfrm>
          <a:prstGeom prst="rect">
            <a:avLst/>
          </a:prstGeom>
          <a:solidFill>
            <a:srgbClr val="F0F3F7">
              <a:alpha val="62000"/>
            </a:srgbClr>
          </a:solidFill>
          <a:ln/>
        </p:spPr>
      </p:sp>
      <p:sp>
        <p:nvSpPr>
          <p:cNvPr id="5" name="Text 2"/>
          <p:cNvSpPr txBox="1"/>
          <p:nvPr/>
        </p:nvSpPr>
        <p:spPr>
          <a:xfrm>
            <a:off x="685800" y="411480"/>
            <a:ext cx="1828800" cy="1965960"/>
          </a:xfrm>
          <a:prstGeom prst="rect">
            <a:avLst/>
          </a:prstGeom>
          <a:noFill/>
          <a:ln/>
        </p:spPr>
        <p:txBody>
          <a:bodyPr wrap="square" lIns="0" tIns="0" rIns="0" bIns="0" rtlCol="0" anchor="ctr"/>
          <a:lstStyle/>
          <a:p>
            <a:pPr eaLnBrk="0" algn="ctr" indent="0" marL="0">
              <a:buNone/>
            </a:pPr>
            <a:r>
              <a:rPr lang="en-US" sz="11000" b="1" dirty="0">
                <a:solidFill>
                  <a:srgbClr val="000000"/>
                </a:solidFill>
                <a:latin typeface="Batang" pitchFamily="34" charset="0"/>
                <a:ea typeface="Batang" pitchFamily="34" charset="-122"/>
                <a:cs typeface="Batang" pitchFamily="34" charset="-120"/>
              </a:rPr>
              <a:t>停</a:t>
            </a:r>
            <a:endParaRPr lang="en-US" sz="11000" dirty="0"/>
          </a:p>
        </p:txBody>
      </p:sp>
      <p:sp>
        <p:nvSpPr>
          <p:cNvPr id="6" name="Text 3"/>
          <p:cNvSpPr txBox="1"/>
          <p:nvPr/>
        </p:nvSpPr>
        <p:spPr>
          <a:xfrm>
            <a:off x="685800" y="2423160"/>
            <a:ext cx="1828800" cy="1965960"/>
          </a:xfrm>
          <a:prstGeom prst="rect">
            <a:avLst/>
          </a:prstGeom>
          <a:noFill/>
          <a:ln/>
        </p:spPr>
        <p:txBody>
          <a:bodyPr wrap="square" lIns="0" tIns="0" rIns="0" bIns="0" rtlCol="0" anchor="ctr"/>
          <a:lstStyle/>
          <a:p>
            <a:pPr eaLnBrk="0" algn="ctr" indent="0" marL="0">
              <a:buNone/>
            </a:pPr>
            <a:r>
              <a:rPr lang="en-US" sz="11000" b="1" dirty="0">
                <a:solidFill>
                  <a:srgbClr val="000000"/>
                </a:solidFill>
                <a:latin typeface="Batang" pitchFamily="34" charset="0"/>
                <a:ea typeface="Batang" pitchFamily="34" charset="-122"/>
                <a:cs typeface="Batang" pitchFamily="34" charset="-120"/>
              </a:rPr>
              <a:t>動</a:t>
            </a:r>
            <a:endParaRPr lang="en-US" sz="11000" dirty="0"/>
          </a:p>
        </p:txBody>
      </p:sp>
      <p:sp>
        <p:nvSpPr>
          <p:cNvPr id="7" name="Text 4"/>
          <p:cNvSpPr txBox="1"/>
          <p:nvPr/>
        </p:nvSpPr>
        <p:spPr>
          <a:xfrm>
            <a:off x="685800" y="4434840"/>
            <a:ext cx="1828800" cy="1965960"/>
          </a:xfrm>
          <a:prstGeom prst="rect">
            <a:avLst/>
          </a:prstGeom>
          <a:noFill/>
          <a:ln/>
        </p:spPr>
        <p:txBody>
          <a:bodyPr wrap="square" lIns="0" tIns="0" rIns="0" bIns="0" rtlCol="0" anchor="ctr"/>
          <a:lstStyle/>
          <a:p>
            <a:pPr eaLnBrk="0" algn="ctr" indent="0" marL="0">
              <a:buNone/>
            </a:pPr>
            <a:r>
              <a:rPr lang="en-US" sz="11000" b="1" dirty="0">
                <a:solidFill>
                  <a:srgbClr val="000000"/>
                </a:solidFill>
                <a:latin typeface="Batang" pitchFamily="34" charset="0"/>
                <a:ea typeface="Batang" pitchFamily="34" charset="-122"/>
                <a:cs typeface="Batang" pitchFamily="34" charset="-120"/>
              </a:rPr>
              <a:t>館</a:t>
            </a:r>
            <a:endParaRPr lang="en-US" sz="11000" dirty="0"/>
          </a:p>
        </p:txBody>
      </p:sp>
      <p:sp>
        <p:nvSpPr>
          <p:cNvPr id="8" name="Text 5"/>
          <p:cNvSpPr txBox="1"/>
          <p:nvPr/>
        </p:nvSpPr>
        <p:spPr>
          <a:xfrm>
            <a:off x="2651760" y="822960"/>
            <a:ext cx="640080" cy="5029200"/>
          </a:xfrm>
          <a:prstGeom prst="rect">
            <a:avLst/>
          </a:prstGeom>
          <a:noFill/>
          <a:ln/>
        </p:spPr>
        <p:txBody>
          <a:bodyPr wrap="square" lIns="0" tIns="0" rIns="0" bIns="0" rtlCol="0" anchor="t"/>
          <a:lstStyle/>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정</a:t>
            </a:r>
            <a:endParaRPr lang="en-US" sz="3200" dirty="0"/>
          </a:p>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동</a:t>
            </a:r>
            <a:endParaRPr lang="en-US" sz="3200" dirty="0"/>
          </a:p>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관</a:t>
            </a:r>
            <a:endParaRPr lang="en-US" sz="3200" dirty="0"/>
          </a:p>
        </p:txBody>
      </p:sp>
      <p:sp>
        <p:nvSpPr>
          <p:cNvPr id="9" name="Text 6"/>
          <p:cNvSpPr txBox="1"/>
          <p:nvPr/>
        </p:nvSpPr>
        <p:spPr>
          <a:xfrm>
            <a:off x="3566160" y="1371600"/>
            <a:ext cx="4206240" cy="2468880"/>
          </a:xfrm>
          <a:prstGeom prst="rect">
            <a:avLst/>
          </a:prstGeom>
          <a:noFill/>
          <a:ln/>
        </p:spPr>
        <p:txBody>
          <a:bodyPr wrap="square" lIns="0" tIns="0" rIns="0" bIns="0" rtlCol="0" anchor="ctr"/>
          <a:lstStyle/>
          <a:p>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‘정동관’은 차가 멈추는 주차층(停)과 사람이 움직이는 계단 · 홀 · 광장(動)을 한 건물 안에 두어, 낮에는 상권의 차를 받고 밤에는 공연과 옥상 광장이 켜지는 건물을 뜻함</a:t>
            </a:r>
            <a:endParaRPr lang="en-US" sz="1700" dirty="0"/>
          </a:p>
        </p:txBody>
      </p:sp>
      <p:sp>
        <p:nvSpPr>
          <p:cNvPr id="10" name="Text 7"/>
          <p:cNvSpPr txBox="1"/>
          <p:nvPr/>
        </p:nvSpPr>
        <p:spPr>
          <a:xfrm>
            <a:off x="3566160" y="4114800"/>
            <a:ext cx="4206240" cy="365760"/>
          </a:xfrm>
          <a:prstGeom prst="rect">
            <a:avLst/>
          </a:prstGeom>
          <a:noFill/>
          <a:ln/>
        </p:spPr>
        <p:txBody>
          <a:bodyPr wrap="square" lIns="0" tIns="0" rIns="0" bIns="0" rtlCol="0" anchor="t"/>
          <a:lstStyle/>
          <a:p>
            <a:pPr eaLnBrk="0" algn="ctr" indent="0" marL="0">
              <a:buNone/>
            </a:pPr>
            <a:r>
              <a:rPr lang="en-US" sz="1500" b="1" dirty="0">
                <a:solidFill>
                  <a:srgbClr val="000000"/>
                </a:solidFill>
                <a:latin typeface="Malgun Gothic" pitchFamily="34" charset="0"/>
                <a:ea typeface="Malgun Gothic" pitchFamily="34" charset="-122"/>
                <a:cs typeface="Malgun Gothic" pitchFamily="34" charset="-120"/>
              </a:rPr>
              <a:t>停과 動이 교대하는 하루</a:t>
            </a:r>
            <a:endParaRPr lang="en-US" sz="1500" dirty="0"/>
          </a:p>
        </p:txBody>
      </p:sp>
      <p:sp>
        <p:nvSpPr>
          <p:cNvPr id="11" name="Text 8"/>
          <p:cNvSpPr txBox="1"/>
          <p:nvPr/>
        </p:nvSpPr>
        <p:spPr>
          <a:xfrm>
            <a:off x="3566160" y="4526280"/>
            <a:ext cx="4206240" cy="1097280"/>
          </a:xfrm>
          <a:prstGeom prst="rect">
            <a:avLst/>
          </a:prstGeom>
          <a:noFill/>
          <a:ln/>
        </p:spPr>
        <p:txBody>
          <a:bodyPr wrap="square" lIns="0" tIns="0" rIns="0" bIns="0" rtlCol="0" anchor="t"/>
          <a:lstStyle/>
          <a:p>
            <a:pPr eaLnBrk="0" algn="ctr" indent="0" marL="0">
              <a:lnSpc>
                <a:spcPct val="130000"/>
              </a:lnSpc>
              <a:buNone/>
            </a:pPr>
            <a:r>
              <a:rPr lang="en-US" sz="1100" dirty="0">
                <a:solidFill>
                  <a:srgbClr val="595959"/>
                </a:solidFill>
                <a:latin typeface="Malgun Gothic" pitchFamily="34" charset="0"/>
                <a:ea typeface="Malgun Gothic" pitchFamily="34" charset="-122"/>
                <a:cs typeface="Malgun Gothic" pitchFamily="34" charset="-120"/>
              </a:rPr>
              <a:t>차가 멈추는 주차층은 목재 슬랫 스크린으로 차분히 감싸고, 사람이 움직이는 순환 계단 · 6F 가변홀 · 옥상 광장은 검은 계단과 켜진 홀로 드러냄</a:t>
            </a:r>
            <a:endParaRPr lang="en-US" sz="1100" dirty="0"/>
          </a:p>
        </p:txBody>
      </p:sp>
      <p:sp>
        <p:nvSpPr>
          <p:cNvPr id="12" name="Text 9"/>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3" name="Text 10"/>
          <p:cNvSpPr txBox="1"/>
          <p:nvPr/>
        </p:nvSpPr>
        <p:spPr>
          <a:xfrm>
            <a:off x="3566160" y="6455664"/>
            <a:ext cx="4206240" cy="274320"/>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07</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Ⅰ</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좁은 상업 대지의 주차빌딩</a:t>
            </a:r>
            <a:endParaRPr lang="en-US" sz="1150" dirty="0"/>
          </a:p>
        </p:txBody>
      </p:sp>
      <p:sp>
        <p:nvSpPr>
          <p:cNvPr id="6" name="Shape 4"/>
          <p:cNvSpPr/>
          <p:nvPr/>
        </p:nvSpPr>
        <p:spPr>
          <a:xfrm>
            <a:off x="5609844" y="475488"/>
            <a:ext cx="26929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JOHO Architecture(헤르마 주차빌딩, 사진 Namgoong Sun · Jeonghoon Lee), arch2o, 서울경제 2016.02.26, 자체 조사(2026.9) · 다이어그램은 자체 작성 · 평택 JS타워 사진은 출처 미확인(저장소 자료)</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10</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헤르마 주차빌딩</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JOHO Architecture · 용인 죽전 카페거리 초입 · 2010</a:t>
            </a:r>
            <a:endParaRPr lang="en-US" sz="950" dirty="0"/>
          </a:p>
        </p:txBody>
      </p:sp>
      <p:pic>
        <p:nvPicPr>
          <p:cNvPr id="16" name="Image 0" descr="C:\Users\jsy07\AppData\Local\Temp\work\img2\c_herma.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herma.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평면: 폭 약 14m의 사선 대지에서 램프 폭을 6m에서 3.3m로 줄이고 삼각 보이드를 계단이 감아 오름</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외피: 반투명 폴리카보네이트 패널, 층마다 개구 패턴이 달라 자연환기와 확산광을 얻음</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 조망: 1층 상가가 가로와 주차층 사이 완충이 되고 밤에는 차량 불빛이 외피를 통해 가로에 비침</a:t>
            </a:r>
            <a:endParaRPr lang="en-US" sz="105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1층을 가로에 열고, 뾰족한 끝을 순환 계단 코어로 둠</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평택 JS타워</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평택 · 대지 2,505㎡</a:t>
            </a:r>
            <a:endParaRPr lang="en-US" sz="950" dirty="0"/>
          </a:p>
        </p:txBody>
      </p:sp>
      <p:pic>
        <p:nvPicPr>
          <p:cNvPr id="24" name="Image 2" descr="C:\Users\jsy07\AppData\Local\Temp\work\img2\c_js.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js.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스킵플로어로 램프 면적을 줄여 주차 효율을 높임</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입면: 알루미늄 타공판 밴드가 상층 주차부를 감싸고 1층 근생은 층고를 반 층 높여 개방감을 줌</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 조망: 타공판 밴드가 일사와 주차층 시선을 함께 가림</a:t>
            </a:r>
            <a:endParaRPr lang="en-US" sz="105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2층 이상 스킵플로어, 줄인 램프 면적을 공연장에 배분함</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08</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Ⅱ</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주차 건물의 외피와 옥상</a:t>
            </a:r>
            <a:endParaRPr lang="en-US" sz="115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dJGA + MODULO(Saint-Luc, 사진 Lieven Van Landschoot), JAJA Architects(Park ’n’ Play, 사진 Rasmus Hjortshøj / COAST), 자체 조사(2026.9)</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11</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Saint-Luc 주차건물</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de Jong Gortemaker Algra + MODULO · 브뤼셀 · 2016</a:t>
            </a:r>
            <a:endParaRPr lang="en-US" sz="950" dirty="0"/>
          </a:p>
        </p:txBody>
      </p:sp>
      <p:pic>
        <p:nvPicPr>
          <p:cNvPr id="16" name="Image 0" descr="C:\Users\jsy07\AppData\Local\Temp\work\img2\c_saintluc.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saintluc.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지하 3층 · 지상 2층, 985대. 경사지에 묻혀 지붕이 녹지로 이어짐</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평면: 건물 둘레의 구불구불한 ‘협곡’이 최하층까지 빛과 공기를 들임</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외피: 물결치는 목재 슬랫 입면이 병원과 주거 쪽 시선을 가림</a:t>
            </a:r>
            <a:endParaRPr lang="en-US" sz="105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주차층 외피를 목재 슬랫 스크린으로 구성, 두 끝을 비워 지하 공연장까지 빛을 내림</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Park ’n’ Play</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JAJA Architects · 코펜하겐 노르드하운 · 2016</a:t>
            </a:r>
            <a:endParaRPr lang="en-US" sz="950" dirty="0"/>
          </a:p>
        </p:txBody>
      </p:sp>
      <p:pic>
        <p:nvPicPr>
          <p:cNvPr id="24" name="Image 2" descr="C:\Users\jsy07\AppData\Local\Temp\work\img2\c_pnp.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pnp.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입면: 8층 주차건물, 외부 공공계단 두 줄이 지상에서 옥상 놀이터까지 이어짐</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외피: 플랜터 그리드가 구조 격자를 드러내고 타공 벽체가 주차층을 자연환기함</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조망: 옥상(약 24m)에서 코펜하겐 항구와 외레순 방향이 열림</a:t>
            </a:r>
            <a:endParaRPr lang="en-US" sz="105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옥상 광장(약 1,380㎡)과 개방 순환 계단</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09</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Ⅲ</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공연과 행사를 담는 구조</a:t>
            </a:r>
            <a:endParaRPr lang="en-US" sz="115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peter haimerl.architektur(Blaibach, 도면 · 사진 NAARO), Herzog &amp; de Meuron(1111 Lincoln Road, 사진 Phillip Pessar, CC BY 2.0 · 삽입 사진 ArchDaily), 자체 조사(2026.9)</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12</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Concert Hall Blaibach</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peter haimerl.architektur · 독일 바이에른 · 2014</a:t>
            </a:r>
            <a:endParaRPr lang="en-US" sz="950" dirty="0"/>
          </a:p>
        </p:txBody>
      </p:sp>
      <p:pic>
        <p:nvPicPr>
          <p:cNvPr id="16" name="Image 0" descr="C:\Users\jsy07\AppData\Local\Temp\work\img2\c_blaibach.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blaibach.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200석 객석을 대부분 지하에 묻고 기울어진 화강암 블록만 지상에 노출함</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평면: 로비(위)에서 객석, 무대(아래) 순으로 이어지고 계단이 블록 밑면에서 지하 로비로 내려감</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소음 · 조망: 콘크리트 셸이 음향과 차음을 함께 풀고, 지상 블록은 마을 광장의 랜드마크가 됨</a:t>
            </a:r>
            <a:endParaRPr lang="en-US" sz="105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공연장을 B1~B2에 두고 선큰 마당에서 내려가는 진입</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1111 Lincoln Road</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Herzog &amp; de Meuron · 마이애미 비치 · 2010</a:t>
            </a:r>
            <a:endParaRPr lang="en-US" sz="950" dirty="0"/>
          </a:p>
        </p:txBody>
      </p:sp>
      <p:pic>
        <p:nvPicPr>
          <p:cNvPr id="24" name="Image 2" descr="C:\Users\jsy07\AppData\Local\Temp\work\img2\c_lincoln.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lincoln.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구조: 슬래브 · 기둥 · 램프만으로 이룬 개방 구조, 층고는 약 2.1m(주차)에서 최대 약 10.4m까지 변함</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프로그램: 층고가 높은 상부에서 행사 · 문화 · 상업을 탄력적으로 수용함</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깊은 슬래브가 일사를 가리고 바람을 통과시키나 운영 소음이 밖으로 열려 있음</a:t>
            </a:r>
            <a:endParaRPr lang="en-US" sz="105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6F 가변홀(층고 8m)과 5F 전환 층</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10</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볼륨 도출</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필지 합필에서 최종 볼륨까지</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시안(개념 볼륨 스터디) · 면적은 개략이며 형태는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13</a:t>
            </a:r>
            <a:endParaRPr lang="en-US" sz="800" dirty="0"/>
          </a:p>
        </p:txBody>
      </p:sp>
      <p:pic>
        <p:nvPicPr>
          <p:cNvPr id="14" name="Image 0" descr="C:\Users\jsy07\AppData\Local\Temp\work\img\steps.jpg">    </p:cNvPr>
          <p:cNvPicPr>
            <a:picLocks noChangeAspect="1"/>
          </p:cNvPicPr>
          <p:nvPr/>
        </p:nvPicPr>
        <p:blipFill>
          <a:blip r:embed="rId1"/>
          <a:stretch>
            <a:fillRect/>
          </a:stretch>
        </p:blipFill>
        <p:spPr>
          <a:xfrm>
            <a:off x="457200" y="914400"/>
            <a:ext cx="11274552" cy="2409194"/>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506474"/>
          <a:ext cx="11274552" cy="914400"/>
        </p:xfrm>
        <a:graphic>
          <a:graphicData uri="http://schemas.openxmlformats.org/drawingml/2006/table">
            <a:tbl>
              <a:tblPr/>
              <a:tblGrid>
                <a:gridCol w="2377440"/>
                <a:gridCol w="3657600"/>
                <a:gridCol w="5239512"/>
              </a:tblGrid>
              <a:tr h="402336">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단계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결정</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이유</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① 53필지 합필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서측 + 소로 + 동측 4,964.5㎡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서측 쐐기만으로는 건축 가능 바닥이 약 920㎡라 램프가 면적을 잠식함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② 소로 = 차량 전용 차로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1층 층고 7m, 차로 위는 비움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차량을 소로에 모으고 가로에는 차가 드나들지 않게 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③ 2층부터 한 판</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소로 위로 이은 바닥, 북·남 3m 이격</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한 층 4,322.1㎡의 정형 바닥, 법정 이격 확보</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④ 두 끝을 비워 코어로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개방 순환 계단 + 승강기, 건폐율 87.1%</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주차가 어려운 좁은 끝을 사람 이동의 중심으로 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⑤ 스킵플로어 · 홀 · 광장</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서·동 판을 반 층 엇갈림, 6F 가변홀, 옥상 광장</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램프를 줄이고 비는 시간과 위아래 층에 공연·체육·광장을 담음</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6" name="Text 12"/>
          <p:cNvSpPr txBox="1"/>
          <p:nvPr/>
        </p:nvSpPr>
        <p:spPr>
          <a:xfrm>
            <a:off x="457200" y="5852160"/>
            <a:ext cx="1127455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필지를 채우되 법정 이격과 건폐율은 두 끝을 비워 맞추고, 비운 자리가 건물의 얼굴이 됨</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11</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최종안</a:t>
            </a:r>
            <a:endParaRPr lang="en-US" sz="1700" dirty="0"/>
          </a:p>
        </p:txBody>
      </p:sp>
      <p:sp>
        <p:nvSpPr>
          <p:cNvPr id="4" name="Shape 2"/>
          <p:cNvSpPr/>
          <p:nvPr/>
        </p:nvSpPr>
        <p:spPr>
          <a:xfrm>
            <a:off x="1997964" y="329184"/>
            <a:ext cx="41148" cy="292608"/>
          </a:xfrm>
          <a:prstGeom prst="rect">
            <a:avLst/>
          </a:prstGeom>
          <a:solidFill>
            <a:srgbClr val="002060"/>
          </a:solidFill>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Final Draft와 요구 · 의도</a:t>
            </a:r>
            <a:endParaRPr lang="en-US" sz="1150" dirty="0"/>
          </a:p>
        </p:txBody>
      </p:sp>
      <p:sp>
        <p:nvSpPr>
          <p:cNvPr id="6" name="Shape 4"/>
          <p:cNvSpPr/>
          <p:nvPr/>
        </p:nvSpPr>
        <p:spPr>
          <a:xfrm>
            <a:off x="5692140" y="475488"/>
            <a:ext cx="26106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시안(면적 계산 · 투시도), 「주차장법」 제12조의2 · 모든 수치는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14</a:t>
            </a:r>
            <a:endParaRPr lang="en-US" sz="800" dirty="0"/>
          </a:p>
        </p:txBody>
      </p:sp>
      <p:pic>
        <p:nvPicPr>
          <p:cNvPr id="14" name="Image 0" descr="C:\Users\jsy07\AppData\Local\Temp\work\img2\final_aerial.jpg">    </p:cNvPr>
          <p:cNvPicPr>
            <a:picLocks noChangeAspect="1"/>
          </p:cNvPicPr>
          <p:nvPr/>
        </p:nvPicPr>
        <p:blipFill>
          <a:blip r:embed="rId1"/>
          <a:stretch>
            <a:fillRect/>
          </a:stretch>
        </p:blipFill>
        <p:spPr>
          <a:xfrm>
            <a:off x="457200" y="914400"/>
            <a:ext cx="5852160" cy="3291840"/>
          </a:xfrm>
          <a:prstGeom prst="rect">
            <a:avLst/>
          </a:prstGeom>
        </p:spPr>
      </p:pic>
      <p:sp>
        <p:nvSpPr>
          <p:cNvPr id="15" name="Text 12"/>
          <p:cNvSpPr txBox="1"/>
          <p:nvPr/>
        </p:nvSpPr>
        <p:spPr>
          <a:xfrm>
            <a:off x="457200" y="4233672"/>
            <a:ext cx="585216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조감 투시도 · 남서쪽 상공</a:t>
            </a:r>
            <a:endParaRPr lang="en-US" sz="900" dirty="0"/>
          </a:p>
        </p:txBody>
      </p:sp>
      <p:sp>
        <p:nvSpPr>
          <p:cNvPr id="16" name="Shape 13"/>
          <p:cNvSpPr/>
          <p:nvPr/>
        </p:nvSpPr>
        <p:spPr>
          <a:xfrm>
            <a:off x="457200" y="4572000"/>
            <a:ext cx="1408176" cy="960120"/>
          </a:xfrm>
          <a:prstGeom prst="rect">
            <a:avLst/>
          </a:prstGeom>
          <a:solidFill>
            <a:srgbClr val="F0F3F7"/>
          </a:solidFill>
          <a:ln/>
        </p:spPr>
      </p:sp>
      <p:sp>
        <p:nvSpPr>
          <p:cNvPr id="17" name="Text 14"/>
          <p:cNvSpPr txBox="1"/>
          <p:nvPr/>
        </p:nvSpPr>
        <p:spPr>
          <a:xfrm>
            <a:off x="457200"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4,964.5㎡</a:t>
            </a:r>
            <a:endParaRPr lang="en-US" sz="1400" dirty="0"/>
          </a:p>
        </p:txBody>
      </p:sp>
      <p:sp>
        <p:nvSpPr>
          <p:cNvPr id="18" name="Text 15"/>
          <p:cNvSpPr txBox="1"/>
          <p:nvPr/>
        </p:nvSpPr>
        <p:spPr>
          <a:xfrm>
            <a:off x="457200"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대지면적</a:t>
            </a:r>
            <a:endParaRPr lang="en-US" sz="950" dirty="0"/>
          </a:p>
        </p:txBody>
      </p:sp>
      <p:sp>
        <p:nvSpPr>
          <p:cNvPr id="19" name="Shape 16"/>
          <p:cNvSpPr/>
          <p:nvPr/>
        </p:nvSpPr>
        <p:spPr>
          <a:xfrm>
            <a:off x="1938528" y="4572000"/>
            <a:ext cx="1408176" cy="960120"/>
          </a:xfrm>
          <a:prstGeom prst="rect">
            <a:avLst/>
          </a:prstGeom>
          <a:solidFill>
            <a:srgbClr val="F0F3F7"/>
          </a:solidFill>
          <a:ln/>
        </p:spPr>
      </p:sp>
      <p:sp>
        <p:nvSpPr>
          <p:cNvPr id="20" name="Text 17"/>
          <p:cNvSpPr txBox="1"/>
          <p:nvPr/>
        </p:nvSpPr>
        <p:spPr>
          <a:xfrm>
            <a:off x="1938528"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43,623.7㎡</a:t>
            </a:r>
            <a:endParaRPr lang="en-US" sz="1400" dirty="0"/>
          </a:p>
        </p:txBody>
      </p:sp>
      <p:sp>
        <p:nvSpPr>
          <p:cNvPr id="21" name="Text 18"/>
          <p:cNvSpPr txBox="1"/>
          <p:nvPr/>
        </p:nvSpPr>
        <p:spPr>
          <a:xfrm>
            <a:off x="1938528"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연면적</a:t>
            </a:r>
            <a:endParaRPr lang="en-US" sz="950" dirty="0"/>
          </a:p>
        </p:txBody>
      </p:sp>
      <p:sp>
        <p:nvSpPr>
          <p:cNvPr id="22" name="Shape 19"/>
          <p:cNvSpPr/>
          <p:nvPr/>
        </p:nvSpPr>
        <p:spPr>
          <a:xfrm>
            <a:off x="3419856" y="4572000"/>
            <a:ext cx="1408176" cy="960120"/>
          </a:xfrm>
          <a:prstGeom prst="rect">
            <a:avLst/>
          </a:prstGeom>
          <a:solidFill>
            <a:srgbClr val="F0F3F7"/>
          </a:solidFill>
          <a:ln/>
        </p:spPr>
      </p:sp>
      <p:sp>
        <p:nvSpPr>
          <p:cNvPr id="23" name="Text 20"/>
          <p:cNvSpPr txBox="1"/>
          <p:nvPr/>
        </p:nvSpPr>
        <p:spPr>
          <a:xfrm>
            <a:off x="3419856"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87.1%</a:t>
            </a:r>
            <a:endParaRPr lang="en-US" sz="1400" dirty="0"/>
          </a:p>
        </p:txBody>
      </p:sp>
      <p:sp>
        <p:nvSpPr>
          <p:cNvPr id="24" name="Text 21"/>
          <p:cNvSpPr txBox="1"/>
          <p:nvPr/>
        </p:nvSpPr>
        <p:spPr>
          <a:xfrm>
            <a:off x="3419856"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건폐율</a:t>
            </a:r>
            <a:endParaRPr lang="en-US" sz="950" dirty="0"/>
          </a:p>
        </p:txBody>
      </p:sp>
      <p:sp>
        <p:nvSpPr>
          <p:cNvPr id="25" name="Shape 22"/>
          <p:cNvSpPr/>
          <p:nvPr/>
        </p:nvSpPr>
        <p:spPr>
          <a:xfrm>
            <a:off x="4901184" y="4572000"/>
            <a:ext cx="1408176" cy="960120"/>
          </a:xfrm>
          <a:prstGeom prst="rect">
            <a:avLst/>
          </a:prstGeom>
          <a:solidFill>
            <a:srgbClr val="F0F3F7"/>
          </a:solidFill>
          <a:ln/>
        </p:spPr>
      </p:sp>
      <p:sp>
        <p:nvSpPr>
          <p:cNvPr id="26" name="Text 23"/>
          <p:cNvSpPr txBox="1"/>
          <p:nvPr/>
        </p:nvSpPr>
        <p:spPr>
          <a:xfrm>
            <a:off x="4901184"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약 600대</a:t>
            </a:r>
            <a:endParaRPr lang="en-US" sz="1400" dirty="0"/>
          </a:p>
        </p:txBody>
      </p:sp>
      <p:sp>
        <p:nvSpPr>
          <p:cNvPr id="27" name="Text 24"/>
          <p:cNvSpPr txBox="1"/>
          <p:nvPr/>
        </p:nvSpPr>
        <p:spPr>
          <a:xfrm>
            <a:off x="4901184"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주차</a:t>
            </a:r>
            <a:endParaRPr lang="en-US" sz="950" dirty="0"/>
          </a:p>
        </p:txBody>
      </p:sp>
      <p:sp>
        <p:nvSpPr>
          <p:cNvPr id="28" name="Text 25"/>
          <p:cNvSpPr txBox="1"/>
          <p:nvPr/>
        </p:nvSpPr>
        <p:spPr>
          <a:xfrm>
            <a:off x="6583680" y="914400"/>
            <a:ext cx="1097280" cy="292608"/>
          </a:xfrm>
          <a:prstGeom prst="rect">
            <a:avLst/>
          </a:prstGeom>
          <a:solidFill>
            <a:srgbClr val="F2F2F2"/>
          </a:solidFill>
          <a:ln/>
        </p:spPr>
        <p:txBody>
          <a:bodyPr wrap="square" lIns="0" tIns="0" rIns="0" bIns="0" rtlCol="0" anchor="ctr"/>
          <a:lstStyle/>
          <a:p>
            <a:pPr eaLnBrk="0" algn="ctr" indent="0" marL="0">
              <a:buNone/>
            </a:pPr>
            <a:r>
              <a:rPr lang="en-US" sz="1000" b="1" dirty="0">
                <a:solidFill>
                  <a:srgbClr val="595959"/>
                </a:solidFill>
                <a:latin typeface="Malgun Gothic" pitchFamily="34" charset="0"/>
                <a:ea typeface="Malgun Gothic" pitchFamily="34" charset="-122"/>
                <a:cs typeface="Malgun Gothic" pitchFamily="34" charset="-120"/>
              </a:rPr>
              <a:t>사업 요구</a:t>
            </a:r>
            <a:endParaRPr lang="en-US" sz="1000" dirty="0"/>
          </a:p>
        </p:txBody>
      </p:sp>
      <p:sp>
        <p:nvSpPr>
          <p:cNvPr id="29" name="Text 26"/>
          <p:cNvSpPr txBox="1"/>
          <p:nvPr/>
        </p:nvSpPr>
        <p:spPr>
          <a:xfrm>
            <a:off x="7726680" y="914400"/>
            <a:ext cx="1097280" cy="29260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설계 의도</a:t>
            </a:r>
            <a:endParaRPr lang="en-US" sz="1000" dirty="0"/>
          </a:p>
        </p:txBody>
      </p:sp>
      <p:sp>
        <p:nvSpPr>
          <p:cNvPr id="30" name="Shape 27"/>
          <p:cNvSpPr/>
          <p:nvPr/>
        </p:nvSpPr>
        <p:spPr>
          <a:xfrm>
            <a:off x="6583680" y="1207008"/>
            <a:ext cx="5148072" cy="914400"/>
          </a:xfrm>
          <a:prstGeom prst="rect">
            <a:avLst/>
          </a:prstGeom>
          <a:solidFill>
            <a:srgbClr val="FFFFFF"/>
          </a:solidFill>
          <a:ln w="12700">
            <a:solidFill>
              <a:srgbClr val="002060"/>
            </a:solidFill>
            <a:prstDash val="solid"/>
          </a:ln>
        </p:spPr>
      </p:sp>
      <p:sp>
        <p:nvSpPr>
          <p:cNvPr id="31" name="Text 28"/>
          <p:cNvSpPr txBox="1"/>
          <p:nvPr/>
        </p:nvSpPr>
        <p:spPr>
          <a:xfrm>
            <a:off x="6720840" y="1261872"/>
            <a:ext cx="4873752" cy="822960"/>
          </a:xfrm>
          <a:prstGeom prst="rect">
            <a:avLst/>
          </a:prstGeom>
          <a:noFill/>
          <a:ln/>
        </p:spPr>
        <p:txBody>
          <a:bodyPr wrap="square" lIns="0" tIns="0" rIns="0" bIns="0" rtlCol="0" anchor="ctr"/>
          <a:lstStyle/>
          <a:p>
            <a:pPr eaLnBrk="0" marL="152400" indent="-152400">
              <a:buSzPct val="100000"/>
              <a:buChar char="•"/>
            </a:pPr>
            <a:r>
              <a:rPr lang="en-US" sz="1000" dirty="0">
                <a:solidFill>
                  <a:srgbClr val="000000"/>
                </a:solidFill>
                <a:latin typeface="Malgun Gothic" pitchFamily="34" charset="0"/>
                <a:ea typeface="Malgun Gothic" pitchFamily="34" charset="-122"/>
                <a:cs typeface="Malgun Gothic" pitchFamily="34" charset="-120"/>
              </a:rPr>
              <a:t>주차를 한 블록에 모아 상권의 주차 부족과 이면도로 불법주차를 흡수함</a:t>
            </a:r>
            <a:endParaRPr lang="en-US" sz="1000" dirty="0"/>
          </a:p>
          <a:p>
            <a:pPr eaLnBrk="0" marL="152400" indent="-152400">
              <a:buSzPct val="100000"/>
              <a:buChar char="•"/>
            </a:pPr>
            <a:r>
              <a:rPr lang="en-US" sz="1000" dirty="0">
                <a:solidFill>
                  <a:srgbClr val="000000"/>
                </a:solidFill>
                <a:latin typeface="Malgun Gothic" pitchFamily="34" charset="0"/>
                <a:ea typeface="Malgun Gothic" pitchFamily="34" charset="-122"/>
                <a:cs typeface="Malgun Gothic" pitchFamily="34" charset="-120"/>
              </a:rPr>
              <a:t>비는 시간과 위아래 층에 공연 · 체육 · 광장을 담음</a:t>
            </a:r>
            <a:endParaRPr lang="en-US" sz="1000" dirty="0"/>
          </a:p>
          <a:p>
            <a:pPr eaLnBrk="0" marL="152400" indent="-152400">
              <a:buSzPct val="100000"/>
              <a:buChar char="•"/>
            </a:pPr>
            <a:r>
              <a:rPr lang="en-US" sz="1000" dirty="0">
                <a:solidFill>
                  <a:srgbClr val="000000"/>
                </a:solidFill>
                <a:latin typeface="Malgun Gothic" pitchFamily="34" charset="0"/>
                <a:ea typeface="Malgun Gothic" pitchFamily="34" charset="-122"/>
                <a:cs typeface="Malgun Gothic" pitchFamily="34" charset="-120"/>
              </a:rPr>
              <a:t>상인회와 주민이 쓰는 공용 공간을 둠</a:t>
            </a:r>
            <a:endParaRPr lang="en-US" sz="1000" dirty="0"/>
          </a:p>
        </p:txBody>
      </p:sp>
      <p:sp>
        <p:nvSpPr>
          <p:cNvPr id="32" name="Shape 29"/>
          <p:cNvSpPr/>
          <p:nvPr/>
        </p:nvSpPr>
        <p:spPr>
          <a:xfrm>
            <a:off x="6583680" y="2286000"/>
            <a:ext cx="1737360" cy="256032"/>
          </a:xfrm>
          <a:prstGeom prst="rect">
            <a:avLst/>
          </a:prstGeom>
          <a:solidFill>
            <a:srgbClr val="002060"/>
          </a:solidFill>
          <a:ln/>
        </p:spPr>
      </p:sp>
      <p:sp>
        <p:nvSpPr>
          <p:cNvPr id="33" name="Text 30"/>
          <p:cNvSpPr txBox="1"/>
          <p:nvPr/>
        </p:nvSpPr>
        <p:spPr>
          <a:xfrm>
            <a:off x="6583680" y="2286000"/>
            <a:ext cx="1737360" cy="256032"/>
          </a:xfrm>
          <a:prstGeom prst="rect">
            <a:avLst/>
          </a:prstGeom>
          <a:noFill/>
          <a:ln/>
        </p:spPr>
        <p:txBody>
          <a:bodyPr wrap="square" lIns="0" tIns="0" rIns="0" bIns="0" rtlCol="0" anchor="ct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요구 및 의도 Check</a:t>
            </a:r>
            <a:endParaRPr lang="en-US" sz="900" dirty="0"/>
          </a:p>
        </p:txBody>
      </p:sp>
      <p:sp>
        <p:nvSpPr>
          <p:cNvPr id="34" name="Shape 31"/>
          <p:cNvSpPr/>
          <p:nvPr/>
        </p:nvSpPr>
        <p:spPr>
          <a:xfrm>
            <a:off x="6583680" y="2542032"/>
            <a:ext cx="5148072" cy="749808"/>
          </a:xfrm>
          <a:prstGeom prst="rect">
            <a:avLst/>
          </a:prstGeom>
          <a:solidFill>
            <a:srgbClr val="323232"/>
          </a:solidFill>
          <a:ln/>
        </p:spPr>
      </p:sp>
      <p:sp>
        <p:nvSpPr>
          <p:cNvPr id="35" name="Text 32"/>
          <p:cNvSpPr txBox="1"/>
          <p:nvPr/>
        </p:nvSpPr>
        <p:spPr>
          <a:xfrm>
            <a:off x="6720840" y="2560320"/>
            <a:ext cx="4873752" cy="713232"/>
          </a:xfrm>
          <a:prstGeom prst="rect">
            <a:avLst/>
          </a:prstGeom>
          <a:noFill/>
          <a:ln/>
        </p:spPr>
        <p:txBody>
          <a:bodyPr wrap="square" lIns="0" tIns="0" rIns="0" bIns="0" rtlCol="0" anchor="ctr"/>
          <a:lstStyle/>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필요 시설을 한 블록에 모두 배치한 것 확인</a:t>
            </a:r>
            <a:endParaRPr lang="en-US" sz="950" dirty="0"/>
          </a:p>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주차 비율 75.62%(요건 70% 이상)로 주차전용건축물 요건 충족</a:t>
            </a:r>
            <a:endParaRPr lang="en-US" sz="950" dirty="0"/>
          </a:p>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차량 동선(소로)과 보행 동선(1층 외곽) 분리 확인</a:t>
            </a:r>
            <a:endParaRPr lang="en-US" sz="950" dirty="0"/>
          </a:p>
        </p:txBody>
      </p:sp>
      <p:sp>
        <p:nvSpPr>
          <p:cNvPr id="36" name="Shape 33"/>
          <p:cNvSpPr/>
          <p:nvPr/>
        </p:nvSpPr>
        <p:spPr>
          <a:xfrm>
            <a:off x="6583680" y="3483864"/>
            <a:ext cx="50292" cy="237744"/>
          </a:xfrm>
          <a:prstGeom prst="rect">
            <a:avLst/>
          </a:prstGeom>
          <a:solidFill>
            <a:srgbClr val="002060"/>
          </a:solidFill>
          <a:ln/>
        </p:spPr>
      </p:sp>
      <p:sp>
        <p:nvSpPr>
          <p:cNvPr id="37" name="Text 34"/>
          <p:cNvSpPr txBox="1"/>
          <p:nvPr/>
        </p:nvSpPr>
        <p:spPr>
          <a:xfrm>
            <a:off x="6711696" y="3456432"/>
            <a:ext cx="27432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최종안 요약</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0" y="3776472"/>
          <a:ext cx="5148072" cy="914400"/>
        </p:xfrm>
        <a:graphic>
          <a:graphicData uri="http://schemas.openxmlformats.org/drawingml/2006/table">
            <a:tbl>
              <a:tblPr/>
              <a:tblGrid>
                <a:gridCol w="914400"/>
                <a:gridCol w="4233672"/>
              </a:tblGrid>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1층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서측 서점 · 카페 · 공연 로비 / 소로 차량 전용 차로 / 동측 근생 · 램프 · 정산 · 이륜차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2~4층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스킵플로어 주차 (서측 판 7.0 · 10.3 · 13.6m, 동측 판 +1.65m)</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5층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상인회 · 회의 · 공유오피스 1,200㎡ + 전환 가능 주차층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6층 · 옥상</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생활체육 · 공연 가변홀(층고 8m) + 옥상 광장 약 1,380㎡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지하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B1 · B2 공연장 200석(선큰 마당으로 진입), B3 · B4 주차 · 설비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코어 · 외피</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끝 코어 2곳 + 보조 피난계단 2곳, 주차층 목재 슬랫 스크린 · 검은 순환 계단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 Ⅰ</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주간과 밤, 목재 슬랫 외피</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투시도: 개념 볼륨 모델, Blender Cycles 렌더 · 하늘 HDRI · 텍스처 · 나무: Poly Haven(CC0) · 주변 건물: OpenStreetMap 높이 자료와 단순 가상 매스 ·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15</a:t>
            </a:r>
            <a:endParaRPr lang="en-US" sz="800" dirty="0"/>
          </a:p>
        </p:txBody>
      </p:sp>
      <p:pic>
        <p:nvPicPr>
          <p:cNvPr id="15" name="Image 0" descr="C:\Users\jsy07\AppData\Local\Temp\work\img2\r_big_hero.jpg">    </p:cNvPr>
          <p:cNvPicPr>
            <a:picLocks noChangeAspect="1"/>
          </p:cNvPicPr>
          <p:nvPr/>
        </p:nvPicPr>
        <p:blipFill>
          <a:blip r:embed="rId1"/>
          <a:stretch>
            <a:fillRect/>
          </a:stretch>
        </p:blipFill>
        <p:spPr>
          <a:xfrm>
            <a:off x="457200" y="914400"/>
            <a:ext cx="6995160" cy="4480560"/>
          </a:xfrm>
          <a:prstGeom prst="rect">
            <a:avLst/>
          </a:prstGeom>
        </p:spPr>
      </p:pic>
      <p:sp>
        <p:nvSpPr>
          <p:cNvPr id="16" name="Text 12"/>
          <p:cNvSpPr txBox="1"/>
          <p:nvPr/>
        </p:nvSpPr>
        <p:spPr>
          <a:xfrm>
            <a:off x="548640" y="5029200"/>
            <a:ext cx="29946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주간 외관 · 전포대로(서측)에서 본 모습</a:t>
            </a:r>
            <a:endParaRPr lang="en-US" sz="950" dirty="0"/>
          </a:p>
        </p:txBody>
      </p:sp>
      <p:pic>
        <p:nvPicPr>
          <p:cNvPr id="17" name="Image 1" descr="C:\Users\jsy07\AppData\Local\Temp\work\img2\r_small_night.jpg">    </p:cNvPr>
          <p:cNvPicPr>
            <a:picLocks noChangeAspect="1"/>
          </p:cNvPicPr>
          <p:nvPr/>
        </p:nvPicPr>
        <p:blipFill>
          <a:blip r:embed="rId2"/>
          <a:stretch>
            <a:fillRect/>
          </a:stretch>
        </p:blipFill>
        <p:spPr>
          <a:xfrm>
            <a:off x="7571232" y="914400"/>
            <a:ext cx="4160520" cy="2194560"/>
          </a:xfrm>
          <a:prstGeom prst="rect">
            <a:avLst/>
          </a:prstGeom>
        </p:spPr>
      </p:pic>
      <p:sp>
        <p:nvSpPr>
          <p:cNvPr id="18" name="Text 13"/>
          <p:cNvSpPr txBox="1"/>
          <p:nvPr/>
        </p:nvSpPr>
        <p:spPr>
          <a:xfrm>
            <a:off x="7662672" y="2761488"/>
            <a:ext cx="32232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밤 · 주차층은 낮게, 1층과 6F 홀이 켜짐</a:t>
            </a:r>
            <a:endParaRPr lang="en-US" sz="950" dirty="0"/>
          </a:p>
        </p:txBody>
      </p:sp>
      <p:pic>
        <p:nvPicPr>
          <p:cNvPr id="19" name="Image 2" descr="C:\Users\jsy07\AppData\Local\Temp\work\img2\r_small_street.jpg">    </p:cNvPr>
          <p:cNvPicPr>
            <a:picLocks noChangeAspect="1"/>
          </p:cNvPicPr>
          <p:nvPr/>
        </p:nvPicPr>
        <p:blipFill>
          <a:blip r:embed="rId3"/>
          <a:stretch>
            <a:fillRect/>
          </a:stretch>
        </p:blipFill>
        <p:spPr>
          <a:xfrm>
            <a:off x="7571232" y="3200400"/>
            <a:ext cx="4160520" cy="2194560"/>
          </a:xfrm>
          <a:prstGeom prst="rect">
            <a:avLst/>
          </a:prstGeom>
        </p:spPr>
      </p:pic>
      <p:sp>
        <p:nvSpPr>
          <p:cNvPr id="20" name="Text 14"/>
          <p:cNvSpPr txBox="1"/>
          <p:nvPr/>
        </p:nvSpPr>
        <p:spPr>
          <a:xfrm>
            <a:off x="7662672" y="5047488"/>
            <a:ext cx="37947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서전로 × 전포대로 모퉁이 · 1층이 가로를 향해 열림</a:t>
            </a:r>
            <a:endParaRPr lang="en-US" sz="950" dirty="0"/>
          </a:p>
        </p:txBody>
      </p:sp>
      <p:sp>
        <p:nvSpPr>
          <p:cNvPr id="21" name="Text 15"/>
          <p:cNvSpPr txBox="1"/>
          <p:nvPr/>
        </p:nvSpPr>
        <p:spPr>
          <a:xfrm>
            <a:off x="457200" y="5669280"/>
            <a:ext cx="1127455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停은 목재 슬랫 스크린으로 차분하게, 動은 검은 순환 계단과 켜진 홀로 드러냄</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13</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 Ⅱ</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옥상 광장 · 끝 코어 · 소로</a:t>
            </a:r>
            <a:endParaRPr lang="en-US" sz="1150" dirty="0"/>
          </a:p>
        </p:txBody>
      </p:sp>
      <p:sp>
        <p:nvSpPr>
          <p:cNvPr id="6" name="Shape 4"/>
          <p:cNvSpPr/>
          <p:nvPr/>
        </p:nvSpPr>
        <p:spPr>
          <a:xfrm>
            <a:off x="5650992" y="475488"/>
            <a:ext cx="26517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투시도: 개념 볼륨 모델, Blender Cycles 렌더 · 하늘 HDRI · 텍스처 · 나무: Poly Haven(CC0) · 주변 건물: OpenStreetMap 높이 자료와 단순 가상 매스 ·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16</a:t>
            </a:r>
            <a:endParaRPr lang="en-US" sz="800" dirty="0"/>
          </a:p>
        </p:txBody>
      </p:sp>
      <p:pic>
        <p:nvPicPr>
          <p:cNvPr id="15" name="Image 0" descr="C:\Users\jsy07\AppData\Local\Temp\work\img2\r_big_roof.jpg">    </p:cNvPr>
          <p:cNvPicPr>
            <a:picLocks noChangeAspect="1"/>
          </p:cNvPicPr>
          <p:nvPr/>
        </p:nvPicPr>
        <p:blipFill>
          <a:blip r:embed="rId1"/>
          <a:stretch>
            <a:fillRect/>
          </a:stretch>
        </p:blipFill>
        <p:spPr>
          <a:xfrm>
            <a:off x="457200" y="914400"/>
            <a:ext cx="6995160" cy="4480560"/>
          </a:xfrm>
          <a:prstGeom prst="rect">
            <a:avLst/>
          </a:prstGeom>
        </p:spPr>
      </p:pic>
      <p:sp>
        <p:nvSpPr>
          <p:cNvPr id="16" name="Text 12"/>
          <p:cNvSpPr txBox="1"/>
          <p:nvPr/>
        </p:nvSpPr>
        <p:spPr>
          <a:xfrm>
            <a:off x="548640" y="5029200"/>
            <a:ext cx="40233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옥상 광장 · 5F 지붕 +21.1m, 맞은편 6F 가변홀</a:t>
            </a:r>
            <a:endParaRPr lang="en-US" sz="950" dirty="0"/>
          </a:p>
        </p:txBody>
      </p:sp>
      <p:pic>
        <p:nvPicPr>
          <p:cNvPr id="17" name="Image 1" descr="C:\Users\jsy07\AppData\Local\Temp\work\img2\r_small_sunken.jpg">    </p:cNvPr>
          <p:cNvPicPr>
            <a:picLocks noChangeAspect="1"/>
          </p:cNvPicPr>
          <p:nvPr/>
        </p:nvPicPr>
        <p:blipFill>
          <a:blip r:embed="rId2"/>
          <a:stretch>
            <a:fillRect/>
          </a:stretch>
        </p:blipFill>
        <p:spPr>
          <a:xfrm>
            <a:off x="7571232" y="914400"/>
            <a:ext cx="4160520" cy="2194560"/>
          </a:xfrm>
          <a:prstGeom prst="rect">
            <a:avLst/>
          </a:prstGeom>
        </p:spPr>
      </p:pic>
      <p:sp>
        <p:nvSpPr>
          <p:cNvPr id="18" name="Text 13"/>
          <p:cNvSpPr txBox="1"/>
          <p:nvPr/>
        </p:nvSpPr>
        <p:spPr>
          <a:xfrm>
            <a:off x="7662672" y="2761488"/>
            <a:ext cx="32232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끝 코어 · 검은 순환 계단이 지상에서 이어짐</a:t>
            </a:r>
            <a:endParaRPr lang="en-US" sz="950" dirty="0"/>
          </a:p>
        </p:txBody>
      </p:sp>
      <p:pic>
        <p:nvPicPr>
          <p:cNvPr id="19" name="Image 2" descr="C:\Users\jsy07\AppData\Local\Temp\work\img2\r_small_lane.jpg">    </p:cNvPr>
          <p:cNvPicPr>
            <a:picLocks noChangeAspect="1"/>
          </p:cNvPicPr>
          <p:nvPr/>
        </p:nvPicPr>
        <p:blipFill>
          <a:blip r:embed="rId3"/>
          <a:stretch>
            <a:fillRect/>
          </a:stretch>
        </p:blipFill>
        <p:spPr>
          <a:xfrm>
            <a:off x="7571232" y="3200400"/>
            <a:ext cx="4160520" cy="2194560"/>
          </a:xfrm>
          <a:prstGeom prst="rect">
            <a:avLst/>
          </a:prstGeom>
        </p:spPr>
      </p:pic>
      <p:sp>
        <p:nvSpPr>
          <p:cNvPr id="20" name="Text 14"/>
          <p:cNvSpPr txBox="1"/>
          <p:nvPr/>
        </p:nvSpPr>
        <p:spPr>
          <a:xfrm>
            <a:off x="7662672" y="5047488"/>
            <a:ext cx="37947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소로 안 · 남→북 일방 차로, 위는 2층 바닥이 덮음</a:t>
            </a:r>
            <a:endParaRPr lang="en-US" sz="950" dirty="0"/>
          </a:p>
        </p:txBody>
      </p:sp>
      <p:sp>
        <p:nvSpPr>
          <p:cNvPr id="21" name="Text 15"/>
          <p:cNvSpPr txBox="1"/>
          <p:nvPr/>
        </p:nvSpPr>
        <p:spPr>
          <a:xfrm>
            <a:off x="457200" y="5669280"/>
            <a:ext cx="1127455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옥상 광장과 소로를 한 건물 안에서 보행과 차량으로 나눔</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14</a:t>
            </a:r>
            <a:endParaRPr lang="en-US" sz="3000" dirty="0"/>
          </a:p>
        </p:txBody>
      </p:sp>
      <p:sp>
        <p:nvSpPr>
          <p:cNvPr id="3" name="Text 1"/>
          <p:cNvSpPr txBox="1"/>
          <p:nvPr/>
        </p:nvSpPr>
        <p:spPr>
          <a:xfrm>
            <a:off x="1115568" y="201168"/>
            <a:ext cx="316839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용도 선정 · 층별 계획</a:t>
            </a:r>
            <a:endParaRPr lang="en-US" sz="1700" dirty="0"/>
          </a:p>
        </p:txBody>
      </p:sp>
      <p:sp>
        <p:nvSpPr>
          <p:cNvPr id="4" name="Shape 2"/>
          <p:cNvSpPr/>
          <p:nvPr/>
        </p:nvSpPr>
        <p:spPr>
          <a:xfrm>
            <a:off x="4329684" y="329184"/>
            <a:ext cx="41148" cy="292608"/>
          </a:xfrm>
          <a:prstGeom prst="rect">
            <a:avLst/>
          </a:prstGeom>
          <a:solidFill>
            <a:srgbClr val="002060"/>
          </a:solidFill>
          <a:ln/>
        </p:spPr>
      </p:sp>
      <p:sp>
        <p:nvSpPr>
          <p:cNvPr id="5" name="Text 3"/>
          <p:cNvSpPr txBox="1"/>
          <p:nvPr/>
        </p:nvSpPr>
        <p:spPr>
          <a:xfrm>
            <a:off x="445770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용도 여섯 가지와 층별 쓰임</a:t>
            </a:r>
            <a:endParaRPr lang="en-US" sz="1150" dirty="0"/>
          </a:p>
        </p:txBody>
      </p:sp>
      <p:sp>
        <p:nvSpPr>
          <p:cNvPr id="6" name="Shape 4"/>
          <p:cNvSpPr/>
          <p:nvPr/>
        </p:nvSpPr>
        <p:spPr>
          <a:xfrm>
            <a:off x="7178040" y="475488"/>
            <a:ext cx="11247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부산진구 문화시설 · 공공체육시설현황(data.go.kr), 부산시 공연장목록, 현장 답사(2026.9), 본 시안 · 미등록 민간 공간은 빠졌을 수 있음</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17</a:t>
            </a:r>
            <a:endParaRPr lang="en-US" sz="800" dirty="0"/>
          </a:p>
        </p:txBody>
      </p:sp>
      <p:sp>
        <p:nvSpPr>
          <p:cNvPr id="14" name="Shape 12"/>
          <p:cNvSpPr/>
          <p:nvPr/>
        </p:nvSpPr>
        <p:spPr>
          <a:xfrm>
            <a:off x="457200" y="960120"/>
            <a:ext cx="4206240" cy="448056"/>
          </a:xfrm>
          <a:prstGeom prst="rect">
            <a:avLst/>
          </a:prstGeom>
          <a:solidFill>
            <a:srgbClr val="E2F0D9"/>
          </a:solidFill>
          <a:ln/>
        </p:spPr>
      </p:sp>
      <p:sp>
        <p:nvSpPr>
          <p:cNvPr id="15" name="Text 13"/>
          <p:cNvSpPr txBox="1"/>
          <p:nvPr/>
        </p:nvSpPr>
        <p:spPr>
          <a:xfrm>
            <a:off x="548640" y="960120"/>
            <a:ext cx="4023360" cy="448056"/>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옥상 광장 (5F 지붕 약 1,380㎡)</a:t>
            </a:r>
            <a:endParaRPr lang="en-US" sz="1000" dirty="0"/>
          </a:p>
        </p:txBody>
      </p:sp>
      <p:sp>
        <p:nvSpPr>
          <p:cNvPr id="16" name="Text 14"/>
          <p:cNvSpPr txBox="1"/>
          <p:nvPr/>
        </p:nvSpPr>
        <p:spPr>
          <a:xfrm>
            <a:off x="4800600" y="960120"/>
            <a:ext cx="1051560" cy="448056"/>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RF</a:t>
            </a:r>
            <a:endParaRPr lang="en-US" sz="1500" dirty="0"/>
          </a:p>
        </p:txBody>
      </p:sp>
      <p:sp>
        <p:nvSpPr>
          <p:cNvPr id="17" name="Shape 15"/>
          <p:cNvSpPr/>
          <p:nvPr/>
        </p:nvSpPr>
        <p:spPr>
          <a:xfrm>
            <a:off x="457200" y="1463040"/>
            <a:ext cx="4206240" cy="493776"/>
          </a:xfrm>
          <a:prstGeom prst="rect">
            <a:avLst/>
          </a:prstGeom>
          <a:solidFill>
            <a:srgbClr val="8FAADC"/>
          </a:solidFill>
          <a:ln/>
        </p:spPr>
      </p:sp>
      <p:sp>
        <p:nvSpPr>
          <p:cNvPr id="18" name="Text 16"/>
          <p:cNvSpPr txBox="1"/>
          <p:nvPr/>
        </p:nvSpPr>
        <p:spPr>
          <a:xfrm>
            <a:off x="548640" y="1463040"/>
            <a:ext cx="4023360" cy="493776"/>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생활체육 · 공연 가변홀 · 층고 8.0m · 3,000.0㎡</a:t>
            </a:r>
            <a:endParaRPr lang="en-US" sz="1000" dirty="0"/>
          </a:p>
        </p:txBody>
      </p:sp>
      <p:sp>
        <p:nvSpPr>
          <p:cNvPr id="19" name="Text 17"/>
          <p:cNvSpPr txBox="1"/>
          <p:nvPr/>
        </p:nvSpPr>
        <p:spPr>
          <a:xfrm>
            <a:off x="4800600" y="1463040"/>
            <a:ext cx="1051560" cy="493776"/>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6F</a:t>
            </a:r>
            <a:endParaRPr lang="en-US" sz="1500" dirty="0"/>
          </a:p>
        </p:txBody>
      </p:sp>
      <p:sp>
        <p:nvSpPr>
          <p:cNvPr id="20" name="Shape 18"/>
          <p:cNvSpPr/>
          <p:nvPr/>
        </p:nvSpPr>
        <p:spPr>
          <a:xfrm>
            <a:off x="457200" y="2011680"/>
            <a:ext cx="4206240" cy="493776"/>
          </a:xfrm>
          <a:prstGeom prst="rect">
            <a:avLst/>
          </a:prstGeom>
          <a:solidFill>
            <a:srgbClr val="B4C7E7"/>
          </a:solidFill>
          <a:ln/>
        </p:spPr>
      </p:sp>
      <p:sp>
        <p:nvSpPr>
          <p:cNvPr id="21" name="Text 19"/>
          <p:cNvSpPr txBox="1"/>
          <p:nvPr/>
        </p:nvSpPr>
        <p:spPr>
          <a:xfrm>
            <a:off x="548640" y="2011680"/>
            <a:ext cx="4023360" cy="493776"/>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상인회 · 공유오피스 + 전환 가능 주차 · 4,322.1㎡</a:t>
            </a:r>
            <a:endParaRPr lang="en-US" sz="1000" dirty="0"/>
          </a:p>
        </p:txBody>
      </p:sp>
      <p:sp>
        <p:nvSpPr>
          <p:cNvPr id="22" name="Text 20"/>
          <p:cNvSpPr txBox="1"/>
          <p:nvPr/>
        </p:nvSpPr>
        <p:spPr>
          <a:xfrm>
            <a:off x="4800600" y="2011680"/>
            <a:ext cx="1051560" cy="493776"/>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5F</a:t>
            </a:r>
            <a:endParaRPr lang="en-US" sz="1500" dirty="0"/>
          </a:p>
        </p:txBody>
      </p:sp>
      <p:sp>
        <p:nvSpPr>
          <p:cNvPr id="23" name="Shape 21"/>
          <p:cNvSpPr/>
          <p:nvPr/>
        </p:nvSpPr>
        <p:spPr>
          <a:xfrm>
            <a:off x="457200" y="2560320"/>
            <a:ext cx="4206240" cy="859536"/>
          </a:xfrm>
          <a:prstGeom prst="rect">
            <a:avLst/>
          </a:prstGeom>
          <a:solidFill>
            <a:srgbClr val="C9C9C9"/>
          </a:solidFill>
          <a:ln/>
        </p:spPr>
      </p:sp>
      <p:sp>
        <p:nvSpPr>
          <p:cNvPr id="24" name="Text 22"/>
          <p:cNvSpPr txBox="1"/>
          <p:nvPr/>
        </p:nvSpPr>
        <p:spPr>
          <a:xfrm>
            <a:off x="548640" y="2560320"/>
            <a:ext cx="4023360" cy="859536"/>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스킵플로어 주차 · 층고 3.3m · 층당 4,322.1㎡</a:t>
            </a:r>
            <a:endParaRPr lang="en-US" sz="1000" dirty="0"/>
          </a:p>
        </p:txBody>
      </p:sp>
      <p:sp>
        <p:nvSpPr>
          <p:cNvPr id="25" name="Text 23"/>
          <p:cNvSpPr txBox="1"/>
          <p:nvPr/>
        </p:nvSpPr>
        <p:spPr>
          <a:xfrm>
            <a:off x="4800600" y="2560320"/>
            <a:ext cx="1051560" cy="859536"/>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2~4F</a:t>
            </a:r>
            <a:endParaRPr lang="en-US" sz="1500" dirty="0"/>
          </a:p>
        </p:txBody>
      </p:sp>
      <p:sp>
        <p:nvSpPr>
          <p:cNvPr id="26" name="Shape 24"/>
          <p:cNvSpPr/>
          <p:nvPr/>
        </p:nvSpPr>
        <p:spPr>
          <a:xfrm>
            <a:off x="457200" y="3474720"/>
            <a:ext cx="4206240" cy="512064"/>
          </a:xfrm>
          <a:prstGeom prst="rect">
            <a:avLst/>
          </a:prstGeom>
          <a:solidFill>
            <a:srgbClr val="DAE3F3"/>
          </a:solidFill>
          <a:ln/>
        </p:spPr>
      </p:sp>
      <p:sp>
        <p:nvSpPr>
          <p:cNvPr id="27" name="Text 25"/>
          <p:cNvSpPr txBox="1"/>
          <p:nvPr/>
        </p:nvSpPr>
        <p:spPr>
          <a:xfrm>
            <a:off x="548640" y="3474720"/>
            <a:ext cx="4023360" cy="512064"/>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서점 · 카페 · 공연 로비 · 층고 7.0m · 3,635.3㎡</a:t>
            </a:r>
            <a:endParaRPr lang="en-US" sz="1000" dirty="0"/>
          </a:p>
        </p:txBody>
      </p:sp>
      <p:sp>
        <p:nvSpPr>
          <p:cNvPr id="28" name="Text 26"/>
          <p:cNvSpPr txBox="1"/>
          <p:nvPr/>
        </p:nvSpPr>
        <p:spPr>
          <a:xfrm>
            <a:off x="4800600" y="3474720"/>
            <a:ext cx="1051560" cy="512064"/>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1F</a:t>
            </a:r>
            <a:endParaRPr lang="en-US" sz="1500" dirty="0"/>
          </a:p>
        </p:txBody>
      </p:sp>
      <p:sp>
        <p:nvSpPr>
          <p:cNvPr id="29" name="Shape 27"/>
          <p:cNvSpPr/>
          <p:nvPr/>
        </p:nvSpPr>
        <p:spPr>
          <a:xfrm>
            <a:off x="457200" y="4041648"/>
            <a:ext cx="5394960" cy="0"/>
          </a:xfrm>
          <a:prstGeom prst="line">
            <a:avLst/>
          </a:prstGeom>
          <a:noFill/>
          <a:ln w="19050">
            <a:solidFill>
              <a:srgbClr val="000000"/>
            </a:solidFill>
            <a:prstDash val="dash"/>
          </a:ln>
        </p:spPr>
      </p:sp>
      <p:sp>
        <p:nvSpPr>
          <p:cNvPr id="30" name="Shape 28"/>
          <p:cNvSpPr/>
          <p:nvPr/>
        </p:nvSpPr>
        <p:spPr>
          <a:xfrm>
            <a:off x="457200" y="4133088"/>
            <a:ext cx="4206240" cy="585216"/>
          </a:xfrm>
          <a:prstGeom prst="rect">
            <a:avLst/>
          </a:prstGeom>
          <a:solidFill>
            <a:srgbClr val="B4C7E7"/>
          </a:solidFill>
          <a:ln/>
        </p:spPr>
      </p:sp>
      <p:sp>
        <p:nvSpPr>
          <p:cNvPr id="31" name="Text 29"/>
          <p:cNvSpPr txBox="1"/>
          <p:nvPr/>
        </p:nvSpPr>
        <p:spPr>
          <a:xfrm>
            <a:off x="548640" y="4133088"/>
            <a:ext cx="4023360" cy="585216"/>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공연장 200석 + 주차 · 층고 4.5m</a:t>
            </a:r>
            <a:endParaRPr lang="en-US" sz="1000" dirty="0"/>
          </a:p>
        </p:txBody>
      </p:sp>
      <p:sp>
        <p:nvSpPr>
          <p:cNvPr id="32" name="Text 30"/>
          <p:cNvSpPr txBox="1"/>
          <p:nvPr/>
        </p:nvSpPr>
        <p:spPr>
          <a:xfrm>
            <a:off x="4800600" y="4133088"/>
            <a:ext cx="1051560" cy="585216"/>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B1~B2</a:t>
            </a:r>
            <a:endParaRPr lang="en-US" sz="1500" dirty="0"/>
          </a:p>
        </p:txBody>
      </p:sp>
      <p:sp>
        <p:nvSpPr>
          <p:cNvPr id="33" name="Shape 31"/>
          <p:cNvSpPr/>
          <p:nvPr/>
        </p:nvSpPr>
        <p:spPr>
          <a:xfrm>
            <a:off x="457200" y="4773168"/>
            <a:ext cx="4206240" cy="585216"/>
          </a:xfrm>
          <a:prstGeom prst="rect">
            <a:avLst/>
          </a:prstGeom>
          <a:solidFill>
            <a:srgbClr val="C9C9C9"/>
          </a:solidFill>
          <a:ln/>
        </p:spPr>
      </p:sp>
      <p:sp>
        <p:nvSpPr>
          <p:cNvPr id="34" name="Text 32"/>
          <p:cNvSpPr txBox="1"/>
          <p:nvPr/>
        </p:nvSpPr>
        <p:spPr>
          <a:xfrm>
            <a:off x="548640" y="4773168"/>
            <a:ext cx="4023360" cy="585216"/>
          </a:xfrm>
          <a:prstGeom prst="rect">
            <a:avLst/>
          </a:prstGeom>
          <a:noFill/>
          <a:ln/>
        </p:spPr>
        <p:txBody>
          <a:bodyPr wrap="square" lIns="0" tIns="0" rIns="0" bIns="0" rtlCol="0" anchor="ct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주차 + 전기 · 펌프 · 저수조 · 층고 3.3m</a:t>
            </a:r>
            <a:endParaRPr lang="en-US" sz="1000" dirty="0"/>
          </a:p>
        </p:txBody>
      </p:sp>
      <p:sp>
        <p:nvSpPr>
          <p:cNvPr id="35" name="Text 33"/>
          <p:cNvSpPr txBox="1"/>
          <p:nvPr/>
        </p:nvSpPr>
        <p:spPr>
          <a:xfrm>
            <a:off x="4800600" y="4773168"/>
            <a:ext cx="1051560" cy="585216"/>
          </a:xfrm>
          <a:prstGeom prst="rect">
            <a:avLst/>
          </a:prstGeom>
          <a:noFill/>
          <a:ln/>
        </p:spPr>
        <p:txBody>
          <a:bodyPr wrap="square" lIns="0" tIns="0" rIns="0" bIns="0" rtlCol="0" anchor="ctr"/>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B3~B4</a:t>
            </a:r>
            <a:endParaRPr lang="en-US" sz="1500" dirty="0"/>
          </a:p>
        </p:txBody>
      </p:sp>
      <p:sp>
        <p:nvSpPr>
          <p:cNvPr id="36" name="Text 34"/>
          <p:cNvSpPr txBox="1"/>
          <p:nvPr/>
        </p:nvSpPr>
        <p:spPr>
          <a:xfrm>
            <a:off x="457200" y="5504688"/>
            <a:ext cx="5394960" cy="274320"/>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지상 약 29.1m · 지하 약 15.6m</a:t>
            </a:r>
            <a:endParaRPr lang="en-US" sz="1000" dirty="0"/>
          </a:p>
        </p:txBody>
      </p:sp>
      <p:sp>
        <p:nvSpPr>
          <p:cNvPr id="37" name="Text 35"/>
          <p:cNvSpPr txBox="1"/>
          <p:nvPr/>
        </p:nvSpPr>
        <p:spPr>
          <a:xfrm>
            <a:off x="457200" y="5760720"/>
            <a:ext cx="5394960" cy="274320"/>
          </a:xfrm>
          <a:prstGeom prst="rect">
            <a:avLst/>
          </a:prstGeom>
          <a:noFill/>
          <a:ln/>
        </p:spPr>
        <p:txBody>
          <a:bodyPr wrap="square" lIns="0" tIns="0" rIns="0" bIns="0" rtlCol="0" anchor="t"/>
          <a:lstStyle/>
          <a:p>
            <a:pPr eaLnBrk="0" indent="0" marL="0">
              <a:buNone/>
            </a:pPr>
            <a:r>
              <a:rPr lang="en-US" sz="1000" b="1" dirty="0">
                <a:solidFill>
                  <a:srgbClr val="000000"/>
                </a:solidFill>
                <a:latin typeface="Malgun Gothic" pitchFamily="34" charset="0"/>
                <a:ea typeface="Malgun Gothic" pitchFamily="34" charset="-122"/>
                <a:cs typeface="Malgun Gothic" pitchFamily="34" charset="-120"/>
              </a:rPr>
              <a:t>지상 23,923.7㎡ + 지하 19,700.0㎡ = 연면적 43,623.7㎡</a:t>
            </a:r>
            <a:endParaRPr lang="en-US" sz="1000" dirty="0"/>
          </a:p>
        </p:txBody>
      </p:sp>
      <p:sp>
        <p:nvSpPr>
          <p:cNvPr id="38" name="Shape 36"/>
          <p:cNvSpPr/>
          <p:nvPr/>
        </p:nvSpPr>
        <p:spPr>
          <a:xfrm>
            <a:off x="6126480" y="941832"/>
            <a:ext cx="50292" cy="237744"/>
          </a:xfrm>
          <a:prstGeom prst="rect">
            <a:avLst/>
          </a:prstGeom>
          <a:solidFill>
            <a:srgbClr val="002060"/>
          </a:solidFill>
          <a:ln/>
        </p:spPr>
      </p:sp>
      <p:sp>
        <p:nvSpPr>
          <p:cNvPr id="39" name="Text 37"/>
          <p:cNvSpPr txBox="1"/>
          <p:nvPr/>
        </p:nvSpPr>
        <p:spPr>
          <a:xfrm>
            <a:off x="625449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용도별 위치와 선정 근거</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0" y="1234440"/>
          <a:ext cx="5605272" cy="914400"/>
        </p:xfrm>
        <a:graphic>
          <a:graphicData uri="http://schemas.openxmlformats.org/drawingml/2006/table">
            <a:tbl>
              <a:tblPr/>
              <a:tblGrid>
                <a:gridCol w="1325880"/>
                <a:gridCol w="868680"/>
                <a:gridCol w="777240"/>
                <a:gridCol w="2633472"/>
              </a:tblGrid>
              <a:tr h="0">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용도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위치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950" b="1" dirty="0">
                          <a:solidFill>
                            <a:srgbClr val="FFFFFF"/>
                          </a:solidFill>
                          <a:latin typeface="Malgun Gothic" pitchFamily="34" charset="0"/>
                          <a:ea typeface="Malgun Gothic" pitchFamily="34" charset="-122"/>
                          <a:cs typeface="Malgun Gothic" pitchFamily="34" charset="-120"/>
                        </a:rPr>
                        <a:t>면적㎡</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선정 근거</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주차장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B4~5F, 1F 램프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32,988.4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부산진구 확보율 118.5%(기준 130%), 반경 500m 공영 27면</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공연장 200석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B1~B2</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1,900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1km 안 객석형 소극장 없음, 지하는 전포대로 소음에 강함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생활체육 · 공연 가변홀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6F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2,850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1km 안 공연 겸용 가변 홀 없음, 행사에 따라 객석 · 코트를 바꿈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서점 · 카페 · 근생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1F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1,400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카페거리 방문객을 건물로 유도, 근생은 10곳 안팎 소점포</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상인회 · 공유오피스</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5F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1,200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답사 범위에서 상인회 사무실을 확인하지 못함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옥상 광장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5F 지붕</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약 1,380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쉼터 · 공용 공간 부족, 밤에는 공연과 이어 개방</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41" name="Shape 38"/>
          <p:cNvSpPr/>
          <p:nvPr/>
        </p:nvSpPr>
        <p:spPr>
          <a:xfrm>
            <a:off x="6126480" y="4233672"/>
            <a:ext cx="50292" cy="237744"/>
          </a:xfrm>
          <a:prstGeom prst="rect">
            <a:avLst/>
          </a:prstGeom>
          <a:solidFill>
            <a:srgbClr val="002060"/>
          </a:solidFill>
          <a:ln/>
        </p:spPr>
      </p:sp>
      <p:sp>
        <p:nvSpPr>
          <p:cNvPr id="42" name="Text 39"/>
          <p:cNvSpPr txBox="1"/>
          <p:nvPr/>
        </p:nvSpPr>
        <p:spPr>
          <a:xfrm>
            <a:off x="6254496" y="420624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반경 내 현황조사 (대지 중심 직선거리)</a:t>
            </a:r>
            <a:endParaRPr lang="en-US" sz="13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126480" y="4526280"/>
          <a:ext cx="5605272" cy="914400"/>
        </p:xfrm>
        <a:graphic>
          <a:graphicData uri="http://schemas.openxmlformats.org/drawingml/2006/table">
            <a:tbl>
              <a:tblPr/>
              <a:tblGrid>
                <a:gridCol w="1417320"/>
                <a:gridCol w="1554480"/>
                <a:gridCol w="2633472"/>
              </a:tblGrid>
              <a:tr h="0">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500m 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1km 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객석형 소극장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 (지하 라이브클럽 1곳)</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 (스탠딩 라이브홀 · 연회장 · 1,727석 대극장)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공공 체육관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국민체육센터 0.73km (다목적체육관 1,394㎡)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공연 겸용 가변 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15</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단면도</a:t>
            </a:r>
            <a:endParaRPr lang="en-US" sz="1700" dirty="0"/>
          </a:p>
        </p:txBody>
      </p:sp>
      <p:sp>
        <p:nvSpPr>
          <p:cNvPr id="4" name="Shape 2"/>
          <p:cNvSpPr/>
          <p:nvPr/>
        </p:nvSpPr>
        <p:spPr>
          <a:xfrm>
            <a:off x="1997964" y="329184"/>
            <a:ext cx="41148" cy="292608"/>
          </a:xfrm>
          <a:prstGeom prst="rect">
            <a:avLst/>
          </a:prstGeom>
          <a:solidFill>
            <a:srgbClr val="002060"/>
          </a:solidFill>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소로를 따라 펼친 종단면과 횡단면</a:t>
            </a:r>
            <a:endParaRPr lang="en-US" sz="1150" dirty="0"/>
          </a:p>
        </p:txBody>
      </p:sp>
      <p:sp>
        <p:nvSpPr>
          <p:cNvPr id="6" name="Shape 4"/>
          <p:cNvSpPr/>
          <p:nvPr/>
        </p:nvSpPr>
        <p:spPr>
          <a:xfrm>
            <a:off x="5353812" y="475488"/>
            <a:ext cx="294894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개념 단면 · 구조 · 설비 두께는 표현하지 않음, 층고 · 면적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18</a:t>
            </a:r>
            <a:endParaRPr lang="en-US" sz="800" dirty="0"/>
          </a:p>
        </p:txBody>
      </p:sp>
      <p:pic>
        <p:nvPicPr>
          <p:cNvPr id="14" name="Image 0" descr="C:\Users\jsy07\AppData\Local\Temp\work\img\secA.jpg">    </p:cNvPr>
          <p:cNvPicPr>
            <a:picLocks noChangeAspect="1"/>
          </p:cNvPicPr>
          <p:nvPr/>
        </p:nvPicPr>
        <p:blipFill>
          <a:blip r:embed="rId1"/>
          <a:stretch>
            <a:fillRect/>
          </a:stretch>
        </p:blipFill>
        <p:spPr>
          <a:xfrm>
            <a:off x="457200" y="914400"/>
            <a:ext cx="7726680" cy="3521739"/>
          </a:xfrm>
          <a:prstGeom prst="rect">
            <a:avLst/>
          </a:prstGeom>
        </p:spPr>
      </p:pic>
      <p:pic>
        <p:nvPicPr>
          <p:cNvPr id="15" name="Image 1" descr="C:\Users\jsy07\AppData\Local\Temp\work\img\secB.jpg">    </p:cNvPr>
          <p:cNvPicPr>
            <a:picLocks noChangeAspect="1"/>
          </p:cNvPicPr>
          <p:nvPr/>
        </p:nvPicPr>
        <p:blipFill>
          <a:blip r:embed="rId2"/>
          <a:stretch>
            <a:fillRect/>
          </a:stretch>
        </p:blipFill>
        <p:spPr>
          <a:xfrm>
            <a:off x="8412480" y="914400"/>
            <a:ext cx="2240280" cy="2558710"/>
          </a:xfrm>
          <a:prstGeom prst="rect">
            <a:avLst/>
          </a:prstGeom>
        </p:spPr>
      </p:pic>
      <p:pic>
        <p:nvPicPr>
          <p:cNvPr id="16" name="Image 2" descr="C:\Users\jsy07\AppData\Local\Temp\work\img\keyplan.jpg">    </p:cNvPr>
          <p:cNvPicPr>
            <a:picLocks noChangeAspect="1"/>
          </p:cNvPicPr>
          <p:nvPr/>
        </p:nvPicPr>
        <p:blipFill>
          <a:blip r:embed="rId3"/>
          <a:stretch>
            <a:fillRect/>
          </a:stretch>
        </p:blipFill>
        <p:spPr>
          <a:xfrm>
            <a:off x="10835640" y="914400"/>
            <a:ext cx="896112" cy="1557528"/>
          </a:xfrm>
          <a:prstGeom prst="rect">
            <a:avLst/>
          </a:prstGeom>
        </p:spPr>
      </p:pic>
      <p:sp>
        <p:nvSpPr>
          <p:cNvPr id="17" name="Text 12"/>
          <p:cNvSpPr txBox="1"/>
          <p:nvPr/>
        </p:nvSpPr>
        <p:spPr>
          <a:xfrm>
            <a:off x="10698480" y="2468880"/>
            <a:ext cx="1033272"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단면선 위치</a:t>
            </a:r>
            <a:endParaRPr lang="en-US" sz="900" dirty="0"/>
          </a:p>
        </p:txBody>
      </p:sp>
      <p:sp>
        <p:nvSpPr>
          <p:cNvPr id="18" name="Shape 13"/>
          <p:cNvSpPr/>
          <p:nvPr/>
        </p:nvSpPr>
        <p:spPr>
          <a:xfrm>
            <a:off x="457200" y="4801899"/>
            <a:ext cx="5532120" cy="1371600"/>
          </a:xfrm>
          <a:prstGeom prst="rect">
            <a:avLst/>
          </a:prstGeom>
          <a:solidFill>
            <a:srgbClr val="F2F2F2"/>
          </a:solidFill>
          <a:ln/>
        </p:spPr>
      </p:sp>
      <p:sp>
        <p:nvSpPr>
          <p:cNvPr id="19" name="Text 14"/>
          <p:cNvSpPr txBox="1"/>
          <p:nvPr/>
        </p:nvSpPr>
        <p:spPr>
          <a:xfrm>
            <a:off x="585216" y="4893339"/>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A 종단면</a:t>
            </a:r>
            <a:endParaRPr lang="en-US" sz="950" dirty="0"/>
          </a:p>
        </p:txBody>
      </p:sp>
      <p:sp>
        <p:nvSpPr>
          <p:cNvPr id="20" name="Text 15"/>
          <p:cNvSpPr txBox="1"/>
          <p:nvPr/>
        </p:nvSpPr>
        <p:spPr>
          <a:xfrm>
            <a:off x="603504" y="5222523"/>
            <a:ext cx="5257800" cy="603504"/>
          </a:xfrm>
          <a:prstGeom prst="rect">
            <a:avLst/>
          </a:prstGeom>
          <a:noFill/>
          <a:ln/>
        </p:spPr>
        <p:txBody>
          <a:bodyPr wrap="square" lIns="0" tIns="0" rIns="0" bIns="0" rtlCol="0" anchor="t"/>
          <a:lstStyle/>
          <a:p>
            <a:pPr eaLnBrk="0" indent="0" marL="0">
              <a:buNone/>
            </a:pPr>
            <a:r>
              <a:rPr lang="en-US" sz="9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00" b="1" dirty="0">
                <a:solidFill>
                  <a:srgbClr val="000000"/>
                </a:solidFill>
                <a:latin typeface="Malgun Gothic" pitchFamily="34" charset="0"/>
                <a:ea typeface="Malgun Gothic" pitchFamily="34" charset="-122"/>
                <a:cs typeface="Malgun Gothic" pitchFamily="34" charset="-120"/>
              </a:rPr>
              <a:t>남쪽 근생 → 끝 코어② → 램프 · 정산 → 끝 코어①</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두 끝은 지상에서 비어 있고 지하는 특별피난계단</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지하 공연장은 선큰 마당으로 빛이 닿음</a:t>
            </a:r>
            <a:endParaRPr lang="en-US" sz="1100" dirty="0"/>
          </a:p>
        </p:txBody>
      </p:sp>
      <p:sp>
        <p:nvSpPr>
          <p:cNvPr id="21" name="Shape 16"/>
          <p:cNvSpPr/>
          <p:nvPr/>
        </p:nvSpPr>
        <p:spPr>
          <a:xfrm>
            <a:off x="6199632" y="4801899"/>
            <a:ext cx="5532120" cy="1371600"/>
          </a:xfrm>
          <a:prstGeom prst="rect">
            <a:avLst/>
          </a:prstGeom>
          <a:solidFill>
            <a:srgbClr val="F2F2F2"/>
          </a:solidFill>
          <a:ln/>
        </p:spPr>
      </p:sp>
      <p:sp>
        <p:nvSpPr>
          <p:cNvPr id="22" name="Text 17"/>
          <p:cNvSpPr txBox="1"/>
          <p:nvPr/>
        </p:nvSpPr>
        <p:spPr>
          <a:xfrm>
            <a:off x="6327648" y="4893339"/>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B 횡단면</a:t>
            </a:r>
            <a:endParaRPr lang="en-US" sz="950" dirty="0"/>
          </a:p>
        </p:txBody>
      </p:sp>
      <p:sp>
        <p:nvSpPr>
          <p:cNvPr id="23" name="Text 18"/>
          <p:cNvSpPr txBox="1"/>
          <p:nvPr/>
        </p:nvSpPr>
        <p:spPr>
          <a:xfrm>
            <a:off x="6345936" y="5222523"/>
            <a:ext cx="5257800" cy="603504"/>
          </a:xfrm>
          <a:prstGeom prst="rect">
            <a:avLst/>
          </a:prstGeom>
          <a:noFill/>
          <a:ln/>
        </p:spPr>
        <p:txBody>
          <a:bodyPr wrap="square" lIns="0" tIns="0" rIns="0" bIns="0" rtlCol="0" anchor="t"/>
          <a:lstStyle/>
          <a:p>
            <a:pPr eaLnBrk="0" indent="0" marL="0">
              <a:buNone/>
            </a:pPr>
            <a:r>
              <a:rPr lang="en-US" sz="9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00" b="1" dirty="0">
                <a:solidFill>
                  <a:srgbClr val="000000"/>
                </a:solidFill>
                <a:latin typeface="Malgun Gothic" pitchFamily="34" charset="0"/>
                <a:ea typeface="Malgun Gothic" pitchFamily="34" charset="-122"/>
                <a:cs typeface="Malgun Gothic" pitchFamily="34" charset="-120"/>
              </a:rPr>
              <a:t>서측 판 7.0 · 10.3 · 13.6m, 동측 판 +1.65m</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서 · 동 판이 소로 위에서 반 층 엇갈려 램프 길이를 줄임</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지하 공연장은 박스인박스와 방진 바닥으로 차량 진동 차단을 제안</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16</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실별 면적</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지상 · 지하 면적과 구성비</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면적 계산(1평 = 3.3058㎡) · 3m 이격 · 끝 코어 2곳 · 보조 피난계단 2곳 반영, 모든 면적은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19</a:t>
            </a:r>
            <a:endParaRPr lang="en-US" sz="800" dirty="0"/>
          </a:p>
        </p:txBody>
      </p:sp>
      <p:sp>
        <p:nvSpPr>
          <p:cNvPr id="14" name="Shape 12"/>
          <p:cNvSpPr/>
          <p:nvPr/>
        </p:nvSpPr>
        <p:spPr>
          <a:xfrm>
            <a:off x="457200" y="941832"/>
            <a:ext cx="50292" cy="237744"/>
          </a:xfrm>
          <a:prstGeom prst="rect">
            <a:avLst/>
          </a:prstGeom>
          <a:solidFill>
            <a:srgbClr val="002060"/>
          </a:solidFill>
          <a:ln/>
        </p:spPr>
      </p:sp>
      <p:sp>
        <p:nvSpPr>
          <p:cNvPr id="15"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층별 면적 (㎡)</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903720" cy="914400"/>
        </p:xfrm>
        <a:graphic>
          <a:graphicData uri="http://schemas.openxmlformats.org/drawingml/2006/table">
            <a:tbl>
              <a:tblPr/>
              <a:tblGrid>
                <a:gridCol w="731520"/>
                <a:gridCol w="5166360"/>
                <a:gridCol w="1005840"/>
              </a:tblGrid>
              <a:tr h="457200">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층</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주요 실</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050" b="1" dirty="0">
                          <a:solidFill>
                            <a:srgbClr val="FFFFFF"/>
                          </a:solidFill>
                          <a:latin typeface="Malgun Gothic" pitchFamily="34" charset="0"/>
                          <a:ea typeface="Malgun Gothic" pitchFamily="34" charset="-122"/>
                          <a:cs typeface="Malgun Gothic" pitchFamily="34" charset="-120"/>
                        </a:rPr>
                        <a:t>면적㎡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6F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체육 · 공연 가변홀 1,500.0 · 다목적 · 연습실 700.0 · 공연 지원 650.0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3,000.0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5F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상인회 · 회의 · 공유오피스 1,200.0 · 주차(전환 가능) 2,972.1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4,322.1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2~4F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 4,172.1 · 코어 150.0 (층당)</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4,322.1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1F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서점 400.0 · 카페 400.0 · 공연 로비 300.0 · 근생 600.0 · 램프 900.0 · 정산 100.0 · 이륜차 200.0 · 하역 150.0 · 기타 435.3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3,635.3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공연장 로비 500.0 · 객석 상부 300.0 · 주차 3,856.5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4,806.5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공연장 200석 800.0 · 분장 · 창고 300.0 · 주차 3,714.5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전기 · 기계실 300.0 · 주차 4,514.5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펌프 · 저수조 600.0 · 주차 4,214.5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b="1" dirty="0">
                          <a:solidFill>
                            <a:srgbClr val="000000"/>
                          </a:solidFill>
                          <a:latin typeface="Malgun Gothic" pitchFamily="34" charset="0"/>
                          <a:ea typeface="Malgun Gothic" pitchFamily="34" charset="-122"/>
                          <a:cs typeface="Malgun Gothic" pitchFamily="34" charset="-120"/>
                        </a:rPr>
                        <a:t>합계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b="1" dirty="0">
                          <a:solidFill>
                            <a:srgbClr val="000000"/>
                          </a:solidFill>
                          <a:latin typeface="Malgun Gothic" pitchFamily="34" charset="0"/>
                          <a:ea typeface="Malgun Gothic" pitchFamily="34" charset="-122"/>
                          <a:cs typeface="Malgun Gothic" pitchFamily="34" charset="-120"/>
                        </a:rPr>
                        <a:t>지상 23,923.7(7,237평) + 지하 19,700.0(5,959평)</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b="1" dirty="0">
                          <a:solidFill>
                            <a:srgbClr val="000000"/>
                          </a:solidFill>
                          <a:latin typeface="Malgun Gothic" pitchFamily="34" charset="0"/>
                          <a:ea typeface="Malgun Gothic" pitchFamily="34" charset="-122"/>
                          <a:cs typeface="Malgun Gothic" pitchFamily="34" charset="-120"/>
                        </a:rPr>
                        <a:t>43,623.7</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7" name="Text 14"/>
          <p:cNvSpPr txBox="1"/>
          <p:nvPr/>
        </p:nvSpPr>
        <p:spPr>
          <a:xfrm>
            <a:off x="457200" y="5760720"/>
            <a:ext cx="6903720" cy="411480"/>
          </a:xfrm>
          <a:prstGeom prst="rect">
            <a:avLst/>
          </a:prstGeom>
          <a:noFill/>
          <a:ln/>
        </p:spPr>
        <p:txBody>
          <a:bodyPr wrap="square" lIns="0" tIns="0" rIns="0" bIns="0" rtlCol="0" anchor="ctr"/>
          <a:lstStyle/>
          <a:p>
            <a:pPr eaLnBrk="0" algn="ctr" indent="0" marL="0">
              <a:buNone/>
            </a:pPr>
            <a:r>
              <a:rPr lang="en-US" sz="1250" b="1" dirty="0">
                <a:solidFill>
                  <a:srgbClr val="FF0000"/>
                </a:solidFill>
                <a:latin typeface="Malgun Gothic" pitchFamily="34" charset="0"/>
                <a:ea typeface="Malgun Gothic" pitchFamily="34" charset="-122"/>
                <a:cs typeface="Malgun Gothic" pitchFamily="34" charset="-120"/>
              </a:rPr>
              <a:t>→ 건축면적 4,322.1㎡ · 건폐율 87.1% · 용적률 481.9%(지하 제외)</a:t>
            </a:r>
            <a:endParaRPr lang="en-US" sz="1250" dirty="0"/>
          </a:p>
        </p:txBody>
      </p:sp>
      <p:sp>
        <p:nvSpPr>
          <p:cNvPr id="18" name="Shape 15"/>
          <p:cNvSpPr/>
          <p:nvPr/>
        </p:nvSpPr>
        <p:spPr>
          <a:xfrm>
            <a:off x="7680960" y="941832"/>
            <a:ext cx="50292" cy="237744"/>
          </a:xfrm>
          <a:prstGeom prst="rect">
            <a:avLst/>
          </a:prstGeom>
          <a:solidFill>
            <a:srgbClr val="002060"/>
          </a:solidFill>
          <a:ln/>
        </p:spPr>
      </p:sp>
      <p:sp>
        <p:nvSpPr>
          <p:cNvPr id="19" name="Text 16"/>
          <p:cNvSpPr txBox="1"/>
          <p:nvPr/>
        </p:nvSpPr>
        <p:spPr>
          <a:xfrm>
            <a:off x="780897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용도별 구성비</a:t>
            </a:r>
            <a:endParaRPr lang="en-US" sz="1300" dirty="0"/>
          </a:p>
        </p:txBody>
      </p:sp>
      <p:graphicFrame>
        <p:nvGraphicFramePr>
          <p:cNvPr id="20" name="Chart 0" descr=""/>
          <p:cNvGraphicFramePr/>
          <p:nvPr/>
        </p:nvGraphicFramePr>
        <p:xfrm>
          <a:off x="7680960" y="1234440"/>
          <a:ext cx="4050792" cy="274320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8974836" y="2194560"/>
            <a:ext cx="1463040" cy="457200"/>
          </a:xfrm>
          <a:prstGeom prst="rect">
            <a:avLst/>
          </a:prstGeom>
          <a:noFill/>
          <a:ln/>
        </p:spPr>
        <p:txBody>
          <a:bodyPr wrap="square" lIns="0" tIns="0" rIns="0" bIns="0" rtlCol="0" anchor="t"/>
          <a:lstStyle/>
          <a:p>
            <a:pPr eaLnBrk="0" algn="ctr" indent="0" marL="0">
              <a:buNone/>
            </a:pPr>
            <a:r>
              <a:rPr lang="en-US" sz="2000" b="1" dirty="0">
                <a:solidFill>
                  <a:srgbClr val="002060"/>
                </a:solidFill>
                <a:latin typeface="Malgun Gothic" pitchFamily="34" charset="0"/>
                <a:ea typeface="Malgun Gothic" pitchFamily="34" charset="-122"/>
                <a:cs typeface="Malgun Gothic" pitchFamily="34" charset="-120"/>
              </a:rPr>
              <a:t>75.62%</a:t>
            </a:r>
            <a:endParaRPr lang="en-US" sz="2000" dirty="0"/>
          </a:p>
        </p:txBody>
      </p:sp>
      <p:sp>
        <p:nvSpPr>
          <p:cNvPr id="22" name="Text 18"/>
          <p:cNvSpPr txBox="1"/>
          <p:nvPr/>
        </p:nvSpPr>
        <p:spPr>
          <a:xfrm>
            <a:off x="8974836" y="2606040"/>
            <a:ext cx="1463040" cy="274320"/>
          </a:xfrm>
          <a:prstGeom prst="rect">
            <a:avLst/>
          </a:prstGeom>
          <a:noFill/>
          <a:ln/>
        </p:spPr>
        <p:txBody>
          <a:bodyPr wrap="square" lIns="0" tIns="0" rIns="0" bIns="0" rtlCol="0" anchor="t"/>
          <a:lstStyle/>
          <a:p>
            <a:pPr eaLnBrk="0" algn="ctr" indent="0" marL="0">
              <a:buNone/>
            </a:pPr>
            <a:r>
              <a:rPr lang="en-US" sz="1000" dirty="0">
                <a:solidFill>
                  <a:srgbClr val="595959"/>
                </a:solidFill>
                <a:latin typeface="Malgun Gothic" pitchFamily="34" charset="0"/>
                <a:ea typeface="Malgun Gothic" pitchFamily="34" charset="-122"/>
                <a:cs typeface="Malgun Gothic" pitchFamily="34" charset="-120"/>
              </a:rPr>
              <a:t>주차장</a:t>
            </a:r>
            <a:endParaRPr lang="en-US" sz="1000" dirty="0"/>
          </a:p>
        </p:txBody>
      </p:sp>
      <p:sp>
        <p:nvSpPr>
          <p:cNvPr id="23" name="Shape 19"/>
          <p:cNvSpPr/>
          <p:nvPr/>
        </p:nvSpPr>
        <p:spPr>
          <a:xfrm>
            <a:off x="7680960" y="4114800"/>
            <a:ext cx="219456" cy="219456"/>
          </a:xfrm>
          <a:prstGeom prst="rect">
            <a:avLst/>
          </a:prstGeom>
          <a:solidFill>
            <a:srgbClr val="08205E"/>
          </a:solidFill>
          <a:ln/>
        </p:spPr>
      </p:sp>
      <p:sp>
        <p:nvSpPr>
          <p:cNvPr id="24" name="Text 20"/>
          <p:cNvSpPr txBox="1"/>
          <p:nvPr/>
        </p:nvSpPr>
        <p:spPr>
          <a:xfrm>
            <a:off x="8001000" y="4114800"/>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주차장</a:t>
            </a:r>
            <a:endParaRPr lang="en-US" sz="1050" dirty="0"/>
          </a:p>
        </p:txBody>
      </p:sp>
      <p:sp>
        <p:nvSpPr>
          <p:cNvPr id="25" name="Text 21"/>
          <p:cNvSpPr txBox="1"/>
          <p:nvPr/>
        </p:nvSpPr>
        <p:spPr>
          <a:xfrm>
            <a:off x="9326880" y="4114800"/>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75.62% · 32,988.4㎡</a:t>
            </a:r>
            <a:endParaRPr lang="en-US" sz="1050" dirty="0"/>
          </a:p>
        </p:txBody>
      </p:sp>
      <p:sp>
        <p:nvSpPr>
          <p:cNvPr id="26" name="Shape 22"/>
          <p:cNvSpPr/>
          <p:nvPr/>
        </p:nvSpPr>
        <p:spPr>
          <a:xfrm>
            <a:off x="7680960" y="4443984"/>
            <a:ext cx="219456" cy="219456"/>
          </a:xfrm>
          <a:prstGeom prst="rect">
            <a:avLst/>
          </a:prstGeom>
          <a:solidFill>
            <a:srgbClr val="4272C4"/>
          </a:solidFill>
          <a:ln/>
        </p:spPr>
      </p:sp>
      <p:sp>
        <p:nvSpPr>
          <p:cNvPr id="27" name="Text 23"/>
          <p:cNvSpPr txBox="1"/>
          <p:nvPr/>
        </p:nvSpPr>
        <p:spPr>
          <a:xfrm>
            <a:off x="8001000" y="4443984"/>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문화 · 공연</a:t>
            </a:r>
            <a:endParaRPr lang="en-US" sz="1050" dirty="0"/>
          </a:p>
        </p:txBody>
      </p:sp>
      <p:sp>
        <p:nvSpPr>
          <p:cNvPr id="28" name="Text 24"/>
          <p:cNvSpPr txBox="1"/>
          <p:nvPr/>
        </p:nvSpPr>
        <p:spPr>
          <a:xfrm>
            <a:off x="9326880" y="4443984"/>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11.58% · 5,050.0㎡</a:t>
            </a:r>
            <a:endParaRPr lang="en-US" sz="1050" dirty="0"/>
          </a:p>
        </p:txBody>
      </p:sp>
      <p:sp>
        <p:nvSpPr>
          <p:cNvPr id="29" name="Shape 25"/>
          <p:cNvSpPr/>
          <p:nvPr/>
        </p:nvSpPr>
        <p:spPr>
          <a:xfrm>
            <a:off x="7680960" y="4773168"/>
            <a:ext cx="219456" cy="219456"/>
          </a:xfrm>
          <a:prstGeom prst="rect">
            <a:avLst/>
          </a:prstGeom>
          <a:solidFill>
            <a:srgbClr val="7F9DCF"/>
          </a:solidFill>
          <a:ln/>
        </p:spPr>
      </p:sp>
      <p:sp>
        <p:nvSpPr>
          <p:cNvPr id="30" name="Text 26"/>
          <p:cNvSpPr txBox="1"/>
          <p:nvPr/>
        </p:nvSpPr>
        <p:spPr>
          <a:xfrm>
            <a:off x="8001000" y="4773168"/>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상업 · 상인</a:t>
            </a:r>
            <a:endParaRPr lang="en-US" sz="1050" dirty="0"/>
          </a:p>
        </p:txBody>
      </p:sp>
      <p:sp>
        <p:nvSpPr>
          <p:cNvPr id="31" name="Text 27"/>
          <p:cNvSpPr txBox="1"/>
          <p:nvPr/>
        </p:nvSpPr>
        <p:spPr>
          <a:xfrm>
            <a:off x="9326880" y="4773168"/>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5.96% · 2,600.0㎡</a:t>
            </a:r>
            <a:endParaRPr lang="en-US" sz="1050" dirty="0"/>
          </a:p>
        </p:txBody>
      </p:sp>
      <p:sp>
        <p:nvSpPr>
          <p:cNvPr id="32" name="Shape 28"/>
          <p:cNvSpPr/>
          <p:nvPr/>
        </p:nvSpPr>
        <p:spPr>
          <a:xfrm>
            <a:off x="7680960" y="5102352"/>
            <a:ext cx="219456" cy="219456"/>
          </a:xfrm>
          <a:prstGeom prst="rect">
            <a:avLst/>
          </a:prstGeom>
          <a:solidFill>
            <a:srgbClr val="ABBDE0"/>
          </a:solidFill>
          <a:ln/>
        </p:spPr>
      </p:sp>
      <p:sp>
        <p:nvSpPr>
          <p:cNvPr id="33" name="Text 29"/>
          <p:cNvSpPr txBox="1"/>
          <p:nvPr/>
        </p:nvSpPr>
        <p:spPr>
          <a:xfrm>
            <a:off x="8001000" y="5102352"/>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코어</a:t>
            </a:r>
            <a:endParaRPr lang="en-US" sz="1050" dirty="0"/>
          </a:p>
        </p:txBody>
      </p:sp>
      <p:sp>
        <p:nvSpPr>
          <p:cNvPr id="34" name="Text 30"/>
          <p:cNvSpPr txBox="1"/>
          <p:nvPr/>
        </p:nvSpPr>
        <p:spPr>
          <a:xfrm>
            <a:off x="9326880" y="5102352"/>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3.44% · 1,500.0㎡</a:t>
            </a:r>
            <a:endParaRPr lang="en-US" sz="1050" dirty="0"/>
          </a:p>
        </p:txBody>
      </p:sp>
      <p:sp>
        <p:nvSpPr>
          <p:cNvPr id="35" name="Shape 31"/>
          <p:cNvSpPr/>
          <p:nvPr/>
        </p:nvSpPr>
        <p:spPr>
          <a:xfrm>
            <a:off x="7680960" y="5431536"/>
            <a:ext cx="219456" cy="219456"/>
          </a:xfrm>
          <a:prstGeom prst="rect">
            <a:avLst/>
          </a:prstGeom>
          <a:solidFill>
            <a:srgbClr val="DBE2F5"/>
          </a:solidFill>
          <a:ln/>
        </p:spPr>
      </p:sp>
      <p:sp>
        <p:nvSpPr>
          <p:cNvPr id="36" name="Text 32"/>
          <p:cNvSpPr txBox="1"/>
          <p:nvPr/>
        </p:nvSpPr>
        <p:spPr>
          <a:xfrm>
            <a:off x="8001000" y="5431536"/>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설비 · 지원</a:t>
            </a:r>
            <a:endParaRPr lang="en-US" sz="1050" dirty="0"/>
          </a:p>
        </p:txBody>
      </p:sp>
      <p:sp>
        <p:nvSpPr>
          <p:cNvPr id="37" name="Text 33"/>
          <p:cNvSpPr txBox="1"/>
          <p:nvPr/>
        </p:nvSpPr>
        <p:spPr>
          <a:xfrm>
            <a:off x="9326880" y="5431536"/>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3.40% · 1,485.3㎡</a:t>
            </a:r>
            <a:endParaRPr lang="en-US" sz="1050" dirty="0"/>
          </a:p>
        </p:txBody>
      </p:sp>
      <p:sp>
        <p:nvSpPr>
          <p:cNvPr id="38" name="Shape 34"/>
          <p:cNvSpPr/>
          <p:nvPr/>
        </p:nvSpPr>
        <p:spPr>
          <a:xfrm>
            <a:off x="7680960" y="5669280"/>
            <a:ext cx="4050792" cy="566928"/>
          </a:xfrm>
          <a:prstGeom prst="roundRect">
            <a:avLst>
              <a:gd name="adj" fmla="val 16129"/>
            </a:avLst>
          </a:prstGeom>
          <a:solidFill>
            <a:srgbClr val="F0F3F7"/>
          </a:solidFill>
          <a:ln w="9525">
            <a:solidFill>
              <a:srgbClr val="A0A2A5"/>
            </a:solidFill>
            <a:prstDash val="solid"/>
          </a:ln>
        </p:spPr>
      </p:sp>
      <p:sp>
        <p:nvSpPr>
          <p:cNvPr id="39" name="Text 35"/>
          <p:cNvSpPr txBox="1"/>
          <p:nvPr/>
        </p:nvSpPr>
        <p:spPr>
          <a:xfrm>
            <a:off x="7818120" y="5724144"/>
            <a:ext cx="3776472" cy="457200"/>
          </a:xfrm>
          <a:prstGeom prst="rect">
            <a:avLst/>
          </a:prstGeom>
          <a:noFill/>
          <a:ln/>
        </p:spPr>
        <p:txBody>
          <a:bodyPr wrap="square" lIns="0" tIns="0" rIns="0" bIns="0" rtlCol="0" anchor="ctr"/>
          <a:lstStyle/>
          <a:p>
            <a:pPr eaLnBrk="0" indent="0" marL="0">
              <a:buNone/>
            </a:pPr>
            <a:r>
              <a:rPr lang="en-US" sz="950" dirty="0">
                <a:solidFill>
                  <a:srgbClr val="000000"/>
                </a:solidFill>
                <a:latin typeface="Malgun Gothic" pitchFamily="34" charset="0"/>
                <a:ea typeface="Malgun Gothic" pitchFamily="34" charset="-122"/>
                <a:cs typeface="Malgun Gothic" pitchFamily="34" charset="-120"/>
              </a:rPr>
              <a:t>주차장 32,988.4㎡에는 1F 램프 · 정산 · 이륜차 1,200㎡가 포함됨. 주차 비율 75.62%(요건 70% 이상)</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17</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동선 및 진입 계획</a:t>
            </a:r>
            <a:endParaRPr lang="en-US" sz="1700" dirty="0"/>
          </a:p>
        </p:txBody>
      </p:sp>
      <p:sp>
        <p:nvSpPr>
          <p:cNvPr id="4" name="Shape 2"/>
          <p:cNvSpPr/>
          <p:nvPr/>
        </p:nvSpPr>
        <p:spPr>
          <a:xfrm>
            <a:off x="3630168" y="329184"/>
            <a:ext cx="41148" cy="292608"/>
          </a:xfrm>
          <a:prstGeom prst="rect">
            <a:avLst/>
          </a:prstGeom>
          <a:solidFill>
            <a:srgbClr val="002060"/>
          </a:solidFill>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1층 배치와 수직 동선</a:t>
            </a:r>
            <a:endParaRPr lang="en-US" sz="1150" dirty="0"/>
          </a:p>
        </p:txBody>
      </p:sp>
      <p:sp>
        <p:nvSpPr>
          <p:cNvPr id="6" name="Shape 4"/>
          <p:cNvSpPr/>
          <p:nvPr/>
        </p:nvSpPr>
        <p:spPr>
          <a:xfrm>
            <a:off x="5971032" y="475488"/>
            <a:ext cx="23317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 진출입 위치는 구청 · 경찰 협의 전 개념이며 도면은 개략, 「주차장법 시행규칙」 제5 · 6조</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20</a:t>
            </a:r>
            <a:endParaRPr lang="en-US" sz="800" dirty="0"/>
          </a:p>
        </p:txBody>
      </p:sp>
      <p:pic>
        <p:nvPicPr>
          <p:cNvPr id="14" name="Image 0" descr="C:\Users\jsy07\AppData\Local\Temp\work\img\plan1f.jpg">    </p:cNvPr>
          <p:cNvPicPr>
            <a:picLocks noChangeAspect="1"/>
          </p:cNvPicPr>
          <p:nvPr/>
        </p:nvPicPr>
        <p:blipFill>
          <a:blip r:embed="rId1"/>
          <a:stretch>
            <a:fillRect/>
          </a:stretch>
        </p:blipFill>
        <p:spPr>
          <a:xfrm>
            <a:off x="457200" y="914400"/>
            <a:ext cx="3138457" cy="5212080"/>
          </a:xfrm>
          <a:prstGeom prst="rect">
            <a:avLst/>
          </a:prstGeom>
        </p:spPr>
      </p:pic>
      <p:sp>
        <p:nvSpPr>
          <p:cNvPr id="15" name="Text 12"/>
          <p:cNvSpPr txBox="1"/>
          <p:nvPr/>
        </p:nvSpPr>
        <p:spPr>
          <a:xfrm>
            <a:off x="457200" y="6144768"/>
            <a:ext cx="3138457" cy="237744"/>
          </a:xfrm>
          <a:prstGeom prst="rect">
            <a:avLst/>
          </a:prstGeom>
          <a:noFill/>
          <a:ln/>
        </p:spPr>
        <p:txBody>
          <a:bodyPr wrap="square" lIns="0" tIns="0" rIns="0" bIns="0" rtlCol="0" anchor="t"/>
          <a:lstStyle/>
          <a:p>
            <a:pPr eaLnBrk="0" algn="l" indent="0" marL="0">
              <a:buNone/>
            </a:pPr>
            <a:r>
              <a:rPr lang="en-US" sz="900" i="1" dirty="0">
                <a:solidFill>
                  <a:srgbClr val="595959"/>
                </a:solidFill>
                <a:latin typeface="Malgun Gothic" pitchFamily="34" charset="0"/>
                <a:ea typeface="Malgun Gothic" pitchFamily="34" charset="-122"/>
                <a:cs typeface="Malgun Gothic" pitchFamily="34" charset="-120"/>
              </a:rPr>
              <a:t>1층 동선 개념도 · 위치와 폭은 개략</a:t>
            </a:r>
            <a:endParaRPr lang="en-US" sz="900" dirty="0"/>
          </a:p>
        </p:txBody>
      </p:sp>
      <p:sp>
        <p:nvSpPr>
          <p:cNvPr id="16" name="Shape 13"/>
          <p:cNvSpPr/>
          <p:nvPr/>
        </p:nvSpPr>
        <p:spPr>
          <a:xfrm>
            <a:off x="3915697" y="914400"/>
            <a:ext cx="3816588" cy="1280160"/>
          </a:xfrm>
          <a:prstGeom prst="rect">
            <a:avLst/>
          </a:prstGeom>
          <a:solidFill>
            <a:srgbClr val="F2F2F2"/>
          </a:solidFill>
          <a:ln/>
        </p:spPr>
      </p:sp>
      <p:sp>
        <p:nvSpPr>
          <p:cNvPr id="17" name="Text 14"/>
          <p:cNvSpPr txBox="1"/>
          <p:nvPr/>
        </p:nvSpPr>
        <p:spPr>
          <a:xfrm>
            <a:off x="4043713" y="100584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차량 동선</a:t>
            </a:r>
            <a:endParaRPr lang="en-US" sz="950" dirty="0"/>
          </a:p>
        </p:txBody>
      </p:sp>
      <p:sp>
        <p:nvSpPr>
          <p:cNvPr id="18" name="Text 15"/>
          <p:cNvSpPr txBox="1"/>
          <p:nvPr/>
        </p:nvSpPr>
        <p:spPr>
          <a:xfrm>
            <a:off x="4062001" y="133502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남단 진입 · 북단 진출</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입구 · 출구가 서로 만나지 않음</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- 400대 초과 노외주차장의 분리 기준</a:t>
            </a:r>
            <a:endParaRPr lang="en-US" sz="1100" dirty="0"/>
          </a:p>
        </p:txBody>
      </p:sp>
      <p:sp>
        <p:nvSpPr>
          <p:cNvPr id="19" name="Shape 16"/>
          <p:cNvSpPr/>
          <p:nvPr/>
        </p:nvSpPr>
        <p:spPr>
          <a:xfrm>
            <a:off x="7915164" y="914400"/>
            <a:ext cx="3816588" cy="1280160"/>
          </a:xfrm>
          <a:prstGeom prst="rect">
            <a:avLst/>
          </a:prstGeom>
          <a:solidFill>
            <a:srgbClr val="F2F2F2"/>
          </a:solidFill>
          <a:ln/>
        </p:spPr>
      </p:sp>
      <p:sp>
        <p:nvSpPr>
          <p:cNvPr id="20" name="Text 17"/>
          <p:cNvSpPr txBox="1"/>
          <p:nvPr/>
        </p:nvSpPr>
        <p:spPr>
          <a:xfrm>
            <a:off x="8043180" y="100584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보행 동선</a:t>
            </a:r>
            <a:endParaRPr lang="en-US" sz="950" dirty="0"/>
          </a:p>
        </p:txBody>
      </p:sp>
      <p:sp>
        <p:nvSpPr>
          <p:cNvPr id="21" name="Text 18"/>
          <p:cNvSpPr txBox="1"/>
          <p:nvPr/>
        </p:nvSpPr>
        <p:spPr>
          <a:xfrm>
            <a:off x="8061468" y="133502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1층 외곽을 한 바퀴</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전포대로변, 북 · 남 3m 이격 마당, 동측 도로변</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소로 중간에 횡단보도 1곳</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서점 · 카페 · 로비는 전포대로 쪽</a:t>
            </a:r>
            <a:endParaRPr lang="en-US" sz="1100" dirty="0"/>
          </a:p>
        </p:txBody>
      </p:sp>
      <p:sp>
        <p:nvSpPr>
          <p:cNvPr id="22" name="Shape 19"/>
          <p:cNvSpPr/>
          <p:nvPr/>
        </p:nvSpPr>
        <p:spPr>
          <a:xfrm>
            <a:off x="3915697" y="2834640"/>
            <a:ext cx="3816588" cy="1280160"/>
          </a:xfrm>
          <a:prstGeom prst="rect">
            <a:avLst/>
          </a:prstGeom>
          <a:solidFill>
            <a:srgbClr val="F2F2F2"/>
          </a:solidFill>
          <a:ln/>
        </p:spPr>
      </p:sp>
      <p:sp>
        <p:nvSpPr>
          <p:cNvPr id="23" name="Text 20"/>
          <p:cNvSpPr txBox="1"/>
          <p:nvPr/>
        </p:nvSpPr>
        <p:spPr>
          <a:xfrm>
            <a:off x="4043713" y="292608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수직 동선</a:t>
            </a:r>
            <a:endParaRPr lang="en-US" sz="950" dirty="0"/>
          </a:p>
        </p:txBody>
      </p:sp>
      <p:sp>
        <p:nvSpPr>
          <p:cNvPr id="24" name="Text 21"/>
          <p:cNvSpPr txBox="1"/>
          <p:nvPr/>
        </p:nvSpPr>
        <p:spPr>
          <a:xfrm>
            <a:off x="4062001" y="325526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끝 코어 2곳이 이동의 중심</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지상 개방 순환 계단 + 승강기</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지하는 같은 자리에 특별피난계단</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공연 관객은 끝 코어②에서 선큰 마당으로</a:t>
            </a:r>
            <a:endParaRPr lang="en-US" sz="1100" dirty="0"/>
          </a:p>
        </p:txBody>
      </p:sp>
      <p:sp>
        <p:nvSpPr>
          <p:cNvPr id="25" name="Shape 22"/>
          <p:cNvSpPr/>
          <p:nvPr/>
        </p:nvSpPr>
        <p:spPr>
          <a:xfrm>
            <a:off x="7915164" y="2834640"/>
            <a:ext cx="3816588" cy="1280160"/>
          </a:xfrm>
          <a:prstGeom prst="rect">
            <a:avLst/>
          </a:prstGeom>
          <a:solidFill>
            <a:srgbClr val="F2F2F2"/>
          </a:solidFill>
          <a:ln/>
        </p:spPr>
      </p:sp>
      <p:sp>
        <p:nvSpPr>
          <p:cNvPr id="26" name="Text 23"/>
          <p:cNvSpPr txBox="1"/>
          <p:nvPr/>
        </p:nvSpPr>
        <p:spPr>
          <a:xfrm>
            <a:off x="8043180" y="2926080"/>
            <a:ext cx="10972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하역 · 이륜차</a:t>
            </a:r>
            <a:endParaRPr lang="en-US" sz="950" dirty="0"/>
          </a:p>
        </p:txBody>
      </p:sp>
      <p:sp>
        <p:nvSpPr>
          <p:cNvPr id="27" name="Text 24"/>
          <p:cNvSpPr txBox="1"/>
          <p:nvPr/>
        </p:nvSpPr>
        <p:spPr>
          <a:xfrm>
            <a:off x="8061468" y="325526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동측 이면도로 쪽</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하역 150㎡, 이륜차 · 자전거 200㎡</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- 1층 동측 북쪽, 일반 차량과 분리</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주 진출입은 남·북단 소로만 사용</a:t>
            </a:r>
            <a:endParaRPr lang="en-US" sz="1100" dirty="0"/>
          </a:p>
        </p:txBody>
      </p:sp>
      <p:sp>
        <p:nvSpPr>
          <p:cNvPr id="28" name="Text 25"/>
          <p:cNvSpPr txBox="1"/>
          <p:nvPr/>
        </p:nvSpPr>
        <p:spPr>
          <a:xfrm>
            <a:off x="3915697" y="4572000"/>
            <a:ext cx="7816055"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차량은 소로에 모으고, 보행은 1층 외곽 중심으로 분리함(소로 횡단 1곳)</a:t>
            </a:r>
            <a:endParaRPr lang="en-US" sz="1300" dirty="0"/>
          </a:p>
        </p:txBody>
      </p:sp>
      <p:sp>
        <p:nvSpPr>
          <p:cNvPr id="29" name="Shape 26"/>
          <p:cNvSpPr/>
          <p:nvPr/>
        </p:nvSpPr>
        <p:spPr>
          <a:xfrm>
            <a:off x="3915697" y="5257800"/>
            <a:ext cx="7816055" cy="640080"/>
          </a:xfrm>
          <a:prstGeom prst="roundRect">
            <a:avLst>
              <a:gd name="adj" fmla="val 14286"/>
            </a:avLst>
          </a:prstGeom>
          <a:solidFill>
            <a:srgbClr val="F0F3F7"/>
          </a:solidFill>
          <a:ln w="9525">
            <a:solidFill>
              <a:srgbClr val="A0A2A5"/>
            </a:solidFill>
            <a:prstDash val="solid"/>
          </a:ln>
        </p:spPr>
      </p:sp>
      <p:sp>
        <p:nvSpPr>
          <p:cNvPr id="30" name="Text 27"/>
          <p:cNvSpPr txBox="1"/>
          <p:nvPr/>
        </p:nvSpPr>
        <p:spPr>
          <a:xfrm>
            <a:off x="4052857" y="5312664"/>
            <a:ext cx="7541735" cy="530352"/>
          </a:xfrm>
          <a:prstGeom prst="rect">
            <a:avLst/>
          </a:prstGeom>
          <a:noFill/>
          <a:ln/>
        </p:spPr>
        <p:txBody>
          <a:bodyPr wrap="square" lIns="0" tIns="0" rIns="0" bIns="0" rtlCol="0" anchor="ctr"/>
          <a:lstStyle/>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확인할 것  </a:t>
            </a:r>
            <a:pPr eaLnBrk="0" indent="0" marL="0">
              <a:buNone/>
            </a:pPr>
            <a:r>
              <a:rPr lang="en-US" sz="1050" dirty="0">
                <a:solidFill>
                  <a:srgbClr val="000000"/>
                </a:solidFill>
                <a:latin typeface="Malgun Gothic" pitchFamily="34" charset="0"/>
                <a:ea typeface="Malgun Gothic" pitchFamily="34" charset="-122"/>
                <a:cs typeface="Malgun Gothic" pitchFamily="34" charset="-120"/>
              </a:rPr>
              <a:t>처리 용량(피크 대기행렬) · 소로 남단이 224번길 모퉁이 · 횡단보도 · 정류장과 떨어진 거리 · 출입구 설치 금지 구간(교차로 5m, 정류장 10m)</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18</a:t>
            </a:r>
            <a:endParaRPr lang="en-US" sz="3000" dirty="0"/>
          </a:p>
        </p:txBody>
      </p:sp>
      <p:sp>
        <p:nvSpPr>
          <p:cNvPr id="3" name="Text 1"/>
          <p:cNvSpPr txBox="1"/>
          <p:nvPr/>
        </p:nvSpPr>
        <p:spPr>
          <a:xfrm>
            <a:off x="1115568" y="201168"/>
            <a:ext cx="433425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법규 검토 · 구조 · 방재 제안</a:t>
            </a:r>
            <a:endParaRPr lang="en-US" sz="1700" dirty="0"/>
          </a:p>
        </p:txBody>
      </p:sp>
      <p:sp>
        <p:nvSpPr>
          <p:cNvPr id="4" name="Shape 2"/>
          <p:cNvSpPr/>
          <p:nvPr/>
        </p:nvSpPr>
        <p:spPr>
          <a:xfrm>
            <a:off x="5495544" y="329184"/>
            <a:ext cx="41148" cy="292608"/>
          </a:xfrm>
          <a:prstGeom prst="rect">
            <a:avLst/>
          </a:prstGeom>
          <a:solidFill>
            <a:srgbClr val="002060"/>
          </a:solidFill>
          <a:ln/>
        </p:spPr>
      </p:sp>
      <p:sp>
        <p:nvSpPr>
          <p:cNvPr id="5" name="Text 3"/>
          <p:cNvSpPr txBox="1"/>
          <p:nvPr/>
        </p:nvSpPr>
        <p:spPr>
          <a:xfrm>
            <a:off x="562356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계획값과 조건부 항목</a:t>
            </a:r>
            <a:endParaRPr lang="en-US" sz="1150" dirty="0"/>
          </a:p>
        </p:txBody>
      </p:sp>
      <p:sp>
        <p:nvSpPr>
          <p:cNvPr id="6" name="Shape 4"/>
          <p:cNvSpPr/>
          <p:nvPr/>
        </p:nvSpPr>
        <p:spPr>
          <a:xfrm>
            <a:off x="7667244" y="475488"/>
            <a:ext cx="6355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법제처 국가법령정보센터 현행본(2026.10.11 조회) · 판정은 참고용이며 최종 판단은 원문으로 다시 확인함 · 구조 · 방재는 확정 설계가 아닌 제안</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21</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11274552" cy="914400"/>
        </p:xfrm>
        <a:graphic>
          <a:graphicData uri="http://schemas.openxmlformats.org/drawingml/2006/table">
            <a:tbl>
              <a:tblPr/>
              <a:tblGrid>
                <a:gridCol w="1920240"/>
                <a:gridCol w="2468880"/>
                <a:gridCol w="3566160"/>
                <a:gridCol w="2011680"/>
                <a:gridCol w="1307592"/>
              </a:tblGrid>
              <a:tr h="457200">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항목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조문</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기준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계획값</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판정(참고)</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주차전용건축물 요건</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시행령」 제1조의2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 외 용도가 근생 · 문화집회 등이면 주차 70% 이상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75.62%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적합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건폐율 · 용적률</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제12조의2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90% 이하 · 1,500% 이하</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87.1% · 481.9%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적합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대지 안의 공지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「부산광역시 건축 조례」 별표4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문화집회 1,000㎡ 이상: 건축선에서 3m (20m 이상 도로 면 면제)</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북 · 남 3m, 전포대로 0m</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적합(반영)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노외주차장 출입구</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시행규칙」 제5조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400대 초과 시 입구 · 출구 분리, 교차로 5m · 정류장 10m 안 금지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남단 진입 · 북단 진출 분리</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 구조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시행규칙」 제6조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경사로 직선 17% · 곡선 14% 이하, 주차부분 높이 2.1m</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층고 3.3m, 반 층 램프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피난</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「건축법 시행령」 제34 · 35조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보행거리 50m(지하 공연장 30m), 지하 3층 이하 특별피난계단</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끝 코어 2 + 보조 2, 지하 특피 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5" name="Shape 12"/>
          <p:cNvSpPr/>
          <p:nvPr/>
        </p:nvSpPr>
        <p:spPr>
          <a:xfrm>
            <a:off x="457200" y="4343400"/>
            <a:ext cx="3611880" cy="1078992"/>
          </a:xfrm>
          <a:prstGeom prst="rect">
            <a:avLst/>
          </a:prstGeom>
          <a:solidFill>
            <a:srgbClr val="F2F2F2"/>
          </a:solidFill>
          <a:ln/>
        </p:spPr>
      </p:sp>
      <p:sp>
        <p:nvSpPr>
          <p:cNvPr id="16" name="Text 13"/>
          <p:cNvSpPr txBox="1"/>
          <p:nvPr/>
        </p:nvSpPr>
        <p:spPr>
          <a:xfrm>
            <a:off x="585216" y="4434840"/>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구조</a:t>
            </a:r>
            <a:endParaRPr lang="en-US" sz="950" dirty="0"/>
          </a:p>
        </p:txBody>
      </p:sp>
      <p:sp>
        <p:nvSpPr>
          <p:cNvPr id="17" name="Text 14"/>
          <p:cNvSpPr txBox="1"/>
          <p:nvPr/>
        </p:nvSpPr>
        <p:spPr>
          <a:xfrm>
            <a:off x="603504" y="4764024"/>
            <a:ext cx="3337560"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주차 모듈에 맞춘 기둥 격자</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약 7.5~8.1m 단위로 제안</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- 6F 가변홀은 트러스 · 전이보로 무주 공간 검토</a:t>
            </a:r>
            <a:endParaRPr lang="en-US" sz="1100" dirty="0"/>
          </a:p>
        </p:txBody>
      </p:sp>
      <p:sp>
        <p:nvSpPr>
          <p:cNvPr id="18" name="Shape 15"/>
          <p:cNvSpPr/>
          <p:nvPr/>
        </p:nvSpPr>
        <p:spPr>
          <a:xfrm>
            <a:off x="4288536" y="4343400"/>
            <a:ext cx="3611880" cy="1078992"/>
          </a:xfrm>
          <a:prstGeom prst="rect">
            <a:avLst/>
          </a:prstGeom>
          <a:solidFill>
            <a:srgbClr val="F2F2F2"/>
          </a:solidFill>
          <a:ln/>
        </p:spPr>
      </p:sp>
      <p:sp>
        <p:nvSpPr>
          <p:cNvPr id="19" name="Text 16"/>
          <p:cNvSpPr txBox="1"/>
          <p:nvPr/>
        </p:nvSpPr>
        <p:spPr>
          <a:xfrm>
            <a:off x="4416552" y="443484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방재 · 피난</a:t>
            </a:r>
            <a:endParaRPr lang="en-US" sz="950" dirty="0"/>
          </a:p>
        </p:txBody>
      </p:sp>
      <p:sp>
        <p:nvSpPr>
          <p:cNvPr id="20" name="Text 17"/>
          <p:cNvSpPr txBox="1"/>
          <p:nvPr/>
        </p:nvSpPr>
        <p:spPr>
          <a:xfrm>
            <a:off x="4434840" y="4764024"/>
            <a:ext cx="3337560"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지하 공연장과 순환 계단</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방화구획과 전용 특별피난계단(보행거리 30m)</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개방 순환 계단의 피난계단 인정 여부 검토</a:t>
            </a:r>
            <a:endParaRPr lang="en-US" sz="1100" dirty="0"/>
          </a:p>
        </p:txBody>
      </p:sp>
      <p:sp>
        <p:nvSpPr>
          <p:cNvPr id="21" name="Shape 18"/>
          <p:cNvSpPr/>
          <p:nvPr/>
        </p:nvSpPr>
        <p:spPr>
          <a:xfrm>
            <a:off x="8119872" y="4343400"/>
            <a:ext cx="3611880" cy="1078992"/>
          </a:xfrm>
          <a:prstGeom prst="rect">
            <a:avLst/>
          </a:prstGeom>
          <a:solidFill>
            <a:srgbClr val="F2F2F2"/>
          </a:solidFill>
          <a:ln/>
        </p:spPr>
      </p:sp>
      <p:sp>
        <p:nvSpPr>
          <p:cNvPr id="22" name="Text 19"/>
          <p:cNvSpPr txBox="1"/>
          <p:nvPr/>
        </p:nvSpPr>
        <p:spPr>
          <a:xfrm>
            <a:off x="8247888" y="443484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설비 · 운영</a:t>
            </a:r>
            <a:endParaRPr lang="en-US" sz="950" dirty="0"/>
          </a:p>
        </p:txBody>
      </p:sp>
      <p:sp>
        <p:nvSpPr>
          <p:cNvPr id="23" name="Text 20"/>
          <p:cNvSpPr txBox="1"/>
          <p:nvPr/>
        </p:nvSpPr>
        <p:spPr>
          <a:xfrm>
            <a:off x="8266176" y="4764024"/>
            <a:ext cx="3337560"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자연환기와 후속 과제</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개방 외피로 주차층 자연환기, 지하는 기계환기</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소음 · 조명 운영시간, 처리 용량은 후속 검토</a:t>
            </a:r>
            <a:endParaRPr lang="en-US" sz="1100" dirty="0"/>
          </a:p>
        </p:txBody>
      </p:sp>
      <p:sp>
        <p:nvSpPr>
          <p:cNvPr id="24" name="Text 21"/>
          <p:cNvSpPr txBox="1"/>
          <p:nvPr/>
        </p:nvSpPr>
        <p:spPr>
          <a:xfrm>
            <a:off x="457200" y="5897880"/>
            <a:ext cx="11274552" cy="41148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구조 · 방재는 제안이며, 설계 단계에서 작도와 계산으로 검증함</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19</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확인할 것</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한계와 다음 단계</a:t>
            </a:r>
            <a:endParaRPr lang="en-US" sz="1150" dirty="0"/>
          </a:p>
        </p:txBody>
      </p:sp>
      <p:sp>
        <p:nvSpPr>
          <p:cNvPr id="6" name="Shape 4"/>
          <p:cNvSpPr/>
          <p:nvPr/>
        </p:nvSpPr>
        <p:spPr>
          <a:xfrm>
            <a:off x="4297680" y="475488"/>
            <a:ext cx="4005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시안의 열린 이슈 · 수치는 모두 개략이며 확정은 법규 원문 확인과 작도에서 이뤄짐</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7498080" cy="914400"/>
        </p:xfrm>
        <a:graphic>
          <a:graphicData uri="http://schemas.openxmlformats.org/drawingml/2006/table">
            <a:tbl>
              <a:tblPr/>
              <a:tblGrid>
                <a:gridCol w="411480"/>
                <a:gridCol w="4069080"/>
                <a:gridCol w="3017520"/>
              </a:tblGrid>
              <a:tr h="502920">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확인할 것</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이유 · 방향</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약 600대와 주차 면적 약 33,000㎡의 관계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1대당 약 55㎡로 계산됨, 기준층 배치로 확인</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진입부(소로 남단)와 224번길 모퉁이 · 횡단보도 · 정류장 거리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출입구 설치 금지 구간(5m · 10m)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3</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개방 순환 계단의 피난계단 인정 여부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안 되면 보조 피난계단 2곳이 법정 계단 역할</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4</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대지 안의 공지의 지하층 적용 여부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지금은 지하를 대지 전체로 계산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207-15 · 79 용도지역 표기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제3종일반주거지역 동시 표기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보행거리 작도(코어 4곳 50m, 지하 공연장 30m)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피난 조건부 판정 해소</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7</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6F 외피 재료, 소음 · 조명 운영시간, 소음 실측</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후속 설계 과제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5" name="Shape 12"/>
          <p:cNvSpPr/>
          <p:nvPr/>
        </p:nvSpPr>
        <p:spPr>
          <a:xfrm>
            <a:off x="457200" y="5120640"/>
            <a:ext cx="7498080" cy="822960"/>
          </a:xfrm>
          <a:prstGeom prst="roundRect">
            <a:avLst>
              <a:gd name="adj" fmla="val 11111"/>
            </a:avLst>
          </a:prstGeom>
          <a:solidFill>
            <a:srgbClr val="F0F3F7"/>
          </a:solidFill>
          <a:ln w="9525">
            <a:solidFill>
              <a:srgbClr val="A0A2A5"/>
            </a:solidFill>
            <a:prstDash val="solid"/>
          </a:ln>
        </p:spPr>
      </p:sp>
      <p:sp>
        <p:nvSpPr>
          <p:cNvPr id="16" name="Text 13"/>
          <p:cNvSpPr txBox="1"/>
          <p:nvPr/>
        </p:nvSpPr>
        <p:spPr>
          <a:xfrm>
            <a:off x="594360" y="5175504"/>
            <a:ext cx="7223760" cy="713232"/>
          </a:xfrm>
          <a:prstGeom prst="rect">
            <a:avLst/>
          </a:prstGeom>
          <a:noFill/>
          <a:ln/>
        </p:spPr>
        <p:txBody>
          <a:bodyPr wrap="square" lIns="0" tIns="0" rIns="0" bIns="0" rtlCol="0" anchor="ctr"/>
          <a:lstStyle/>
          <a:p>
            <a:pPr eaLnBrk="0" indent="0" marL="0">
              <a:buNone/>
            </a:pPr>
            <a:r>
              <a:rPr lang="en-US" sz="1000" b="1" dirty="0">
                <a:solidFill>
                  <a:srgbClr val="002060"/>
                </a:solidFill>
                <a:latin typeface="Malgun Gothic" pitchFamily="34" charset="0"/>
                <a:ea typeface="Malgun Gothic" pitchFamily="34" charset="-122"/>
                <a:cs typeface="Malgun Gothic" pitchFamily="34" charset="-120"/>
              </a:rPr>
              <a:t>본 보고서에서 다루지 않은 사항  </a:t>
            </a:r>
            <a:pPr eaLnBrk="0" indent="0" marL="0">
              <a:buNone/>
            </a:pPr>
            <a:r>
              <a:rPr lang="en-US" sz="1000" dirty="0">
                <a:solidFill>
                  <a:srgbClr val="000000"/>
                </a:solidFill>
                <a:latin typeface="Malgun Gothic" pitchFamily="34" charset="0"/>
                <a:ea typeface="Malgun Gothic" pitchFamily="34" charset="-122"/>
                <a:cs typeface="Malgun Gothic" pitchFamily="34" charset="-120"/>
              </a:rPr>
              <a:t>사업성(토지 매입 · 공사비 · 주차 수입) · 합필 방식과 운영 주체 · 침수 · 지반 · 소음 실측 · 상세 평면 · 단면(미작성)</a:t>
            </a:r>
            <a:endParaRPr lang="en-US" sz="1100" dirty="0"/>
          </a:p>
        </p:txBody>
      </p:sp>
      <p:sp>
        <p:nvSpPr>
          <p:cNvPr id="17" name="Shape 14"/>
          <p:cNvSpPr/>
          <p:nvPr/>
        </p:nvSpPr>
        <p:spPr>
          <a:xfrm>
            <a:off x="8229600" y="914400"/>
            <a:ext cx="3502152" cy="5349240"/>
          </a:xfrm>
          <a:prstGeom prst="rect">
            <a:avLst/>
          </a:prstGeom>
          <a:solidFill>
            <a:srgbClr val="4C4C4C"/>
          </a:solidFill>
          <a:ln/>
        </p:spPr>
      </p:sp>
      <p:sp>
        <p:nvSpPr>
          <p:cNvPr id="18" name="Text 15"/>
          <p:cNvSpPr txBox="1"/>
          <p:nvPr/>
        </p:nvSpPr>
        <p:spPr>
          <a:xfrm>
            <a:off x="8229600" y="1371600"/>
            <a:ext cx="3502152" cy="2011680"/>
          </a:xfrm>
          <a:prstGeom prst="rect">
            <a:avLst/>
          </a:prstGeom>
          <a:noFill/>
          <a:ln/>
        </p:spPr>
        <p:txBody>
          <a:bodyPr wrap="square" lIns="0" tIns="0" rIns="0" bIns="0" rtlCol="0" anchor="ctr"/>
          <a:lstStyle/>
          <a:p>
            <a:pPr eaLnBrk="0"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THANK</a:t>
            </a:r>
            <a:endParaRPr lang="en-US" sz="4800" dirty="0"/>
          </a:p>
          <a:p>
            <a:pPr eaLnBrk="0"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YOU</a:t>
            </a:r>
            <a:endParaRPr lang="en-US" sz="4800" dirty="0"/>
          </a:p>
        </p:txBody>
      </p:sp>
      <p:sp>
        <p:nvSpPr>
          <p:cNvPr id="19" name="Text 16"/>
          <p:cNvSpPr txBox="1"/>
          <p:nvPr/>
        </p:nvSpPr>
        <p:spPr>
          <a:xfrm>
            <a:off x="8229600" y="3566160"/>
            <a:ext cx="3502152" cy="822960"/>
          </a:xfrm>
          <a:prstGeom prst="rect">
            <a:avLst/>
          </a:prstGeom>
          <a:noFill/>
          <a:ln/>
        </p:spPr>
        <p:txBody>
          <a:bodyPr wrap="square" lIns="0" tIns="0" rIns="0" bIns="0" rtlCol="0" anchor="ctr"/>
          <a:lstStyle/>
          <a:p>
            <a:pPr eaLnBrk="0" algn="ctr" indent="0" marL="0">
              <a:buNone/>
            </a:pPr>
            <a:r>
              <a:rPr lang="en-US" sz="3400" b="1" dirty="0">
                <a:solidFill>
                  <a:srgbClr val="FFFFFF"/>
                </a:solidFill>
                <a:latin typeface="Batang" pitchFamily="34" charset="0"/>
                <a:ea typeface="Batang" pitchFamily="34" charset="-122"/>
                <a:cs typeface="Batang" pitchFamily="34" charset="-120"/>
              </a:rPr>
              <a:t>停動館</a:t>
            </a:r>
            <a:endParaRPr lang="en-US" sz="3400" dirty="0"/>
          </a:p>
        </p:txBody>
      </p:sp>
      <p:sp>
        <p:nvSpPr>
          <p:cNvPr id="20" name="Text 17"/>
          <p:cNvSpPr txBox="1"/>
          <p:nvPr/>
        </p:nvSpPr>
        <p:spPr>
          <a:xfrm>
            <a:off x="8412480" y="4480560"/>
            <a:ext cx="3136392" cy="640080"/>
          </a:xfrm>
          <a:prstGeom prst="rect">
            <a:avLst/>
          </a:prstGeom>
          <a:noFill/>
          <a:ln/>
        </p:spPr>
        <p:txBody>
          <a:bodyPr wrap="square" lIns="0" tIns="0" rIns="0" bIns="0" rtlCol="0" anchor="t"/>
          <a:lstStyle/>
          <a:p>
            <a:pPr eaLnBrk="0" algn="ctr" indent="0" marL="0">
              <a:buNone/>
            </a:pPr>
            <a:r>
              <a:rPr lang="en-US" sz="1100" dirty="0">
                <a:solidFill>
                  <a:srgbClr val="FFFFFF"/>
                </a:solidFill>
                <a:latin typeface="Malgun Gothic" pitchFamily="34" charset="0"/>
                <a:ea typeface="Malgun Gothic" pitchFamily="34" charset="-122"/>
                <a:cs typeface="Malgun Gothic" pitchFamily="34" charset="-120"/>
              </a:rPr>
              <a:t>전포 정동관</a:t>
            </a:r>
            <a:endParaRPr lang="en-US" sz="1100" dirty="0"/>
          </a:p>
          <a:p>
            <a:pPr eaLnBrk="0" algn="ctr" indent="0" marL="0">
              <a:buNone/>
            </a:pPr>
            <a:r>
              <a:rPr lang="en-US" sz="1100" dirty="0">
                <a:solidFill>
                  <a:srgbClr val="FFFFFF"/>
                </a:solidFill>
                <a:latin typeface="Malgun Gothic" pitchFamily="34" charset="0"/>
                <a:ea typeface="Malgun Gothic" pitchFamily="34" charset="-122"/>
                <a:cs typeface="Malgun Gothic" pitchFamily="34" charset="-120"/>
              </a:rPr>
              <a:t>낮에는 주차장, 밤에는 공연과 옥상 광장</a:t>
            </a:r>
            <a:endParaRPr lang="en-US" sz="1100" dirty="0"/>
          </a:p>
        </p:txBody>
      </p:sp>
      <p:sp>
        <p:nvSpPr>
          <p:cNvPr id="21" name="Text 18"/>
          <p:cNvSpPr txBox="1"/>
          <p:nvPr/>
        </p:nvSpPr>
        <p:spPr>
          <a:xfrm>
            <a:off x="8412480" y="5577840"/>
            <a:ext cx="3136392" cy="365760"/>
          </a:xfrm>
          <a:prstGeom prst="rect">
            <a:avLst/>
          </a:prstGeom>
          <a:noFill/>
          <a:ln/>
        </p:spPr>
        <p:txBody>
          <a:bodyPr wrap="square" lIns="0" tIns="0" rIns="0" bIns="0" rtlCol="0" anchor="t"/>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202325137 정성윤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전포 정동관 · 복합주차장 시안 (공설기 v1.2)</dc:title>
  <dc:subject>PptxGenJS Presentation</dc:subject>
  <dc:creator>정성윤</dc:creator>
  <cp:lastModifiedBy>정성윤</cp:lastModifiedBy>
  <cp:revision>1</cp:revision>
  <dcterms:created xsi:type="dcterms:W3CDTF">2026-10-12T12:20:29Z</dcterms:created>
  <dcterms:modified xsi:type="dcterms:W3CDTF">2026-10-12T12:20:29Z</dcterms:modified>
</cp:coreProperties>
</file>