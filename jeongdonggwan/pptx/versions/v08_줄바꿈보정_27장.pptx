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0add381-ba27-66ee-9fc6-d7ff5cd8da68}">
          <p14:sldIdLst>
            <p14:sldId id="256"/>
            <p14:sldId id="257"/>
            <p14:sldId id="258"/>
            <p14:sldId id="259"/>
            <p14:sldId id="260"/>
          </p14:sldIdLst>
        </p14:section>
        <p14:section name="MAIN SUBJECT" id="{45374430-0b3d-c3e0-6982-83fc10e85baf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ONCLUSION" id="{25b35eed-ab78-82df-a82d-1af4757dfcc1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확보율(%)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부산 전체(2021)</c:v>
                  </c:pt>
                  <c:pt idx="1">
                    <c:v>부산진구(2023)</c:v>
                  </c:pt>
                  <c:pt idx="2">
                    <c:v>개선지구 평균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130.5</c:v>
                </c:pt>
                <c:pt idx="1">
                  <c:v>118.5</c:v>
                </c:pt>
                <c:pt idx="2">
                  <c:v>69.1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주간 Leq 추정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북 · 서전로</c:v>
                  </c:pt>
                  <c:pt idx="1">
                    <c:v>서 · 전포대로</c:v>
                  </c:pt>
                  <c:pt idx="2">
                    <c:v>남 · 224번길</c:v>
                  </c:pt>
                  <c:pt idx="3">
                    <c:v>동 · 이면도로</c:v>
                  </c:pt>
                  <c:pt idx="4">
                    <c:v>동측 주거 경계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72</c:v>
                </c:pt>
                <c:pt idx="2">
                  <c:v>70</c:v>
                </c:pt>
                <c:pt idx="3">
                  <c:v>69</c:v>
                </c:pt>
                <c:pt idx="4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205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272C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F9DC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BBDE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BE2F5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주차장</c:v>
                </c:pt>
                <c:pt idx="1">
                  <c:v>문화 · 공연</c:v>
                </c:pt>
                <c:pt idx="2">
                  <c:v>상업 · 상인</c:v>
                </c:pt>
                <c:pt idx="3">
                  <c:v>코어</c:v>
                </c:pt>
                <c:pt idx="4">
                  <c:v>설비 · 지원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75.62</c:v>
                </c:pt>
                <c:pt idx="1">
                  <c:v>11.58</c:v>
                </c:pt>
                <c:pt idx="2">
                  <c:v>5.96</c:v>
                </c:pt>
                <c:pt idx="3">
                  <c:v>3.44</c:v>
                </c:pt>
                <c:pt idx="4">
                  <c:v>3.4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전포의 변천은 부산역사문화대전(밭개), 동의대신문 등(공구 골목 · 카페)을 따름. 방문객 수는 부산진구 집계를 인용한 2018년 보도이며 현재 수치가 아님. 교육청 신청사 · 청년 상권 협약은 계획 · 협약 단계이며 2026년 진행 상황은 확인하지 못함. 사당 사례는 구청 발표이고 같은 기간 에스컬레이터 설치 등 다른 사업이 함께 진행되어 주차 확충만의 효과로 볼 수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먹고 · 보고 · 듣고의 구분은 이 보고서의 설명 틀이며 통계 분류가 아님. 공연장 수는 문체부 공연예술조사 2022년 집계(전국 968곳 중 서울 319, 부산 55)이며 집계 기준에 따라 다른 수치도 있음. 대학로 관객 지출은 2013년 조사(공연 전 약 1.0만 원 + 후 약 1.0만 원)로 현재 수치가 아님. 1km 안 공연 시설 목록은 본 조사에서 대지 중심 직선거리로 확인한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대학로 소극장 비율은 문화지구 지정 이전 31%에서 20%로 줄었다는 경향신문 보도를 인용함. 부산 소극장 2020년 폐관은 부산일보 기획 기사 기준. 주차 수입의 공연장 교차 보조는 사업성 검토가 필요한 제안이며 본 시안 범위 밖. 소음 논리는 설계 논리이며 실측 · 차음 설계로 검증해야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도보 거리는 카카오맵 환산값. 소로 폭 약 6m · 5필지 733.1㎡는 토지이음 확인도면 기준 개략. 400대 초과 노외주차장은 입구와 출구를 분리해야 함(시행규칙 제5조). 대안 부지 비교는 하지 않았으며, 위 근거는 이 대지가 가진 이점의 나열임.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그림자는 본 시안 매스(5F 지붕 21.1m, 6F 홀 29.8m)와 NOAA 근사식으로 계산함. 주변 건물은 OSM 등록분만 반영해 저층이 빠져 있음. 일조 판단 시간대는 동지 9~15시로 가정함. 정북 일조 제한은 주거지역에만 적용되어 상업지역 대지에는 해당하지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소음 분포는 실측이 아니라 개략 추정임. OSM 도로를 5m 간격 점음원으로 바꾸고 10m 기준 Leq를 광로 · 대로 70, 3차 63, 주거 58 dB(A)로 가정했으며 건물 차폐와 지면 효과는 넣지 않음. 부산시 소음 측정망에 전포동 지점이 없어 현장 낮 · 밤 실측으로 교체해야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황령산 정상(427m)은 OSM 좌표 기준 대지에서 동쪽 약 1.47km, BIFC(289m)는 남쪽 약 1.15km. 눈높이는 1층 1.6m, 옥상 광장 22.7m. 주변 건물은 OSM 등록분(반경 약 420m)만 반영해 저층이 빠져 있어 조망이 실제보다 열려 보일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낮 장면: 같은 내용, 주간 렌더(Blender Cycles)와 공설기 Deck 토큰으로 구성함.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밤 장면: 같은 내용, 야간 렌더(Blender Cycles)와 공설기 Night 토큰(#0a1122 · 금색 select)으로 낮과 대비함.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렌더는 Blender 5.2 Cycles(192 샘플, OpenImageDenoise)이며 외피 슬랫 재질은 Poly Haven dark_wood 텍스처를 사용함. 슬랫 폭 0.15m, 피치 0.24m는 가정값임.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소로 시점은 황혼 조도로 렌더함. 차량은 단순 모형이며 실제 계획과 무관함.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기준안은 목재 슬랫 스크린(투시도 Ⅰ·Ⅱ). 아래 3안은 같은 매스에 사례의 외피 방식만 바꾼 비교용 렌더임. 평면 · 단면 · 면적은 바뀌지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기준안(상부 바닥면적 약 19,851㎡, 높이 29.8m)과 비교. 끝 코어 2곳과 1층 구성은 유지하고 2층 이상의 매스만 바꿈. 면적은 슬래브 폴리곤 면적 합이며 주차 대수는 재계산하지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4" Type="http://schemas.openxmlformats.org/officeDocument/2006/relationships/image" Target="../media/image-25-4.jpg"/><Relationship Id="rId5" Type="http://schemas.openxmlformats.org/officeDocument/2006/relationships/image" Target="../media/image-25-5.jpg"/><Relationship Id="rId6" Type="http://schemas.openxmlformats.org/officeDocument/2006/relationships/image" Target="../media/image-25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jpg"/><Relationship Id="rId4" Type="http://schemas.openxmlformats.org/officeDocument/2006/relationships/image" Target="../media/image-26-4.png"/><Relationship Id="rId5" Type="http://schemas.openxmlformats.org/officeDocument/2006/relationships/image" Target="../media/image-26-5.jp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sy07\AppData\Local\Temp\work\img2\cover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0"/>
            <a:ext cx="7223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공학설계기초</a:t>
            </a:r>
            <a:endParaRPr lang="ko-KR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774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복합주차장 정동관</a:t>
            </a:r>
            <a:endParaRPr lang="ko-KR" alt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375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건축계획</a:t>
            </a:r>
            <a:endParaRPr lang="ko-KR" alt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72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ko-KR" alt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6035040" cy="40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부산진구 전포동 207번지 일대 53필지 4,964.5㎡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4층 · 지상 6층 + 옥상 · 연면적 43,623.7㎡ · 주차 약 600대</a:t>
            </a:r>
            <a:endParaRPr lang="ko-KR" alt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ko-KR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351215" y="5669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46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4600" dirty="0"/>
          </a:p>
        </p:txBody>
      </p:sp>
      <p:sp>
        <p:nvSpPr>
          <p:cNvPr id="11" name="Shape 8"/>
          <p:cNvSpPr/>
          <p:nvPr/>
        </p:nvSpPr>
        <p:spPr>
          <a:xfrm>
            <a:off x="6568135" y="6519672"/>
            <a:ext cx="5623560" cy="338328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05295" y="6519672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투시도는 개념 볼륨 모델로 만든 이미지이며 실제 설계안이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DAE3F3"/>
          </a:solidFill>
          <a:ln/>
        </p:spPr>
      </p:sp>
      <p:pic>
        <p:nvPicPr>
          <p:cNvPr id="3" name="Image 0" descr="C:\Users\jsy07\AppData\Local\Temp\work\img2\contents_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76895" y="5760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50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spc="-5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 · 낮에는 주차장, 밤에는 공연과 옥상 광장</a:t>
            </a:r>
            <a:endParaRPr lang="ko-KR" alt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 · Ⅱ · Ⅲ</a:t>
            </a:r>
            <a:endParaRPr lang="ko-KR" alt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03–05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624328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715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 · 부지 선정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06–07</a:t>
            </a:r>
            <a:endParaRPr lang="ko-KR" alt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24612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 · 소음 · 조망</a:t>
            </a:r>
            <a:endParaRPr lang="ko-KR" alt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3054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08–10</a:t>
            </a:r>
            <a:endParaRPr lang="ko-KR" alt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24612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 · 사례 분석 Ⅰ~Ⅲ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3392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11–15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 · 최종안 · 투시도 Ⅰ · Ⅱ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16–19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425196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324612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 · 단면도</a:t>
            </a:r>
            <a:endParaRPr lang="ko-KR" alt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20–21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4681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 · 동선 및 진입</a:t>
            </a:r>
            <a:endParaRPr lang="ko-KR" alt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4681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22–23</a:t>
            </a:r>
            <a:endParaRPr lang="ko-KR" alt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246120" y="5020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675120" y="5020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ko-KR" alt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246120" y="5358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 · 형태 대안</a:t>
            </a:r>
            <a:endParaRPr lang="ko-KR" alt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5358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25–26</a:t>
            </a:r>
            <a:endParaRPr lang="ko-KR" alt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246120" y="5696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ko-KR" alt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5696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ko-KR" alt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22960" y="621792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5440680"/>
            <a:ext cx="2743200" cy="4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정성윤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964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받아 온 땅이 이제 차와 사람을 함께 받을 차례임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64492" y="466344"/>
            <a:ext cx="137699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부산역사문화대전(전포동) · 부산시 · 동의대신문(전포카페거리) · 국제신문 2018.10 · 중도일보 2026.9 · 부산일보 2024.9(교육청 신청사) · 부산진구(2026.4 협약) · 문화일보(사당) · 전국주차장정보표준데이터(2026.04) / 사당 수치는 구청 발표, 다른 사업 병행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03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9050">
            <a:solidFill>
              <a:srgbClr val="8493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02634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1463040"/>
            <a:ext cx="2072579" cy="52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예부터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갯가의 밭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田浦(밭개), 갯가의 논밭에서 온 이름</a:t>
            </a:r>
            <a:endParaRPr lang="ko-KR" alt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758093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04099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1960~70년대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골목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공장과 공구 · 철물점 500여 곳이 모인 산업 골목</a:t>
            </a:r>
            <a:endParaRPr lang="ko-KR" alt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13552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59558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2009년~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점포에 청년이 카페를 열고 2017년 뉴욕타임스에 소개</a:t>
            </a:r>
            <a:endParaRPr lang="ko-KR" alt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269011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017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상권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통합 운영단 협약</a:t>
            </a:r>
            <a:endParaRPr lang="ko-KR" alt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0524470" y="1216152"/>
            <a:ext cx="164592" cy="164592"/>
          </a:xfrm>
          <a:prstGeom prst="ellipse">
            <a:avLst/>
          </a:prstGeom>
          <a:solidFill>
            <a:srgbClr val="002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70476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4,964.5㎡ · 주차 약 600대 · 공연장 200석 · 옥상 광장</a:t>
            </a:r>
            <a:endParaRPr lang="ko-KR" alt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615184"/>
            <a:ext cx="2971800" cy="310896"/>
          </a:xfrm>
          <a:prstGeom prst="homePlate">
            <a:avLst/>
          </a:prstGeom>
          <a:solidFill>
            <a:srgbClr val="8493B2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ko-KR" altLang="en-US" sz="1100" dirty="0"/>
          </a:p>
        </p:txBody>
      </p:sp>
      <p:pic>
        <p:nvPicPr>
          <p:cNvPr id="27" name="Image 0" descr="C:\Users\jsy07\AppData\Local\Temp\work\img2\p_alley1.jpg">    </p:cNvPr>
          <p:cNvPicPr>
            <a:picLocks noChangeAspect="1"/>
          </p:cNvPicPr>
          <p:nvPr/>
        </p:nvPicPr>
        <p:blipFill>
          <a:blip r:embed="rId1"/>
          <a:srcRect l="0" r="0" t="21306" b="21306"/>
          <a:stretch/>
        </p:blipFill>
        <p:spPr>
          <a:xfrm>
            <a:off x="457200" y="3001975"/>
            <a:ext cx="2971800" cy="1432865"/>
          </a:xfrm>
          <a:prstGeom prst="rect">
            <a:avLst/>
          </a:prstGeom>
        </p:spPr>
      </p:pic>
      <p:pic>
        <p:nvPicPr>
          <p:cNvPr id="28" name="Image 1" descr="C:\Users\jsy07\AppData\Local\Temp\work\img2\p_alley2.jpg">    </p:cNvPr>
          <p:cNvPicPr>
            <a:picLocks noChangeAspect="1"/>
          </p:cNvPicPr>
          <p:nvPr/>
        </p:nvPicPr>
        <p:blipFill>
          <a:blip r:embed="rId2"/>
          <a:srcRect l="0" r="0" t="21306" b="21306"/>
          <a:stretch/>
        </p:blipFill>
        <p:spPr>
          <a:xfrm>
            <a:off x="457200" y="4510735"/>
            <a:ext cx="2971800" cy="143286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57200" y="6016752"/>
            <a:ext cx="297180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 이면도로 현장 (답사 2026.9)</a:t>
            </a:r>
            <a:endParaRPr lang="ko-KR" alt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3657600" y="2615184"/>
            <a:ext cx="4343400" cy="310896"/>
          </a:xfrm>
          <a:prstGeom prst="homePlate">
            <a:avLst/>
          </a:prstGeom>
          <a:solidFill>
            <a:srgbClr val="4272C4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ko-KR" alt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3703320" y="3001975"/>
            <a:ext cx="4251960" cy="80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저녁 약 1만 명, 주말 이틀 5만 명 이상 방문(2018, 구 집계)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공영주차장 27면, 인근 사설 3~4곳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불법주차가 몰리는 구간 약 300m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 구청 공청회에서 주민이 주차 공간 확충을 요구</a:t>
            </a:r>
            <a:endParaRPr lang="ko-KR" alt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657600" y="3966942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794760" y="3939510"/>
            <a:ext cx="4343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확보율 (%)</a:t>
            </a:r>
            <a:endParaRPr lang="ko-KR" altLang="en-US" sz="135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657600" y="4257721"/>
          <a:ext cx="4343400" cy="170416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3657600" y="5998464"/>
            <a:ext cx="434340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130% · 개선지구는 노후주거지 등 67곳 평균</a:t>
            </a:r>
            <a:endParaRPr lang="ko-KR" alt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8229600" y="2615184"/>
            <a:ext cx="3504895" cy="310896"/>
          </a:xfrm>
          <a:prstGeom prst="homePlate">
            <a:avLst/>
          </a:prstGeom>
          <a:solidFill>
            <a:srgbClr val="002060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ko-KR" alt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8275320" y="3001975"/>
            <a:ext cx="34134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교육청 신청사 계획: 놀이마루 부지, 연면적 약 4.35만㎡, 2031 이전 목표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2026.4 세 상권을 묶는 "전포 청년 상권" 운영단 협약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· 협약 단계이며 확정된 것은 아님</a:t>
            </a:r>
            <a:endParaRPr lang="ko-KR" alt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229600" y="4096512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366760" y="4069080"/>
            <a:ext cx="35048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늘려 상권이 산 사례</a:t>
            </a:r>
            <a:endParaRPr lang="ko-KR" alt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4387291"/>
          <a:ext cx="3504895" cy="914400"/>
        </p:xfrm>
        <a:graphic>
          <a:graphicData uri="http://schemas.openxmlformats.org/drawingml/2006/table">
            <a:tbl>
              <a:tblPr/>
              <a:tblGrid>
                <a:gridCol w="2590495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사당 · 공영 145면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조성 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유동인구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+4.5%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점포 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+5.0%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매출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+10.2%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41" name="Text 34"/>
          <p:cNvSpPr txBox="1"/>
          <p:nvPr/>
        </p:nvSpPr>
        <p:spPr>
          <a:xfrm>
            <a:off x="8229600" y="5560466"/>
            <a:ext cx="3504895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구청 발표이며 같은 기간 에스컬레이터 설치 등 다른 사업이 병행되어 주차 확충만의 효과는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· 보고는 채워졌고 듣고만 비어 공연장이 필요함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7447" y="466344"/>
            <a:ext cx="160404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 2025.9(전포카페거리) · 시빅뉴스(서면 3 · 4번가 르포) · 뉴욕타임스 2017 · 문화체육관광부 공연예술조사 2022 · 부산일보 2022(전용극장) · 고대신문(라이브클럽) · 서울문화재단 대학로 연극 실태조사 2013 · 본 조사(반경 내 현황조사, 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04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42416"/>
            <a:ext cx="3740810" cy="214884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16" name="Shape 13"/>
          <p:cNvSpPr/>
          <p:nvPr/>
        </p:nvSpPr>
        <p:spPr>
          <a:xfrm flipH="1">
            <a:off x="3905402" y="1933956"/>
            <a:ext cx="292608" cy="36576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</a:t>
            </a:r>
            <a:endParaRPr lang="ko-KR" alt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2844698" y="1316736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· 카페 · 식당</a:t>
            </a:r>
            <a:endParaRPr lang="ko-KR" alt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093976"/>
            <a:ext cx="3119018" cy="55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 첫 카페 이후 카페거리로 성장, 지금은 식당 · 술집이 카페 자리까지 채움(2025)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골목마다 맛집 투어 코스로 소개됨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16298" y="1042416"/>
            <a:ext cx="3740810" cy="2148840"/>
          </a:xfrm>
          <a:prstGeom prst="rect">
            <a:avLst/>
          </a:prstGeom>
          <a:solidFill>
            <a:srgbClr val="C5D3EC"/>
          </a:solidFill>
          <a:ln/>
        </p:spPr>
      </p:sp>
      <p:sp>
        <p:nvSpPr>
          <p:cNvPr id="22" name="Shape 19"/>
          <p:cNvSpPr/>
          <p:nvPr/>
        </p:nvSpPr>
        <p:spPr>
          <a:xfrm flipH="1">
            <a:off x="7664501" y="1933956"/>
            <a:ext cx="292608" cy="36576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490618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endParaRPr lang="ko-KR" altLang="en-US" sz="3800" dirty="0"/>
          </a:p>
        </p:txBody>
      </p:sp>
      <p:sp>
        <p:nvSpPr>
          <p:cNvPr id="24" name="Text 21"/>
          <p:cNvSpPr txBox="1"/>
          <p:nvPr/>
        </p:nvSpPr>
        <p:spPr>
          <a:xfrm>
            <a:off x="6603797" y="1316736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490618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풍경 · 사진 · SNS 감성</a:t>
            </a:r>
            <a:endParaRPr lang="ko-KR" alt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490618" y="2093976"/>
            <a:ext cx="3119018" cy="55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2017년 뉴욕타임스가 소개한 거리, 골목마다 SNS 감성 가게가 이어짐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MZ가 찾는 서면 3 · 4번가와 사잇길까지 번짐</a:t>
            </a:r>
            <a:endParaRPr lang="ko-KR" alt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93685" y="1060704"/>
            <a:ext cx="3722522" cy="2112264"/>
          </a:xfrm>
          <a:prstGeom prst="rect">
            <a:avLst/>
          </a:prstGeom>
          <a:ln w="38100">
            <a:solidFill>
              <a:srgbClr val="FFC000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8249717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</a:t>
            </a:r>
            <a:endParaRPr lang="ko-KR" altLang="en-US" sz="3800" dirty="0"/>
          </a:p>
        </p:txBody>
      </p:sp>
      <p:sp>
        <p:nvSpPr>
          <p:cNvPr id="29" name="Text 26"/>
          <p:cNvSpPr txBox="1"/>
          <p:nvPr/>
        </p:nvSpPr>
        <p:spPr>
          <a:xfrm>
            <a:off x="10362895" y="1316736"/>
            <a:ext cx="100584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있음</a:t>
            </a:r>
            <a:endParaRPr lang="ko-KR" alt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249717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음악 · 소리</a:t>
            </a:r>
            <a:endParaRPr lang="ko-KR" alt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249717" y="2093976"/>
            <a:ext cx="311901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객석형 소극장 없음(지하 라이브클럽 1곳)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1km 안에도 소극장급 공연장 없음, 스탠딩 라이브홀 · 연회장 · 대극장뿐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공연장 55곳, 서울 319곳(2022)</a:t>
            </a:r>
            <a:endParaRPr lang="ko-KR" alt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3371393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94360" y="3343961"/>
            <a:ext cx="112772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듣고만 비어 있는가</a:t>
            </a:r>
            <a:endParaRPr lang="ko-KR" alt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2172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6613855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비었나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200~300석이 없음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"부산에는 제대로 된 200석, 300석 극장이 없다"(지역 연극 제작자) / 소극장은 너무 작고 큰 공연장은 대관비가 부담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제도의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라이브클럽은 공연장이 아님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법적으로 식품접객업으로 분류되어 예술 지원에서 빠짐 / 부산 인디 공연이 한 곳에 몰린다는 보도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골목 안에 들어올 자리가 없음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임대료 오르는 상권에서 객석 공연장은 버티기 어려움 / 부산 소극장 2020년 두 곳 폐관(임대료 · 코로나)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457200" y="5867430"/>
            <a:ext cx="11277295" cy="3504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21792" y="5958870"/>
            <a:ext cx="10948111" cy="16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공연이 들어오면 먹고 · 보고와 이어짐: 대학로 관객은 공연 전후 1인당 약 2만 원을 식사 · 음료 · 주류에 씀(2013)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596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주차장이 공연장을 받치고 공연장이 주차장을 살림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6172" y="466344"/>
            <a:ext cx="174531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부산일보(소극장 폐관) · 경향신문 2023.12(대학로 소극장) · ArchDaily(1111 Lincoln Road · Park ’n’ Play · Blaibach) · miamiandbeaches.com · Bold Tendencies(boldtendencies.com) · theartsdesk / 국내에서 주차장과 공연장을 한 건물에 완공한 사례는 확인하지 못함(자체 조사)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05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1042416"/>
            <a:ext cx="42976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한 건물인가</a:t>
            </a:r>
            <a:endParaRPr lang="ko-KR" alt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4538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1499616"/>
            <a:ext cx="3429000" cy="80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극장 하나만으론 살아남기 어려움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상승 · 코로나)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대학로 소극장 비율 31% → 20%, 전 회차 매진에 가까워야 적자를 면함</a:t>
            </a:r>
            <a:endParaRPr lang="ko-KR" alt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2616175"/>
            <a:ext cx="429768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29021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2947904"/>
            <a:ext cx="3429000" cy="97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건물이 문화시설을 품어야 함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주차는 낮~저녁, 공연은 저녁~밤이라 같은 땅을 하루 두 번 씀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수입이 공연장 운영을 받치는 구조를 건물이 만듦(사업성은 별도 검토)</a:t>
            </a:r>
            <a:endParaRPr lang="ko-KR" alt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57200" y="4232163"/>
            <a:ext cx="429768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5181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563892"/>
            <a:ext cx="3429000" cy="100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건물이라 공연 소음이 건물 안에서는 문제가 적음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건물에 주거 · 숙박 · 학습처럼 소음에 민감한 용도가 없음(5F 업무 공간만 이중창으로 대응)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공연장은 지하에 두고 주차층이 도로와의 완충이 됨</a:t>
            </a:r>
            <a:endParaRPr lang="ko-KR" alt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0593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196535" y="1042416"/>
            <a:ext cx="6675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건물 안에서 이미 이뤄지고 있음</a:t>
            </a:r>
            <a:endParaRPr lang="ko-KR" alt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059375" y="1360627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Shape 25"/>
          <p:cNvSpPr/>
          <p:nvPr/>
        </p:nvSpPr>
        <p:spPr>
          <a:xfrm>
            <a:off x="5059375" y="1360627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29" name="Image 0" descr="C:\Users\jsy07\AppData\Local\Temp\work\img2\c_lincol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9103" y="1516075"/>
            <a:ext cx="960120" cy="1297459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257239" y="1488643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300대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행사 700명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마이애미비치 · Herzog &amp; de Meuron · 2010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약 300대 + 행사 공간(최대 700명)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층고를 키워 파티 · 패션쇼 · 콘서트에 씀</a:t>
            </a:r>
            <a:endParaRPr lang="ko-KR" altLang="en-US" sz="3000" dirty="0"/>
          </a:p>
        </p:txBody>
      </p:sp>
      <p:sp>
        <p:nvSpPr>
          <p:cNvPr id="31" name="Shape 27"/>
          <p:cNvSpPr/>
          <p:nvPr/>
        </p:nvSpPr>
        <p:spPr>
          <a:xfrm>
            <a:off x="8511235" y="1360627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Shape 28"/>
          <p:cNvSpPr/>
          <p:nvPr/>
        </p:nvSpPr>
        <p:spPr>
          <a:xfrm>
            <a:off x="8511235" y="1360627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Shape 29"/>
          <p:cNvSpPr/>
          <p:nvPr/>
        </p:nvSpPr>
        <p:spPr>
          <a:xfrm>
            <a:off x="8620963" y="1516075"/>
            <a:ext cx="960120" cy="1297459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8620963" y="1516075"/>
            <a:ext cx="960120" cy="1297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주차빌딩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상층부</a:t>
            </a:r>
            <a:endParaRPr lang="ko-KR" alt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9709099" y="1488643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155,631명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2018년 19주 · 31회 공연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Bold Tendencies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런던 Peckham · 다층 주차빌딩 상층부 · 2008~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쓰지 않던 주차 상층부에서 오페라 · 오케스트라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지자체와 장기 임대로 존속(2017)</a:t>
            </a:r>
            <a:endParaRPr lang="ko-KR" altLang="en-US" sz="3000" dirty="0"/>
          </a:p>
        </p:txBody>
      </p:sp>
      <p:sp>
        <p:nvSpPr>
          <p:cNvPr id="36" name="Shape 32"/>
          <p:cNvSpPr/>
          <p:nvPr/>
        </p:nvSpPr>
        <p:spPr>
          <a:xfrm>
            <a:off x="5059375" y="3755898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7" name="Shape 33"/>
          <p:cNvSpPr/>
          <p:nvPr/>
        </p:nvSpPr>
        <p:spPr>
          <a:xfrm>
            <a:off x="5059375" y="3755898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38" name="Image 1" descr="C:\Users\jsy07\AppData\Local\Temp\work\img2\c_blaiba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9103" y="3911346"/>
            <a:ext cx="960120" cy="1297459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257239" y="3883914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홀 + 지상 화강암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바이에른 · peter haimerl · 2014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홀을 지하에 묻고 지상은 화강암 블록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지하라 소음에 강함 → 정동관 B1~B2</a:t>
            </a:r>
            <a:endParaRPr lang="ko-KR" altLang="en-US" sz="3000" dirty="0"/>
          </a:p>
        </p:txBody>
      </p:sp>
      <p:sp>
        <p:nvSpPr>
          <p:cNvPr id="40" name="Shape 35"/>
          <p:cNvSpPr/>
          <p:nvPr/>
        </p:nvSpPr>
        <p:spPr>
          <a:xfrm>
            <a:off x="8511235" y="3755898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1" name="Shape 36"/>
          <p:cNvSpPr/>
          <p:nvPr/>
        </p:nvSpPr>
        <p:spPr>
          <a:xfrm>
            <a:off x="8511235" y="3755898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42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20963" y="3911346"/>
            <a:ext cx="960120" cy="1297459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709099" y="3883914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24m 시민 공간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코펜하겐 · JAJA Architects · 2016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 주차빌딩 옥상(24m)을 시민 공간으로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위에 공공 공간 → 정동관 옥상 광장</a:t>
            </a:r>
            <a:endParaRPr lang="ko-KR" altLang="en-US" sz="3000" dirty="0"/>
          </a:p>
        </p:txBody>
      </p:sp>
      <p:sp>
        <p:nvSpPr>
          <p:cNvPr id="44" name="Text 38"/>
          <p:cNvSpPr txBox="1"/>
          <p:nvPr/>
        </p:nvSpPr>
        <p:spPr>
          <a:xfrm>
            <a:off x="5059375" y="6016752"/>
            <a:ext cx="66751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주차장과 공연장을 한 건물에 완공한 사례는 확인하지 못함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26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53필지를 합쳐 한 블록으로 쓸 수 있는 대지임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70814" y="466344"/>
            <a:ext cx="2370673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토지이음 필지별 토지이용계획 조회(2026.10.11) · 「부산광역시 건축 조례」 별표4 / 필지 위치는 확인도면 정합으로 판별함, 치수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06</a:t>
            </a:r>
            <a:endParaRPr lang="ko-KR" altLang="en-US" sz="850" dirty="0"/>
          </a:p>
        </p:txBody>
      </p:sp>
      <p:pic>
        <p:nvPicPr>
          <p:cNvPr id="14" name="Image 0" descr="C:\Users\jsy07\AppData\Local\Temp\work\img\site_e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065769" cy="492861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4065769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98464"/>
            <a:ext cx="4065769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토지이용계획 확인도면 · 필지군 표시(개략)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2746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64625" y="1042416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개요</a:t>
            </a:r>
            <a:endParaRPr lang="ko-KR" alt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7465" y="1360627"/>
          <a:ext cx="6907031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960120"/>
                <a:gridCol w="4118111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구역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형상 · 접도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쐐기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1,531.9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전포대로(서)에 면한 쐐기형, 남단이 뾰족함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소로 부지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733.1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구역 사이 폭 약 6m, 남단 전포대로 · 북단 서전로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블록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2,699.5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서전로 · 224번길 · 동측 이면도로에 면한 삼각형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지목 대 48필지, 도로 5필지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4827465" y="303397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964625" y="3006547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조건</a:t>
            </a:r>
            <a:endParaRPr lang="ko-KR" alt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4827465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955481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용도지역 · 높이</a:t>
            </a:r>
            <a:endParaRPr lang="ko-KR" alt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4982913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일반상업지역 · 방화지구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가로구역별 최고높이 기준 130m, 최고 180m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 제한은 주거지역에만 적용됨</a:t>
            </a:r>
            <a:endParaRPr lang="ko-KR" alt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982913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 상한 90%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주차전용건축물은 용적률 1,500% 이하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계획은 건폐율 87.1%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395280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523296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· 건폐율</a:t>
            </a:r>
            <a:endParaRPr lang="ko-KR" alt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8550728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3m 이격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1,000㎡ 이상으로 북 · 남 면을 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 쪽은 면제</a:t>
            </a:r>
            <a:endParaRPr lang="ko-KR" alt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550728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뾰족한 끝을 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북단 약 352㎡, 서측 남단 약 158㎡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건폐율을 맞추고 끝 코어 자리로 씀</a:t>
            </a:r>
            <a:endParaRPr lang="ko-KR" alt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827465" y="5699730"/>
            <a:ext cx="6907031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992057" y="5791170"/>
            <a:ext cx="6577847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207-15 · 79는 제3종일반주거지역도 표기됨(상업지역으로 계산함). 207-84 · 85는 지목 대이나 도로로 쓰임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선정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27584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· 공백 · 형상이 모두 이 땅에 겹침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65974" y="466344"/>
            <a:ext cx="28755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카카오맵 도보 환산 · 토지이음 필지별 토지이용계획(2026.10.11) · 전국주차장정보표준데이터(2026.04) · 시설공단 · 부산진구(2026.4 협약) · 「주차장법 시행규칙」 제5조 / 지도 © OpenStreetMap contributors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07</a:t>
            </a:r>
            <a:endParaRPr lang="ko-KR" altLang="en-US" sz="850" dirty="0"/>
          </a:p>
        </p:txBody>
      </p:sp>
      <p:pic>
        <p:nvPicPr>
          <p:cNvPr id="15" name="Image 0" descr="C:\Users\jsy07\AppData\Local\Temp\work\img\transit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5401406" cy="492861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1042416"/>
            <a:ext cx="5401406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5998464"/>
            <a:ext cx="5401406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현황도 · 위치 개략</a:t>
            </a:r>
            <a:endParaRPr lang="ko-KR" alt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63102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300262" y="1042416"/>
            <a:ext cx="55713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땅이어야 하는 이유</a:t>
            </a:r>
            <a:endParaRPr lang="ko-KR" alt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163102" y="2309317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163102" y="1360627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6620302" y="1360627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역 사이에 놓인 땅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서면역 737m · 전포역 529m, 어느 역에서도 걸어서 닿음</a:t>
            </a:r>
            <a:endParaRPr lang="ko-KR" alt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163102" y="3295955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63102" y="2347265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6620302" y="2347265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상권이 만나는 결절점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2026.4 통합 청년 상권 협약으로 묶임</a:t>
            </a:r>
            <a:endParaRPr lang="ko-KR" alt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163102" y="4282592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63102" y="3333902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6620302" y="3333902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공영주차장이 비어 있는 자리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 27면, 1km 이내 약 415면</a:t>
            </a:r>
            <a:endParaRPr lang="ko-KR" alt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163102" y="5269230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163102" y="4320540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6620302" y="4320540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6m 소로를 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길을 뚫지 않고 소로 5필지(733.1㎡)를 차량 전용 차로로 돌려 씀</a:t>
            </a:r>
            <a:endParaRPr lang="ko-KR" alt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163102" y="6255868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63102" y="5307178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6620302" y="5307178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도로에 면해 입구와 출구를 가름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전포대로(서) · 서전로(북) · 224번길(남), 400대 초과 시 입출구 분리 요건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161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0489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342053" y="182880"/>
            <a:ext cx="3334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동 면은 슬랫으로 거르고 광장은 남쪽에 둠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9658" y="466344"/>
            <a:ext cx="238182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NOAA 태양 위치 근사식(북위 35.157°) · OpenStreetMap contributors(주변 건물 일부 누락) · 본 시안 매스 계산 / 직사 시간은 고도 5° 이상, 가림 없음 가정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08</a:t>
            </a:r>
            <a:endParaRPr lang="ko-KR" altLang="en-US" sz="850" dirty="0"/>
          </a:p>
        </p:txBody>
      </p:sp>
      <p:pic>
        <p:nvPicPr>
          <p:cNvPr id="15" name="Image 0" descr="C:\Users\jsy07\AppData\Local\Temp\work\img\shadow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7416597" cy="24596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529538"/>
            <a:ext cx="7416597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그림자 · 동지 09 · 12 · 15시, 지붕 설비 포함 높이 29.8m 기준 (붉은 선 = 대지, 점선 = 제3종일반주거 경계 약 45m)</a:t>
            </a:r>
            <a:endParaRPr lang="ko-KR" altLang="en-US" sz="950" dirty="0"/>
          </a:p>
        </p:txBody>
      </p:sp>
      <p:pic>
        <p:nvPicPr>
          <p:cNvPr id="17" name="Image 1" descr="C:\Users\jsy07\AppData\Local\Temp\work\img\shadow_hou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5280"/>
            <a:ext cx="1999542" cy="19885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861304"/>
            <a:ext cx="1999542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09~15시 그림자 누적 시간</a:t>
            </a:r>
            <a:endParaRPr lang="ko-KR" alt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85342" y="3845280"/>
          <a:ext cx="518845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07949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동지 / 하지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456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· 전포대로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4.3h(오후) / 6.7h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서향 일사와 도로 소음이 함께 닿음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· 이면도로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4.3h(오전) / 6.8h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15시경 주거 경계에 이름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남측 · 224번길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8.6h / 6.9h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고도 31.4°, 깊이 들어옴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북측 · 서전로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0h / 새벽 · 저녁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없음, 그림자는 도로 쪽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20" name="Image 2" descr="C:\Users\jsy07\AppData\Local\Temp\work\img\sunpa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710" y="1042416"/>
            <a:ext cx="2761673" cy="29718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78597" y="404164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 경로 · 대지 위치 (원 안쪽이 높은 고도)</a:t>
            </a:r>
            <a:endParaRPr lang="ko-KR" alt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8178597" y="4357390"/>
            <a:ext cx="3555898" cy="18605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8306613" y="4467118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ko-KR" alt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8334045" y="4886310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영향 없음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홀(29.1m)이 광장의 북쪽에 있음</a:t>
            </a:r>
            <a:endParaRPr lang="ko-KR" alt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8334045" y="5623987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주거 경계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0.5h 미만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40410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큰 실은 지하 · 최상층 안쪽에 두고 서 · 북 면은 닫음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40562" y="466344"/>
            <a:ext cx="210092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「환경정책기본법 시행령」 별표 · OpenStreetMap contributors · 현장 답사(2026.9) / dB은 가정 교통량 기반 개략 추정 / 사진: Petr Meissner, CC BY 2.0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09</a:t>
            </a:r>
            <a:endParaRPr lang="ko-KR" altLang="en-US" sz="850" dirty="0"/>
          </a:p>
        </p:txBody>
      </p:sp>
      <p:pic>
        <p:nvPicPr>
          <p:cNvPr id="15" name="Image 0" descr="C:\Users\jsy07\AppData\Local\Temp\work\img\nois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917" y="1042416"/>
            <a:ext cx="2896465" cy="30175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408736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Leq 추정 분포 · ● 면별 평가점(북 · 서 · 남 · 동 · 주거 경계)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n_p1.jpg">    </p:cNvPr>
          <p:cNvPicPr>
            <a:picLocks noChangeAspect="1"/>
          </p:cNvPicPr>
          <p:nvPr/>
        </p:nvPicPr>
        <p:blipFill>
          <a:blip r:embed="rId2"/>
          <a:srcRect l="24006" r="24006" t="0" b="0"/>
          <a:stretch/>
        </p:blipFill>
        <p:spPr>
          <a:xfrm>
            <a:off x="457200" y="4326301"/>
            <a:ext cx="1134703" cy="1891619"/>
          </a:xfrm>
          <a:prstGeom prst="rect">
            <a:avLst/>
          </a:prstGeom>
        </p:spPr>
      </p:pic>
      <p:pic>
        <p:nvPicPr>
          <p:cNvPr id="18" name="Image 2" descr="C:\Users\jsy07\AppData\Local\Temp\work\img2\n_p2.jpg">    </p:cNvPr>
          <p:cNvPicPr>
            <a:picLocks noChangeAspect="1"/>
          </p:cNvPicPr>
          <p:nvPr/>
        </p:nvPicPr>
        <p:blipFill>
          <a:blip r:embed="rId3"/>
          <a:srcRect l="24006" r="24006" t="0" b="0"/>
          <a:stretch/>
        </p:blipFill>
        <p:spPr>
          <a:xfrm>
            <a:off x="1667798" y="4326301"/>
            <a:ext cx="1134703" cy="1891619"/>
          </a:xfrm>
          <a:prstGeom prst="rect">
            <a:avLst/>
          </a:prstGeom>
        </p:spPr>
      </p:pic>
      <p:pic>
        <p:nvPicPr>
          <p:cNvPr id="19" name="Image 3" descr="C:\Users\jsy07\AppData\Local\Temp\work\img2\n_p3.jpg">    </p:cNvPr>
          <p:cNvPicPr>
            <a:picLocks noChangeAspect="1"/>
          </p:cNvPicPr>
          <p:nvPr/>
        </p:nvPicPr>
        <p:blipFill>
          <a:blip r:embed="rId4"/>
          <a:srcRect l="24006" r="24006" t="0" b="0"/>
          <a:stretch/>
        </p:blipFill>
        <p:spPr>
          <a:xfrm>
            <a:off x="2878396" y="4326301"/>
            <a:ext cx="1134703" cy="189161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317898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4455058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환경기준 (dB)</a:t>
            </a:r>
            <a:endParaRPr lang="ko-KR" alt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898" y="1360627"/>
          <a:ext cx="355589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"/>
                <a:gridCol w="411480"/>
                <a:gridCol w="117845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서·북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가 ·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3" name="Shape 15"/>
          <p:cNvSpPr/>
          <p:nvPr/>
        </p:nvSpPr>
        <p:spPr>
          <a:xfrm>
            <a:off x="4317898" y="298825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4455058" y="2960827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면별 주간 추정치 (dB(A), 가정)</a:t>
            </a:r>
            <a:endParaRPr lang="ko-KR" alt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4317898" y="5998464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교통량 기반 개략 추정 · 현장 실측으로 교체 필요</a:t>
            </a:r>
            <a:endParaRPr lang="ko-KR" alt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317898" y="3279038"/>
          <a:ext cx="3555898" cy="266456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Shape 18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공간별 대응</a:t>
            </a:r>
            <a:endParaRPr lang="ko-KR" alt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8178597" y="1360627"/>
            <a:ext cx="3555898" cy="22834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8306613" y="1470355"/>
            <a:ext cx="70756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홀</a:t>
            </a:r>
            <a:endParaRPr lang="ko-KR" altLang="en-US" sz="950" dirty="0"/>
          </a:p>
        </p:txBody>
      </p:sp>
      <p:sp>
        <p:nvSpPr>
          <p:cNvPr id="31" name="Text 22"/>
          <p:cNvSpPr txBox="1"/>
          <p:nvPr/>
        </p:nvSpPr>
        <p:spPr>
          <a:xfrm>
            <a:off x="8334045" y="1970428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 B1~B2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박스인박스와 방진 바닥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선큰 마당 쪽 로비가 완충</a:t>
            </a:r>
            <a:endParaRPr lang="ko-KR" alt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8334045" y="2788985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차음 지붕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북 면은 닫고 남쪽 광장으로 개구</a:t>
            </a:r>
            <a:endParaRPr lang="ko-KR" alt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178597" y="3796824"/>
            <a:ext cx="3555898" cy="2421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8306613" y="3906552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· 업무</a:t>
            </a:r>
            <a:endParaRPr lang="ko-KR" altLang="en-US" sz="950" dirty="0"/>
          </a:p>
        </p:txBody>
      </p:sp>
      <p:sp>
        <p:nvSpPr>
          <p:cNvPr id="35" name="Text 26"/>
          <p:cNvSpPr txBox="1"/>
          <p:nvPr/>
        </p:nvSpPr>
        <p:spPr>
          <a:xfrm>
            <a:off x="8334045" y="4371626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· 램프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바닥이 덮은 높이 7m 통로</a:t>
            </a:r>
            <a:endParaRPr lang="ko-KR" alt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8334045" y="4974865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하역 · 이륜차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 제한 검토</a:t>
            </a:r>
            <a:endParaRPr lang="ko-KR" alt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8334045" y="5578105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 상인회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 쪽, 서측 이중창 검토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3128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조망은 옥상 광장에서 얻고 남 · 동으로만 엶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27808" y="466344"/>
            <a:ext cx="301368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OSM 좌표 · 「위키백과」 황령산 427m · BIFC 289m · 본 시안 매스 / 앙각은 지면 8m 가정, 능선 형상은 반영 안 됨 / 사진: Christian Bolz, CC BY-SA 4.0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10</a:t>
            </a:r>
            <a:endParaRPr lang="ko-KR" altLang="en-US" sz="850" dirty="0"/>
          </a:p>
        </p:txBody>
      </p:sp>
      <p:pic>
        <p:nvPicPr>
          <p:cNvPr id="15" name="Image 0" descr="C:\Users\jsy07\AppData\Local\Temp\work\img\view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11277295" cy="226461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325323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스카이라인 앙각 분석 · 옥상 광장과 1층 가로, 주변 건물과 정동관 매스 포함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view_jeonpo.jpg">    </p:cNvPr>
          <p:cNvPicPr>
            <a:picLocks noChangeAspect="1"/>
          </p:cNvPicPr>
          <p:nvPr/>
        </p:nvPicPr>
        <p:blipFill>
          <a:blip r:embed="rId2"/>
          <a:srcRect l="24337" r="24337" t="0" b="0"/>
          <a:stretch/>
        </p:blipFill>
        <p:spPr>
          <a:xfrm>
            <a:off x="457200" y="3641066"/>
            <a:ext cx="2590724" cy="233911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998464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BIFC · 서면 일대 조망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view_roof.jpg">    </p:cNvPr>
          <p:cNvPicPr>
            <a:picLocks noChangeAspect="1"/>
          </p:cNvPicPr>
          <p:nvPr/>
        </p:nvPicPr>
        <p:blipFill>
          <a:blip r:embed="rId3"/>
          <a:srcRect l="18115" r="18115" t="0" b="0"/>
          <a:stretch/>
        </p:blipFill>
        <p:spPr>
          <a:xfrm>
            <a:off x="3352724" y="3641066"/>
            <a:ext cx="2590724" cy="233911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352724" y="5998464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시뮬레이션(개념 모델)</a:t>
            </a:r>
            <a:endParaRPr lang="ko-KR" alt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641066"/>
          <a:ext cx="548624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00200"/>
                <a:gridCol w="777240"/>
                <a:gridCol w="146288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방위 · 거리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앙각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황령산 정상 427m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 87° · 1.47km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15.1°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상단만 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BIFC 289m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 184° · 1.15km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12.6°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서면 도심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 · 약 0.6km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고층군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6248248" y="5699730"/>
            <a:ext cx="5486248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412840" y="5791170"/>
            <a:ext cx="515706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가로는 자체 매스가 동쪽을 가려 황령산이 보이지 않음. 옥상 광장은 열린 각도 약 128°, 동남동 29~30층 아파트 위로 능선 상단이 걸침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7"/>
          </a:solidFill>
          <a:ln/>
        </p:spPr>
      </p:sp>
      <p:pic>
        <p:nvPicPr>
          <p:cNvPr id="3" name="Image 0" descr="C:\Users\jsy07\AppData\Local\Temp\work\img2\concept_d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· 停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A0A2A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11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2"/>
          </a:solidFill>
          <a:ln/>
        </p:spPr>
      </p:sp>
      <p:pic>
        <p:nvPicPr>
          <p:cNvPr id="3" name="Image 0" descr="C:\Users\jsy07\AppData\Local\Temp\work\img2\concept_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0A11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動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3D48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F2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8FB0E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3D486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12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대지의 주차빌딩은 램프를 줄이고 1층을 열었음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4338" y="466344"/>
            <a:ext cx="160714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JOHO Architecture(헤르마 주차빌딩, 사진 Namgoong Sun · Jeonghoon Lee) · arch2o · 서울경제 2016.02.26 · 자체 조사(2026.9) / 평택 JS타워는 도면 미공개로 사진 판독, 사진 출처 미확인(저장소 자료)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13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헤르마 주차빌딩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JOHO Architecture · 용인 죽전 카페거리 초입 · 2010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her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herm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</a:t>
            </a:r>
            <a:endParaRPr lang="ko-KR" alt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약 14m의 사선 대지에서 램프 폭을 6m에서 3.3m로 줄이고 삼각 보이드를 계단이 감아 오름, ③ 코어는 평면 중앙에 둠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반투명 폴리카보네이트 패널과 타공 밴드, 층마다 개구 패턴이 달라 자연환기와 확산광을 얻음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024128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상가가 가로와 주차층 사이 완충이 되고 밤에는 차량 불빛이 외피를 통해 가로에 비침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Shape 25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1층을 가로에 열고, 뾰족한 끝을 순환 계단 코어로 둠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JS타워</a:t>
            </a:r>
            <a:endParaRPr lang="ko-KR" alt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· 대지 2,505㎡</a:t>
            </a:r>
            <a:endParaRPr lang="ko-KR" altLang="en-US" sz="950" dirty="0"/>
          </a:p>
        </p:txBody>
      </p:sp>
      <p:pic>
        <p:nvPicPr>
          <p:cNvPr id="34" name="Image 2" descr="C:\Users\jsy07\AppData\Local\Temp\work\img2\c_j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5" name="Image 3" descr="C:\Users\jsy07\AppData\Local\Temp\work\img2\d_j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248248" y="4526614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48248" y="4016362"/>
            <a:ext cx="457200" cy="4828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6815176" y="4016362"/>
            <a:ext cx="4827880" cy="48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곡면 금속 루버 밴드가 층마다 이어져 주차층을 감싸고 일사와 외부 시선을 거름(사진 판독)</a:t>
            </a:r>
            <a:endParaRPr lang="ko-KR" alt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248248" y="5064297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48248" y="4554046"/>
            <a:ext cx="457200" cy="4828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815176" y="4554046"/>
            <a:ext cx="4827880" cy="48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흑벽돌 아치 상가가 가로를 향해 열리고 ③ 진출입은 중앙 한 곳으로 모음, ④ 벽돌 타공 띠가 상가와 주차층을 구분함</a:t>
            </a:r>
            <a:endParaRPr lang="ko-KR" alt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248248" y="5091729"/>
            <a:ext cx="457200" cy="315118"/>
          </a:xfrm>
          <a:prstGeom prst="rect">
            <a:avLst/>
          </a:prstGeom>
          <a:solidFill>
            <a:srgbClr val="8493B2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248248" y="5091729"/>
            <a:ext cx="457200" cy="31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6815176" y="5091729"/>
            <a:ext cx="4827880" cy="31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스킵플로어로 램프 면적을 줄여 주차 효율을 높임(자체 작성 단면)</a:t>
            </a:r>
            <a:endParaRPr lang="ko-KR" alt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8" name="Shape 42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이상 스킵플로어, 줄인 램프 면적을 공연장에 배분함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4442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슬랫으로 감싸고 옥상은 시민에게 열었음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43833" y="466344"/>
            <a:ext cx="189765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dJGA + MODULO(Saint-Luc, 사진 Lieven Van Landschoot) · JAJA Architects(Park ’n’ Play, 사진 Rasmus Hjortshøj / COAST)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14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Jong Gortemaker Algra + MODULO · 브뤼셀 · 2016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saintlu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saintlu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58027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5364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1·2·3</a:t>
            </a:r>
            <a:endParaRPr lang="ko-KR" alt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53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녹지 아래 지상 2층 · 지하 3층 데크(985대), 경사지에 묻혀 지붕이 녹지로 이어짐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5003914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607705"/>
            <a:ext cx="457200" cy="3687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607705"/>
            <a:ext cx="4827880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협곡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둘레의 구불구불한 틈이 최하층까지 빛과 공기를 들임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2755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5031346"/>
            <a:ext cx="457200" cy="3687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024128" y="5031346"/>
            <a:ext cx="4827880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물결치는 목재 슬랫 입면이 주차 데크를 감쌈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Shape 25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외피를 목재 슬랫 스크린으로 구성, 두 끝을 비워 지하 공연장까지 빛을 내림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JAJA Architects · 코펜하겐 노르드하운 · 2016</a:t>
            </a:r>
            <a:endParaRPr lang="ko-KR" altLang="en-US" sz="950" dirty="0"/>
          </a:p>
        </p:txBody>
      </p:sp>
      <p:pic>
        <p:nvPicPr>
          <p:cNvPr id="34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5" name="Image 3" descr="C:\Users\jsy07\AppData\Local\Temp\work\img2\d_pn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248248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48248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6815176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약 24m에서 시민에게 열린 놀이 · 운동 공간, 코펜하겐 항구 방향이 열림</a:t>
            </a:r>
            <a:endParaRPr lang="ko-KR" alt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248248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48248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815176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공공계단 두 줄이 지상에서 옥상까지 비스듬히 이어짐(평면 코너 계단과 같은 동선)</a:t>
            </a:r>
            <a:endParaRPr lang="ko-KR" alt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248248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50" dirty="0"/>
          </a:p>
        </p:txBody>
      </p:sp>
      <p:sp>
        <p:nvSpPr>
          <p:cNvPr id="45" name="Text 39"/>
          <p:cNvSpPr txBox="1"/>
          <p:nvPr/>
        </p:nvSpPr>
        <p:spPr>
          <a:xfrm>
            <a:off x="6815176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플랜터 그리드와 타공 벽체가 주차층을 자연환기함, ④ 주차층 평면의 원형 램프가 층을 이음</a:t>
            </a:r>
            <a:endParaRPr lang="ko-KR" alt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7" name="Shape 41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광장(약 1,380㎡)과 개방 순환 계단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1934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공연과 행사는 지하 홀과 높은 층고에 담았음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3013" y="466344"/>
            <a:ext cx="21484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peter haimerl.architektur(Blaibach, 도면 · 사진 NAARO) · Herzog &amp; de Meuron(1111 Lincoln Road, 사진 Phillip Pessar CC BY 2.0 · 삽입 사진 ArchDaily)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15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peter haimerl.architektur · 독일 바이에른 · 2014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blaiba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blaiba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</a:t>
            </a:r>
            <a:endParaRPr lang="ko-KR" alt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객석과 무대를 지하에 묻어 길게 배치, ③ 로비 · 바 · 화장실이 객석 위쪽에서 완충층이 됨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기울어진 화강암 블록만 지상에 노출, ⑤ 지하 로비와 ⑥ 계단이 블록 밑면에서 내려감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solidFill>
            <a:srgbClr val="8493B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1024128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콘크리트 셸이 음향과 차음을 함께 풀고, 지상 블록은 마을 광장의 랜드마크가 됨</a:t>
            </a:r>
            <a:endParaRPr lang="ko-KR" alt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Shape 26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공연장을 B1~B2에 두고 선큰 마당에서 내려가는 진입</a:t>
            </a:r>
            <a:endParaRPr lang="ko-KR" alt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Herzog &amp; de Meuron · 마이애미 비치 · 2010</a:t>
            </a:r>
            <a:endParaRPr lang="ko-KR" altLang="en-US" sz="950" dirty="0"/>
          </a:p>
        </p:txBody>
      </p:sp>
      <p:pic>
        <p:nvPicPr>
          <p:cNvPr id="35" name="Image 2" descr="C:\Users\jsy07\AppData\Local\Temp\work\img2\c_lincol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6" name="Image 3" descr="C:\Users\jsy07\AppData\Local\Temp\work\img2\d_lincol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248248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248248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6815176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 · 기둥 · 램프만으로 이룬 개방 구조, 층고는 약 2.1m(주차)에서 최대 약 10.4m까지 변함</a:t>
            </a:r>
            <a:endParaRPr lang="ko-KR" alt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248248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248248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6815176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계단과 보이드가 층 사이를 열고 ④ 주차 데크는 외기에 열림(공식 도면 S1 · 2층 평면)</a:t>
            </a:r>
            <a:endParaRPr lang="ko-KR" alt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248248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6815176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소매 14개 유닛이 가로를 향해 열리고 상부 층은 행사 · 문화 · 상업에 탄력적으로 쓰임</a:t>
            </a:r>
            <a:endParaRPr lang="ko-KR" alt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8" name="Shape 42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가변홀(층고 8m)과 5F 전환 층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453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끝을 비워 이격을 맞추고 그 자리를 얼굴로 씀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61283" y="466344"/>
            <a:ext cx="218020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시안(개념 볼륨 스터디, 축측 투영: Blender) · 면적은 개략이며 형태는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16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vol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090" y="1375268"/>
            <a:ext cx="2011680" cy="25117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529779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19654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7670" y="4176873"/>
            <a:ext cx="1874520" cy="142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합필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+ 소로 + 동측 4,964.5㎡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쐐기만으로는 건축 가능 바닥이 약 920㎡라 램프가 면적을 잠식함</a:t>
            </a:r>
            <a:endParaRPr lang="ko-KR" altLang="en-US" sz="1350" dirty="0"/>
          </a:p>
        </p:txBody>
      </p:sp>
      <p:pic>
        <p:nvPicPr>
          <p:cNvPr id="18" name="Image 1" descr="C:\Users\jsy07\AppData\Local\Temp\work\img2\vol_ste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549" y="1375268"/>
            <a:ext cx="2011680" cy="25117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85238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2775113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03129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전용 소로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층고 7m, 차로 위는 비움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차량을 소로에 모으고 가로에는 차가 드나들지 않게 함</a:t>
            </a:r>
            <a:endParaRPr lang="ko-KR" altLang="en-US" sz="1350" dirty="0"/>
          </a:p>
        </p:txBody>
      </p:sp>
      <p:pic>
        <p:nvPicPr>
          <p:cNvPr id="22" name="Image 2" descr="C:\Users\jsy07\AppData\Local\Temp\work\img2\vol_ste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008" y="1375268"/>
            <a:ext cx="2011680" cy="25117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40697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5030572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158588" y="4176873"/>
            <a:ext cx="1874520" cy="105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2층부터 한 판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위로 이은 바닥, 북 · 남 3m 이격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층 4,322.1㎡의 정형 바닥, 법정 이격 확보</a:t>
            </a:r>
            <a:endParaRPr lang="ko-KR" altLang="en-US" sz="1350" dirty="0"/>
          </a:p>
        </p:txBody>
      </p:sp>
      <p:pic>
        <p:nvPicPr>
          <p:cNvPr id="26" name="Image 3" descr="C:\Users\jsy07\AppData\Local\Temp\work\img2\vol_step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467" y="1375268"/>
            <a:ext cx="2011680" cy="25117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96156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286031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414047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끝을 비워 코어로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승강기, 건폐율 87.1%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주차가 어려운 좁은 끝을 사람 이동의 중심으로 씀</a:t>
            </a:r>
            <a:endParaRPr lang="ko-KR" altLang="en-US" sz="1350" dirty="0"/>
          </a:p>
        </p:txBody>
      </p:sp>
      <p:pic>
        <p:nvPicPr>
          <p:cNvPr id="30" name="Image 4" descr="C:\Users\jsy07\AppData\Local\Temp\work\img2\vol_step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926" y="1375268"/>
            <a:ext cx="2011680" cy="251174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541490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9669506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스킵플로어·홀·광장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소로가 반 층의 이음매, 6F 가변홀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램프를 줄이고 비는 시간과 위아래 층에 공연 · 체육 · 광장을 담음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3537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75.62%로 요건을 맞추고 공연과 광장을 얹음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3349" y="466344"/>
            <a:ext cx="2388138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시안(면적 계산 · 투시도) · 「주차장법」 제12조의2 / 모든 수치는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17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final_drone.jpg">    </p:cNvPr>
          <p:cNvPicPr>
            <a:picLocks noChangeAspect="1"/>
          </p:cNvPicPr>
          <p:nvPr/>
        </p:nvPicPr>
        <p:blipFill>
          <a:blip r:embed="rId1"/>
          <a:srcRect l="9937" r="9937" t="0" b="0"/>
          <a:stretch/>
        </p:blipFill>
        <p:spPr>
          <a:xfrm>
            <a:off x="457200" y="1042416"/>
            <a:ext cx="5486248" cy="385236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4922215"/>
            <a:ext cx="548624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시점 조감 투시도 · 남서쪽 상공</a:t>
            </a:r>
            <a:endParaRPr lang="ko-KR" alt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85232"/>
          <a:ext cx="5486248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554480"/>
                <a:gridCol w="868680"/>
                <a:gridCol w="219440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4,322.1㎡ (건폐율 87.1%)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481.9% (지하 제외)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약 29.1m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 600대 (75.62%)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248248" y="1042416"/>
            <a:ext cx="1051560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요구</a:t>
            </a:r>
            <a:endParaRPr lang="ko-KR" alt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7336384" y="1042416"/>
            <a:ext cx="105156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의도</a:t>
            </a:r>
            <a:endParaRPr lang="ko-KR" alt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48248" y="1316736"/>
            <a:ext cx="5486248" cy="880842"/>
          </a:xfrm>
          <a:prstGeom prst="rect">
            <a:avLst/>
          </a:prstGeom>
          <a:ln w="15875">
            <a:solidFill>
              <a:srgbClr val="00206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31128" y="1444752"/>
            <a:ext cx="5120488" cy="64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한 블록에 모아 상권의 주차 부족과 이면도로 불법주차를 흡수함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비는 시간과 위아래 층에 공연 · 체육 · 광장을 담음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상인회와 주민이 쓰는 공용 공간을 둠</a:t>
            </a:r>
            <a:endParaRPr lang="ko-KR" alt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48248" y="2350282"/>
            <a:ext cx="160020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및 의도 Check</a:t>
            </a:r>
            <a:endParaRPr lang="ko-KR" alt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48248" y="2606314"/>
            <a:ext cx="5486248" cy="809793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31128" y="2734330"/>
            <a:ext cx="5120488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시설을 한 블록에 모두 배치한 것 확인</a:t>
            </a:r>
            <a:endParaRPr lang="ko-KR" alt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비율 75.62%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(요건 70% 이상)로 주차전용건축물 요건 충족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동선(소로)과 보행 동선(1층 외곽) 분리 확인</a:t>
            </a:r>
            <a:endParaRPr lang="ko-KR" alt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48248" y="367213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85408" y="3644707"/>
            <a:ext cx="54862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 요약</a:t>
            </a:r>
            <a:endParaRPr lang="ko-KR" altLang="en-US" sz="13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962918"/>
          <a:ext cx="548624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26128"/>
              </a:tblGrid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서점 · 카페 · 공연 로비 / 소로 차량 전용 차로 / 동측 근생 · 램프 · 정산 · 이륜차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스킵플로어 주차 (서측 판 7.0 · 10.3 · 13.6m, 동측 판 +1.65m)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1,200㎡ + 전환 가능 주차층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6층 · 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가변홀(층고 8m) + 옥상 광장 약 1,380㎡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 · B2 공연장 200석(선큰 마당으로 진입), B3 · B4 주차 · 설비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· 외피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2곳 + 보조 피난계단 2곳, 주차층 목재 슬랫 스크린 · 검은 순환 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6506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주차층은 슬랫으로 감싸고 홀과 계단은 켜서 드러냄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58154" y="466344"/>
            <a:ext cx="198333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투시도: 개념 볼륨 모델, Blender Cycles 렌더 · 하늘 HDRI · 텍스처 · 나무: Poly Haven(CC0) · 주변 건물: OpenStreetMap 높이 자료와 단순 가상 매스 /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18</a:t>
            </a:r>
            <a:endParaRPr lang="ko-KR" altLang="en-US" sz="850" dirty="0"/>
          </a:p>
        </p:txBody>
      </p:sp>
      <p:pic>
        <p:nvPicPr>
          <p:cNvPr id="15" name="Image 0" descr="C:\Users\jsy07\AppData\Local\Temp\work\img2\r_big_hero.jpg">    </p:cNvPr>
          <p:cNvPicPr>
            <a:picLocks noChangeAspect="1"/>
          </p:cNvPicPr>
          <p:nvPr/>
        </p:nvPicPr>
        <p:blipFill>
          <a:blip r:embed="rId1"/>
          <a:srcRect l="49" r="49" t="0" b="0"/>
          <a:stretch/>
        </p:blipFill>
        <p:spPr>
          <a:xfrm>
            <a:off x="457200" y="1042416"/>
            <a:ext cx="7644384" cy="4901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577840"/>
            <a:ext cx="236966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외관 · 전포대로(서측)에서 본 모습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r_small_night.jpg">    </p:cNvPr>
          <p:cNvPicPr>
            <a:picLocks noChangeAspect="1"/>
          </p:cNvPicPr>
          <p:nvPr/>
        </p:nvPicPr>
        <p:blipFill>
          <a:blip r:embed="rId2"/>
          <a:srcRect l="12184" r="12184" t="0" b="0"/>
          <a:stretch/>
        </p:blipFill>
        <p:spPr>
          <a:xfrm>
            <a:off x="8330184" y="1042416"/>
            <a:ext cx="3404311" cy="23742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39912" y="3050896"/>
            <a:ext cx="236335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주차층은 낮게, 1층과 6F 홀이 켜짐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r_small_street.jpg">    </p:cNvPr>
          <p:cNvPicPr>
            <a:picLocks noChangeAspect="1"/>
          </p:cNvPicPr>
          <p:nvPr/>
        </p:nvPicPr>
        <p:blipFill>
          <a:blip r:embed="rId3"/>
          <a:srcRect l="12184" r="12184" t="0" b="0"/>
          <a:stretch/>
        </p:blipFill>
        <p:spPr>
          <a:xfrm>
            <a:off x="8330184" y="3569360"/>
            <a:ext cx="3404311" cy="2374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39912" y="5577840"/>
            <a:ext cx="305235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× 전포대로 모퉁이 · 1층이 가로를 향해 열림</a:t>
            </a:r>
            <a:endParaRPr lang="ko-KR" alt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5998464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목재 슬랫(피치 0.24m 가정) · 끝 코어 순환 계단은 검은 도장 강재 · 6F 가변홀 층고 8m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70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광장과 소로가 보행과 차량을 한 건물에서 나눔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12103" y="466344"/>
            <a:ext cx="192938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투시도: 개념 볼륨 모델, Blender Cycles 렌더 · 하늘 HDRI · 텍스처 · 나무: Poly Haven(CC0) · 주변 건물: OpenStreetMap 높이 자료와 단순 가상 매스 /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19</a:t>
            </a:r>
            <a:endParaRPr lang="ko-KR" altLang="en-US" sz="850" dirty="0"/>
          </a:p>
        </p:txBody>
      </p:sp>
      <p:pic>
        <p:nvPicPr>
          <p:cNvPr id="15" name="Image 0" descr="C:\Users\jsy07\AppData\Local\Temp\work\img2\r_big_roof.jpg">    </p:cNvPr>
          <p:cNvPicPr>
            <a:picLocks noChangeAspect="1"/>
          </p:cNvPicPr>
          <p:nvPr/>
        </p:nvPicPr>
        <p:blipFill>
          <a:blip r:embed="rId1"/>
          <a:srcRect l="49" r="49" t="0" b="0"/>
          <a:stretch/>
        </p:blipFill>
        <p:spPr>
          <a:xfrm>
            <a:off x="457200" y="1042416"/>
            <a:ext cx="7644384" cy="4901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577840"/>
            <a:ext cx="278882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· 5F 지붕 +21.1m, 맞은편 6F 가변홀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r_small_sunken.jpg">    </p:cNvPr>
          <p:cNvPicPr>
            <a:picLocks noChangeAspect="1"/>
          </p:cNvPicPr>
          <p:nvPr/>
        </p:nvPicPr>
        <p:blipFill>
          <a:blip r:embed="rId2"/>
          <a:srcRect l="12184" r="12184" t="0" b="0"/>
          <a:stretch/>
        </p:blipFill>
        <p:spPr>
          <a:xfrm>
            <a:off x="8330184" y="1042416"/>
            <a:ext cx="3404311" cy="23742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39912" y="3050896"/>
            <a:ext cx="261097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· 검은 순환 계단이 지상에서 이어짐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r_small_lane.jpg">    </p:cNvPr>
          <p:cNvPicPr>
            <a:picLocks noChangeAspect="1"/>
          </p:cNvPicPr>
          <p:nvPr/>
        </p:nvPicPr>
        <p:blipFill>
          <a:blip r:embed="rId3"/>
          <a:srcRect l="12184" r="12184" t="0" b="0"/>
          <a:stretch/>
        </p:blipFill>
        <p:spPr>
          <a:xfrm>
            <a:off x="8330184" y="3569360"/>
            <a:ext cx="3404311" cy="2374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39912" y="5577840"/>
            <a:ext cx="29189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안 · 남→북 일방 차로, 위는 2층 바닥이 덮음</a:t>
            </a:r>
            <a:endParaRPr lang="ko-KR" alt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5998464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약 1,380㎡(+21.1m, 5F 지붕) · 소로는 남→북 일방, 2층 바닥이 덮은 높이 7m 통로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248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43677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573932" y="182880"/>
            <a:ext cx="36062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안에 없는 용도를 층별로 쌓아 한 건물에 모음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3023" y="466344"/>
            <a:ext cx="87846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부산진구 문화시설 · 공공체육시설현황(data.go.kr) · 부산시 공연장목록 · 현장 답사(2026.9) · 본 시안 / 미등록 민간 공간은 빠졌을 수 있음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20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4754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용도 구성</a:t>
            </a:r>
            <a:endParaRPr lang="ko-KR" alt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3631" y="3436414"/>
            <a:ext cx="3967448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1774" y="1687206"/>
            <a:ext cx="1044862" cy="277368"/>
          </a:xfrm>
          <a:prstGeom prst="rect">
            <a:avLst/>
          </a:prstGeom>
          <a:solidFill>
            <a:srgbClr val="CFE5B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774" y="2045100"/>
            <a:ext cx="1135720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7494" y="2045100"/>
            <a:ext cx="530003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7496" y="2045100"/>
            <a:ext cx="492145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9641" y="2045100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774" y="2402994"/>
            <a:ext cx="908576" cy="277368"/>
          </a:xfrm>
          <a:prstGeom prst="rect">
            <a:avLst/>
          </a:prstGeom>
          <a:solidFill>
            <a:srgbClr val="EEBBB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0350" y="2402994"/>
            <a:ext cx="225031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00665" y="2402994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774" y="2760888"/>
            <a:ext cx="315889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00665" y="2760888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774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44632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7491" y="3118782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4635" y="3118782"/>
            <a:ext cx="454288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923" y="3118782"/>
            <a:ext cx="1022148" cy="277368"/>
          </a:xfrm>
          <a:prstGeom prst="rect">
            <a:avLst/>
          </a:prstGeom>
          <a:solidFill>
            <a:srgbClr val="E9E0C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1071" y="3118782"/>
            <a:ext cx="329586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80656" y="3118782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774" y="3476677"/>
            <a:ext cx="605717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47491" y="3476677"/>
            <a:ext cx="291993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7426" y="3476677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774" y="3834571"/>
            <a:ext cx="605717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47491" y="3834571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74635" y="3834571"/>
            <a:ext cx="281242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7056" y="3834571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774" y="4192465"/>
            <a:ext cx="227144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8918" y="4192465"/>
            <a:ext cx="3418138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87056" y="4192465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774" y="4550359"/>
            <a:ext cx="454288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96062" y="4550359"/>
            <a:ext cx="3190994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87056" y="4550359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774" y="5006674"/>
            <a:ext cx="113572" cy="134210"/>
          </a:xfrm>
          <a:prstGeom prst="rect">
            <a:avLst/>
          </a:prstGeom>
          <a:solidFill>
            <a:srgbClr val="8FAADC"/>
          </a:solidFill>
          <a:ln/>
        </p:spPr>
      </p:sp>
      <p:sp>
        <p:nvSpPr>
          <p:cNvPr id="48" name="Shape 46"/>
          <p:cNvSpPr/>
          <p:nvPr/>
        </p:nvSpPr>
        <p:spPr>
          <a:xfrm>
            <a:off x="2101128" y="5006674"/>
            <a:ext cx="113572" cy="134210"/>
          </a:xfrm>
          <a:prstGeom prst="rect">
            <a:avLst/>
          </a:prstGeom>
          <a:solidFill>
            <a:srgbClr val="B4C7E7"/>
          </a:solidFill>
          <a:ln/>
        </p:spPr>
      </p:sp>
      <p:sp>
        <p:nvSpPr>
          <p:cNvPr id="49" name="Shape 47"/>
          <p:cNvSpPr/>
          <p:nvPr/>
        </p:nvSpPr>
        <p:spPr>
          <a:xfrm>
            <a:off x="2936785" y="5006674"/>
            <a:ext cx="113572" cy="134210"/>
          </a:xfrm>
          <a:prstGeom prst="rect">
            <a:avLst/>
          </a:prstGeom>
          <a:solidFill>
            <a:srgbClr val="FBF3A4"/>
          </a:solidFill>
          <a:ln/>
        </p:spPr>
      </p:sp>
      <p:sp>
        <p:nvSpPr>
          <p:cNvPr id="50" name="Shape 48"/>
          <p:cNvSpPr/>
          <p:nvPr/>
        </p:nvSpPr>
        <p:spPr>
          <a:xfrm>
            <a:off x="3448744" y="5006674"/>
            <a:ext cx="113572" cy="134210"/>
          </a:xfrm>
          <a:prstGeom prst="rect">
            <a:avLst/>
          </a:prstGeom>
          <a:solidFill>
            <a:srgbClr val="EEBBBA"/>
          </a:solidFill>
          <a:ln/>
        </p:spPr>
      </p:sp>
      <p:sp>
        <p:nvSpPr>
          <p:cNvPr id="51" name="Shape 49"/>
          <p:cNvSpPr/>
          <p:nvPr/>
        </p:nvSpPr>
        <p:spPr>
          <a:xfrm>
            <a:off x="941774" y="5230358"/>
            <a:ext cx="113572" cy="134210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52" name="Shape 50"/>
          <p:cNvSpPr/>
          <p:nvPr/>
        </p:nvSpPr>
        <p:spPr>
          <a:xfrm>
            <a:off x="1453733" y="5230358"/>
            <a:ext cx="113572" cy="134210"/>
          </a:xfrm>
          <a:prstGeom prst="rect">
            <a:avLst/>
          </a:prstGeom>
          <a:solidFill>
            <a:srgbClr val="EC8080"/>
          </a:solidFill>
          <a:ln/>
        </p:spPr>
      </p:sp>
      <p:sp>
        <p:nvSpPr>
          <p:cNvPr id="53" name="Shape 51"/>
          <p:cNvSpPr/>
          <p:nvPr/>
        </p:nvSpPr>
        <p:spPr>
          <a:xfrm>
            <a:off x="1965692" y="5230358"/>
            <a:ext cx="113572" cy="134210"/>
          </a:xfrm>
          <a:prstGeom prst="rect">
            <a:avLst/>
          </a:prstGeom>
          <a:solidFill>
            <a:srgbClr val="CFE5BD"/>
          </a:solidFill>
          <a:ln/>
        </p:spPr>
      </p:sp>
      <p:sp>
        <p:nvSpPr>
          <p:cNvPr id="54" name="Shape 52"/>
          <p:cNvSpPr/>
          <p:nvPr/>
        </p:nvSpPr>
        <p:spPr>
          <a:xfrm>
            <a:off x="2477651" y="5230358"/>
            <a:ext cx="113572" cy="13421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12567" y="1728100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</a:t>
            </a:r>
            <a:endParaRPr lang="ko-KR" alt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12567" y="2085994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3266214" y="2108219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8.0m</a:t>
            </a:r>
            <a:endParaRPr lang="ko-KR" alt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612567" y="2443888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267237" y="2466113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450515" y="2801782"/>
            <a:ext cx="4155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2~4F</a:t>
            </a:r>
            <a:endParaRPr lang="ko-KR" alt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267237" y="2824007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12567" y="3159676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3747229" y="3181901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7.0m</a:t>
            </a:r>
            <a:endParaRPr lang="ko-KR" alt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4871364" y="3360849"/>
            <a:ext cx="49517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 ±0</a:t>
            </a:r>
            <a:endParaRPr lang="ko-KR" alt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612567" y="3517571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4633999" y="3539796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12567" y="3875465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4753628" y="3897690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612567" y="4233359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753628" y="4255584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612567" y="4591253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4753628" y="4613478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941774" y="1401865"/>
            <a:ext cx="217271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길이 = 층 면적 (최대 4,964.5㎡)</a:t>
            </a:r>
            <a:endParaRPr lang="ko-KR" alt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3408553" y="1401865"/>
            <a:ext cx="1803527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약 29.1m · 지하 약 15.6m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1142196" y="1741435"/>
            <a:ext cx="6440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282939" y="2099329"/>
            <a:ext cx="45339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가변홀</a:t>
            </a:r>
            <a:endParaRPr lang="ko-KR" alt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2134850" y="210821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다목적</a:t>
            </a:r>
            <a:endParaRPr lang="ko-KR" alt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2591949" y="2108219"/>
            <a:ext cx="5232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공연지원</a:t>
            </a:r>
            <a:endParaRPr lang="ko-KR" alt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953403" y="2457223"/>
            <a:ext cx="8853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2618510" y="2457223"/>
            <a:ext cx="7139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주차(전환)</a:t>
            </a:r>
            <a:endParaRPr lang="ko-KR" alt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2354849" y="281511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939533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1242392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ko-KR" alt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1848109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</a:t>
            </a:r>
            <a:endParaRPr lang="ko-KR" alt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2202025" y="3173011"/>
            <a:ext cx="10759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3262194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951707" y="3539796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로비</a:t>
            </a:r>
            <a:endParaRPr lang="ko-KR" alt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2841089" y="353090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1051021" y="3897690"/>
            <a:ext cx="3872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</a:t>
            </a:r>
            <a:endParaRPr lang="ko-KR" alt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3014475" y="3888800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2711617" y="42466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2825189" y="460458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3" name="Text 91"/>
          <p:cNvSpPr txBox="1"/>
          <p:nvPr/>
        </p:nvSpPr>
        <p:spPr>
          <a:xfrm>
            <a:off x="1100775" y="4998214"/>
            <a:ext cx="8643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공연·체육 가변</a:t>
            </a:r>
            <a:endParaRPr lang="ko-KR" altLang="en-US" sz="850" dirty="0"/>
          </a:p>
        </p:txBody>
      </p:sp>
      <p:sp>
        <p:nvSpPr>
          <p:cNvPr id="94" name="Text 92"/>
          <p:cNvSpPr txBox="1"/>
          <p:nvPr/>
        </p:nvSpPr>
        <p:spPr>
          <a:xfrm>
            <a:off x="2260129" y="4998214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지원</a:t>
            </a:r>
            <a:endParaRPr lang="ko-KR" altLang="en-US" sz="850" dirty="0"/>
          </a:p>
        </p:txBody>
      </p:sp>
      <p:sp>
        <p:nvSpPr>
          <p:cNvPr id="95" name="Text 93"/>
          <p:cNvSpPr txBox="1"/>
          <p:nvPr/>
        </p:nvSpPr>
        <p:spPr>
          <a:xfrm>
            <a:off x="3095786" y="499821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3607745" y="4998214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</a:t>
            </a:r>
            <a:endParaRPr lang="ko-KR" altLang="en-US" sz="850" dirty="0"/>
          </a:p>
        </p:txBody>
      </p:sp>
      <p:sp>
        <p:nvSpPr>
          <p:cNvPr id="97" name="Text 95"/>
          <p:cNvSpPr txBox="1"/>
          <p:nvPr/>
        </p:nvSpPr>
        <p:spPr>
          <a:xfrm>
            <a:off x="1100775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850" dirty="0"/>
          </a:p>
        </p:txBody>
      </p:sp>
      <p:sp>
        <p:nvSpPr>
          <p:cNvPr id="98" name="Text 96"/>
          <p:cNvSpPr txBox="1"/>
          <p:nvPr/>
        </p:nvSpPr>
        <p:spPr>
          <a:xfrm>
            <a:off x="1612734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>
            <a:off x="2124693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광장</a:t>
            </a:r>
            <a:endParaRPr lang="ko-KR" altLang="en-US" sz="850" dirty="0"/>
          </a:p>
        </p:txBody>
      </p:sp>
      <p:sp>
        <p:nvSpPr>
          <p:cNvPr id="100" name="Text 98"/>
          <p:cNvSpPr txBox="1"/>
          <p:nvPr/>
        </p:nvSpPr>
        <p:spPr>
          <a:xfrm>
            <a:off x="2636652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ko-KR" alt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41774" y="3821150"/>
            <a:ext cx="605717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1774" y="2031679"/>
            <a:ext cx="1135720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1774" y="1673785"/>
            <a:ext cx="1044862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57200" y="5597042"/>
            <a:ext cx="4754880" cy="18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23,923.7㎡ + 지하 19,700.0㎡ = 연면적 43,623.7㎡</a:t>
            </a:r>
            <a:endParaRPr lang="ko-KR" alt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55165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653735" y="1042416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위치와 선정 근거</a:t>
            </a:r>
            <a:endParaRPr lang="ko-KR" alt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1360627"/>
          <a:ext cx="62179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188720"/>
                <a:gridCol w="77724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 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B4~5F, 1F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32,988.4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확보율 118.5%(기준 130%), 반경 500m 공영 27면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B1~B2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1,900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객석형 소극장 없음, 지하는 전포대로 소음에 강함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2,850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공연 겸용 가변 홀 없음, 행사에 따라 객석 · 코트를 바꿈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· 카페 · 근생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카페거리 방문객을 건물로 유도, 근생은 10곳 안팎 소점포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공유오피스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답사 범위에서 상인회 사무실을 확인하지 못함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 광장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 지붕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 1,380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쉼터 · 공용 공간 부족, 밤에는 공연과 이어 개방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5"/>
          <p:cNvSpPr/>
          <p:nvPr/>
        </p:nvSpPr>
        <p:spPr>
          <a:xfrm>
            <a:off x="5516575" y="4506346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5653735" y="4478914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내 현황조사 (대지 중심 직선거리)</a:t>
            </a:r>
            <a:endParaRPr lang="ko-KR" altLang="en-US" sz="135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4797125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객석형 소극장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(지하 라이브클럽 1곳)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(스탠딩 라이브홀 · 연회장 · 1,727석 대극장)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 체육관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국민체육센터 0.73km (다목적체육관 1,394㎡)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 겸용 가변 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단면도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35521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소로를 따라 자른 단면에서 차와 사람의 길이 갈림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67613" y="466344"/>
            <a:ext cx="23738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개념 단면 · 구조 · 설비 두께는 표현하지 않음, 층고 · 면적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21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5939" y="3344798"/>
            <a:ext cx="7735141" cy="1135421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" name="Shape 13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DAE3F3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58" y="3344798"/>
            <a:ext cx="1458402" cy="283855"/>
          </a:xfrm>
          <a:prstGeom prst="rect">
            <a:avLst/>
          </a:prstGeom>
          <a:solidFill>
            <a:srgbClr val="DAE3F3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522955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24064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354678" y="4120669"/>
            <a:ext cx="785293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9972" y="4120669"/>
            <a:ext cx="605236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4678" y="3912508"/>
            <a:ext cx="560924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5602" y="3912508"/>
            <a:ext cx="627673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4678" y="3344798"/>
            <a:ext cx="1458402" cy="56771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5852" y="3628653"/>
            <a:ext cx="673109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89" y="3344798"/>
            <a:ext cx="897478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3080" y="3344798"/>
            <a:ext cx="168277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3667" y="3344798"/>
            <a:ext cx="785293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8961" y="3628653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8961" y="3344798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2955" y="2799165"/>
            <a:ext cx="1458402" cy="545633"/>
          </a:xfrm>
          <a:prstGeom prst="rect">
            <a:avLst/>
          </a:prstGeom>
          <a:solidFill>
            <a:srgbClr val="FBF3A4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9760" y="2799165"/>
            <a:ext cx="1682772" cy="545633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22955" y="259100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22955" y="238284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22955" y="2278764"/>
            <a:ext cx="145840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22955" y="2013832"/>
            <a:ext cx="145840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9760" y="259100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9760" y="238284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9760" y="2278764"/>
            <a:ext cx="168277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9760" y="2013832"/>
            <a:ext cx="168277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56776" y="2013832"/>
            <a:ext cx="1065755" cy="264932"/>
          </a:xfrm>
          <a:prstGeom prst="rect">
            <a:avLst/>
          </a:prstGeom>
          <a:solidFill>
            <a:srgbClr val="EEBBBA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solidFill>
            <a:srgbClr val="8FAADC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12657" y="1364119"/>
            <a:ext cx="314117" cy="1980679"/>
          </a:xfrm>
          <a:prstGeom prst="rect">
            <a:avLst/>
          </a:prstGeom>
          <a:solidFill>
            <a:srgbClr val="CFE3EA"/>
          </a:solidFill>
          <a:ln w="11366">
            <a:solidFill>
              <a:srgbClr val="5A7A8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330486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7999871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955007" y="414029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55007" y="393213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55007" y="3686126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55007" y="340227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55007" y="3039567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55007" y="2714710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</a:t>
            </a:r>
            <a:endParaRPr lang="ko-KR" alt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955007" y="250654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3F</a:t>
            </a:r>
            <a:endParaRPr lang="ko-KR" alt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955007" y="229838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4F</a:t>
            </a:r>
            <a:endParaRPr lang="ko-KR" alt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955007" y="2061843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955007" y="167706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719295" y="1225604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+29.1m</a:t>
            </a:r>
            <a:endParaRPr lang="ko-KR" alt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19295" y="4291242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−15.6m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1354678" y="4303857"/>
            <a:ext cx="153581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남 · 전포대로 · 224번길</a:t>
            </a:r>
            <a:endParaRPr lang="ko-KR" alt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7356046" y="4303857"/>
            <a:ext cx="83629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· 북 →</a:t>
            </a:r>
            <a:endParaRPr lang="ko-KR" alt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39760" y="1465045"/>
            <a:ext cx="1682772" cy="44155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63" name="Shape 61"/>
          <p:cNvSpPr/>
          <p:nvPr/>
        </p:nvSpPr>
        <p:spPr>
          <a:xfrm>
            <a:off x="1522955" y="1979138"/>
            <a:ext cx="1458402" cy="34693"/>
          </a:xfrm>
          <a:prstGeom prst="rect">
            <a:avLst/>
          </a:prstGeom>
          <a:solidFill>
            <a:srgbClr val="CFE5BD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97219" y="3628653"/>
            <a:ext cx="168277" cy="700176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22532" y="3344798"/>
            <a:ext cx="336554" cy="984032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7094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60476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13858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67240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91233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44615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97997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51379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400425" y="4149184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펌프·저수조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4999786" y="41402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481470" y="394102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</a:t>
            </a:r>
            <a:endParaRPr lang="ko-KR" alt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4887602" y="393213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1917509" y="354419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3167294" y="3672791"/>
            <a:ext cx="9743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200석</a:t>
            </a:r>
            <a:endParaRPr lang="ko-KR" alt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4678737" y="3695016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분장</a:t>
            </a:r>
            <a:endParaRPr lang="ko-KR" alt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3673245" y="3402271"/>
            <a:ext cx="5233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로비·바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4483389" y="3411161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객석 상부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6514281" y="368612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4" name="Text 82"/>
          <p:cNvSpPr txBox="1"/>
          <p:nvPr/>
        </p:nvSpPr>
        <p:spPr>
          <a:xfrm>
            <a:off x="6514281" y="3402271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1869823" y="2987526"/>
            <a:ext cx="7646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 소점포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4794990" y="2996416"/>
            <a:ext cx="9723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1749173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1842645" y="2070733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4778162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5188778" y="2070733"/>
            <a:ext cx="8017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4904337" y="1663726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2054801" y="1329408"/>
            <a:ext cx="731266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3413887" y="1531979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코어②</a:t>
            </a:r>
            <a:endParaRPr lang="ko-KR" altLang="en-US" sz="950" dirty="0"/>
          </a:p>
        </p:txBody>
      </p:sp>
      <p:sp>
        <p:nvSpPr>
          <p:cNvPr id="94" name="Text 92"/>
          <p:cNvSpPr txBox="1"/>
          <p:nvPr/>
        </p:nvSpPr>
        <p:spPr>
          <a:xfrm>
            <a:off x="3232912" y="1695985"/>
            <a:ext cx="9552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</a:t>
            </a:r>
            <a:endParaRPr lang="ko-KR" altLang="en-US" sz="950" dirty="0"/>
          </a:p>
        </p:txBody>
      </p:sp>
      <p:sp>
        <p:nvSpPr>
          <p:cNvPr id="95" name="Text 93"/>
          <p:cNvSpPr txBox="1"/>
          <p:nvPr/>
        </p:nvSpPr>
        <p:spPr>
          <a:xfrm rot="16200000">
            <a:off x="7362070" y="229150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C4A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6442876" y="1081667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코어①</a:t>
            </a:r>
            <a:endParaRPr lang="ko-KR" alt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6131599" y="1245672"/>
            <a:ext cx="1215898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</a:t>
            </a:r>
            <a:endParaRPr lang="ko-KR" altLang="en-US" sz="950" dirty="0"/>
          </a:p>
        </p:txBody>
      </p:sp>
      <p:sp>
        <p:nvSpPr>
          <p:cNvPr id="98" name="Text 96"/>
          <p:cNvSpPr txBox="1"/>
          <p:nvPr/>
        </p:nvSpPr>
        <p:spPr>
          <a:xfrm rot="16200000">
            <a:off x="2827688" y="400725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 rot="16200000">
            <a:off x="6137139" y="3761249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100" name="Shape 98"/>
          <p:cNvSpPr/>
          <p:nvPr/>
        </p:nvSpPr>
        <p:spPr>
          <a:xfrm flipV="1">
            <a:off x="3093542" y="323441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93542" y="312402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093542" y="3013633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93542" y="2903245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093542" y="2792857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93542" y="2682469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093542" y="2572081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93542" y="246169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093542" y="2351304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93542" y="2240916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093542" y="2130528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93542" y="202014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093542" y="1982292"/>
            <a:ext cx="1234033" cy="37847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3065496" y="3534035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065496" y="3439416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3065496" y="3344798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6234716" y="323441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34716" y="312402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6234716" y="301363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34716" y="290324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6234716" y="279285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34716" y="268246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6234716" y="2572081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34716" y="246169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6234716" y="2351304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34716" y="2240916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6234716" y="2130528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34716" y="202014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6234716" y="190975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34716" y="179936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6234716" y="168897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234716" y="157858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6234716" y="146819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234716" y="1465045"/>
            <a:ext cx="1121848" cy="3154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05939" y="3344798"/>
            <a:ext cx="7735141" cy="0"/>
          </a:xfrm>
          <a:prstGeom prst="line">
            <a:avLst/>
          </a:prstGeom>
          <a:noFill/>
          <a:ln w="27785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22955" y="1524970"/>
            <a:ext cx="1458402" cy="488862"/>
          </a:xfrm>
          <a:prstGeom prst="rect">
            <a:avLst/>
          </a:prstGeom>
          <a:ln w="20207">
            <a:solidFill>
              <a:srgbClr val="FFC000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3567523" y="396612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800613" y="1329425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194203" y="1291578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623616" y="261623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203866" y="3385799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573758" y="39825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950" dirty="0"/>
          </a:p>
        </p:txBody>
      </p:sp>
      <p:sp>
        <p:nvSpPr>
          <p:cNvPr id="146" name="Text 144"/>
          <p:cNvSpPr txBox="1"/>
          <p:nvPr/>
        </p:nvSpPr>
        <p:spPr>
          <a:xfrm>
            <a:off x="1806847" y="13458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950" dirty="0"/>
          </a:p>
        </p:txBody>
      </p:sp>
      <p:sp>
        <p:nvSpPr>
          <p:cNvPr id="147" name="Text 145"/>
          <p:cNvSpPr txBox="1"/>
          <p:nvPr/>
        </p:nvSpPr>
        <p:spPr>
          <a:xfrm>
            <a:off x="5200437" y="1308049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950" dirty="0"/>
          </a:p>
        </p:txBody>
      </p:sp>
      <p:sp>
        <p:nvSpPr>
          <p:cNvPr id="148" name="Text 146"/>
          <p:cNvSpPr txBox="1"/>
          <p:nvPr/>
        </p:nvSpPr>
        <p:spPr>
          <a:xfrm>
            <a:off x="3629850" y="263270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6210100" y="3402271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8789483" y="3345733"/>
            <a:ext cx="2888048" cy="1135883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074301" y="4121920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074301" y="3913675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074301" y="3345733"/>
            <a:ext cx="2318413" cy="567941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74301" y="2904001"/>
            <a:ext cx="951290" cy="441732"/>
          </a:xfrm>
          <a:prstGeom prst="rect">
            <a:avLst/>
          </a:prstGeom>
          <a:solidFill>
            <a:srgbClr val="FBF3A4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025591" y="2904001"/>
            <a:ext cx="353174" cy="441732"/>
          </a:xfrm>
          <a:prstGeom prst="rect">
            <a:avLst/>
          </a:prstGeom>
          <a:solidFill>
            <a:srgbClr val="E7E6E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78764" y="2799879"/>
            <a:ext cx="1013950" cy="54585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074301" y="1509390"/>
            <a:ext cx="2318413" cy="504837"/>
          </a:xfrm>
          <a:prstGeom prst="rect">
            <a:avLst/>
          </a:prstGeom>
          <a:solidFill>
            <a:srgbClr val="8FAADC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9074301" y="4305244"/>
            <a:ext cx="94424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서 · 전포대로</a:t>
            </a:r>
            <a:endParaRPr lang="ko-KR" altLang="en-US" sz="850" dirty="0"/>
          </a:p>
        </p:txBody>
      </p:sp>
      <p:sp>
        <p:nvSpPr>
          <p:cNvPr id="160" name="Text 158"/>
          <p:cNvSpPr txBox="1"/>
          <p:nvPr/>
        </p:nvSpPr>
        <p:spPr>
          <a:xfrm>
            <a:off x="11068102" y="4305244"/>
            <a:ext cx="3246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 →</a:t>
            </a:r>
            <a:endParaRPr lang="ko-KR" alt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9074301" y="1465217"/>
            <a:ext cx="2318413" cy="44173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116732" y="3251076"/>
            <a:ext cx="170890" cy="75726"/>
          </a:xfrm>
          <a:prstGeom prst="roundRect">
            <a:avLst>
              <a:gd name="adj" fmla="val 48300"/>
            </a:avLst>
          </a:prstGeom>
          <a:solidFill>
            <a:srgbClr val="40404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074301" y="290400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074301" y="269575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074301" y="248751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074301" y="227926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202178" y="2799879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202178" y="2591634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02178" y="2383388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0067138" y="414158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1" name="Text 169"/>
          <p:cNvSpPr txBox="1"/>
          <p:nvPr/>
        </p:nvSpPr>
        <p:spPr>
          <a:xfrm>
            <a:off x="10067138" y="3933342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2" name="Text 170"/>
          <p:cNvSpPr txBox="1"/>
          <p:nvPr/>
        </p:nvSpPr>
        <p:spPr>
          <a:xfrm>
            <a:off x="10067138" y="3545249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3" name="Text 171"/>
          <p:cNvSpPr txBox="1"/>
          <p:nvPr/>
        </p:nvSpPr>
        <p:spPr>
          <a:xfrm>
            <a:off x="9257020" y="3049302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카페·서점</a:t>
            </a:r>
            <a:endParaRPr lang="ko-KR" altLang="en-US" sz="850" dirty="0"/>
          </a:p>
        </p:txBody>
      </p:sp>
      <p:sp>
        <p:nvSpPr>
          <p:cNvPr id="174" name="Text 172"/>
          <p:cNvSpPr txBox="1"/>
          <p:nvPr/>
        </p:nvSpPr>
        <p:spPr>
          <a:xfrm>
            <a:off x="10048508" y="297988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</a:t>
            </a:r>
            <a:endParaRPr lang="ko-KR" altLang="en-US" sz="850" dirty="0"/>
          </a:p>
        </p:txBody>
      </p:sp>
      <p:sp>
        <p:nvSpPr>
          <p:cNvPr id="175" name="Text 173"/>
          <p:cNvSpPr txBox="1"/>
          <p:nvPr/>
        </p:nvSpPr>
        <p:spPr>
          <a:xfrm>
            <a:off x="10048508" y="311871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차로</a:t>
            </a:r>
            <a:endParaRPr lang="ko-KR" altLang="en-US" sz="850" dirty="0"/>
          </a:p>
        </p:txBody>
      </p:sp>
      <p:sp>
        <p:nvSpPr>
          <p:cNvPr id="176" name="Text 174"/>
          <p:cNvSpPr txBox="1"/>
          <p:nvPr/>
        </p:nvSpPr>
        <p:spPr>
          <a:xfrm>
            <a:off x="10538839" y="2997241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이륜차·하역</a:t>
            </a:r>
            <a:endParaRPr lang="ko-KR" altLang="en-US" sz="850" dirty="0"/>
          </a:p>
        </p:txBody>
      </p:sp>
      <p:sp>
        <p:nvSpPr>
          <p:cNvPr id="177" name="Text 175"/>
          <p:cNvSpPr txBox="1"/>
          <p:nvPr/>
        </p:nvSpPr>
        <p:spPr>
          <a:xfrm>
            <a:off x="9823996" y="2071181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178" name="Text 176"/>
          <p:cNvSpPr txBox="1"/>
          <p:nvPr/>
        </p:nvSpPr>
        <p:spPr>
          <a:xfrm>
            <a:off x="9856699" y="1664018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9131264" y="2329750"/>
            <a:ext cx="2204487" cy="35338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10202178" y="2279266"/>
            <a:ext cx="0" cy="624735"/>
          </a:xfrm>
          <a:prstGeom prst="line">
            <a:avLst/>
          </a:prstGeom>
          <a:noFill/>
          <a:ln w="18952">
            <a:solidFill>
              <a:srgbClr val="C00000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>
            <a:off x="8789483" y="3345733"/>
            <a:ext cx="2888048" cy="0"/>
          </a:xfrm>
          <a:prstGeom prst="line">
            <a:avLst/>
          </a:prstGeom>
          <a:noFill/>
          <a:ln w="27796">
            <a:solidFill>
              <a:srgbClr val="000000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9838538" y="2320306"/>
            <a:ext cx="789940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</a:t>
            </a:r>
            <a:endParaRPr lang="ko-KR" altLang="en-US" sz="1100" dirty="0"/>
          </a:p>
        </p:txBody>
      </p:sp>
      <p:sp>
        <p:nvSpPr>
          <p:cNvPr id="183" name="Text 181"/>
          <p:cNvSpPr txBox="1"/>
          <p:nvPr/>
        </p:nvSpPr>
        <p:spPr>
          <a:xfrm>
            <a:off x="9522816" y="2544466"/>
            <a:ext cx="14213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위에서 반 층 엇갈림</a:t>
            </a:r>
            <a:endParaRPr lang="ko-KR" alt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ln w="27796">
            <a:solidFill>
              <a:srgbClr val="FFC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122138" y="2048934"/>
            <a:ext cx="176587" cy="195624"/>
          </a:xfrm>
          <a:prstGeom prst="ellipse">
            <a:avLst/>
          </a:prstGeom>
          <a:solidFill>
            <a:srgbClr val="002060"/>
          </a:solidFill>
          <a:ln w="17688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11129723" y="2065446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950" dirty="0"/>
          </a:p>
        </p:txBody>
      </p:sp>
      <p:sp>
        <p:nvSpPr>
          <p:cNvPr id="187" name="Text 185"/>
          <p:cNvSpPr txBox="1"/>
          <p:nvPr/>
        </p:nvSpPr>
        <p:spPr>
          <a:xfrm>
            <a:off x="457200" y="4572152"/>
            <a:ext cx="818388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 (남 → 북) · 개념, 층고 · 면적 개략</a:t>
            </a:r>
            <a:endParaRPr lang="ko-KR" altLang="en-US" sz="950" dirty="0"/>
          </a:p>
        </p:txBody>
      </p:sp>
      <p:sp>
        <p:nvSpPr>
          <p:cNvPr id="188" name="Text 186"/>
          <p:cNvSpPr txBox="1"/>
          <p:nvPr/>
        </p:nvSpPr>
        <p:spPr>
          <a:xfrm>
            <a:off x="8732520" y="4572152"/>
            <a:ext cx="300197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 (y = 70m)</a:t>
            </a:r>
            <a:endParaRPr lang="ko-KR" altLang="en-US" sz="950" dirty="0"/>
          </a:p>
        </p:txBody>
      </p:sp>
      <p:sp>
        <p:nvSpPr>
          <p:cNvPr id="189" name="Shape 187"/>
          <p:cNvSpPr/>
          <p:nvPr/>
        </p:nvSpPr>
        <p:spPr>
          <a:xfrm>
            <a:off x="457200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585216" y="4986376"/>
            <a:ext cx="717072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</a:t>
            </a:r>
            <a:endParaRPr lang="ko-KR" altLang="en-US" sz="950" dirty="0"/>
          </a:p>
        </p:txBody>
      </p:sp>
      <p:sp>
        <p:nvSpPr>
          <p:cNvPr id="191" name="Text 189"/>
          <p:cNvSpPr txBox="1"/>
          <p:nvPr/>
        </p:nvSpPr>
        <p:spPr>
          <a:xfrm>
            <a:off x="612648" y="5334411"/>
            <a:ext cx="5213452" cy="75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번호별 구성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공연장(B1~B2) · ② 옥상 광장 · ③ 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개방 순환 계단(지상) · ⑤ 특별피난계단(지하)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끝은 지상에서 비어 있고, 지하 공연장은 선큰 마당으로 빛이 닿음</a:t>
            </a:r>
            <a:endParaRPr lang="ko-KR" altLang="en-US" sz="1200" dirty="0"/>
          </a:p>
        </p:txBody>
      </p:sp>
      <p:sp>
        <p:nvSpPr>
          <p:cNvPr id="192" name="Shape 190"/>
          <p:cNvSpPr/>
          <p:nvPr/>
        </p:nvSpPr>
        <p:spPr>
          <a:xfrm>
            <a:off x="6210148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6338164" y="4986376"/>
            <a:ext cx="70920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</a:t>
            </a:r>
            <a:endParaRPr lang="ko-KR" altLang="en-US" sz="950" dirty="0"/>
          </a:p>
        </p:txBody>
      </p:sp>
      <p:sp>
        <p:nvSpPr>
          <p:cNvPr id="194" name="Text 192"/>
          <p:cNvSpPr txBox="1"/>
          <p:nvPr/>
        </p:nvSpPr>
        <p:spPr>
          <a:xfrm>
            <a:off x="6365596" y="5424617"/>
            <a:ext cx="521345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서측 판 7.0 · 10.3 · 13.6m, 동측 판 +1.65m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동 판이 소로 위에서 반 층 엇갈려 램프 길이를 줄임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공연장은 박스인박스와 방진 바닥으로 차량 진동 차단을 제안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6362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비율 75.62%로 주차전용건축물 요건을 충족함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43798" y="466344"/>
            <a:ext cx="199769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면적 계산(1평 = 3.3058㎡) · 3m 이격 · 끝 코어 2곳 · 보조 피난계단 2곳 반영 / 모든 면적은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22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741659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면적 (㎡)</a:t>
            </a:r>
            <a:endParaRPr lang="ko-KR" alt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60627"/>
          <a:ext cx="7416597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587797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 · 공연 가변홀 1,500.0 · 다목적 · 연습실 700.0 · 공연 지원 650.0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1,200.0 · 주차(전환 가능) 2,972.1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4,172.1 · 코어 150.0 (층당)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187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400.0 · 카페 400.0 · 공연 로비 300.0 · 근생 600.0 · 램프 900.0 · 정산 100.0 · 이륜차 200.0 · 하역 150.0 · 기타 435.3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3,635.3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로비 500.0 · 객석 상부 300.0 · 주차 3,856.5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4,806.5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 800.0 · 분장 · 창고 300.0 · 주차 3,714.5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 · 기계실 300.0 · 주차 4,514.5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펌프 · 저수조 600.0 · 주차 4,214.5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23,923.7(7,237평) + 지하 19,700.0(5,959평)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구성비</a:t>
            </a:r>
            <a:endParaRPr lang="ko-KR" altLang="en-US" sz="13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178597" y="1360627"/>
          <a:ext cx="355589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9225026" y="227959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</a:t>
            </a:r>
            <a:endParaRPr lang="ko-KR" alt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9225026" y="255391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78597" y="3872484"/>
            <a:ext cx="182880" cy="182880"/>
          </a:xfrm>
          <a:prstGeom prst="rect">
            <a:avLst/>
          </a:prstGeom>
          <a:solidFill>
            <a:srgbClr val="08205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452917" y="38450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595917" y="3845052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 · 32,988.4㎡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78597" y="4155948"/>
            <a:ext cx="182880" cy="182880"/>
          </a:xfrm>
          <a:prstGeom prst="rect">
            <a:avLst/>
          </a:prstGeom>
          <a:solidFill>
            <a:srgbClr val="4272C4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452917" y="41285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· 공연</a:t>
            </a:r>
            <a:endParaRPr lang="ko-KR" alt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595917" y="4128516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11.58% · 5,050.0㎡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178597" y="4439412"/>
            <a:ext cx="182880" cy="182880"/>
          </a:xfrm>
          <a:prstGeom prst="rect">
            <a:avLst/>
          </a:prstGeom>
          <a:solidFill>
            <a:srgbClr val="7F9DCF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452917" y="44119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 · 상인</a:t>
            </a:r>
            <a:endParaRPr lang="ko-KR" alt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9595917" y="4411980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5.96% · 2,600.0㎡</a:t>
            </a:r>
            <a:endParaRPr lang="ko-KR" alt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178597" y="4722876"/>
            <a:ext cx="182880" cy="182880"/>
          </a:xfrm>
          <a:prstGeom prst="rect">
            <a:avLst/>
          </a:prstGeom>
          <a:solidFill>
            <a:srgbClr val="ABBDE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452917" y="46954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9595917" y="4695444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3.44% · 1,500.0㎡</a:t>
            </a:r>
            <a:endParaRPr lang="ko-KR" alt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178597" y="5006340"/>
            <a:ext cx="182880" cy="182880"/>
          </a:xfrm>
          <a:prstGeom prst="rect">
            <a:avLst/>
          </a:prstGeom>
          <a:solidFill>
            <a:srgbClr val="DBE2F5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452917" y="49789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지원</a:t>
            </a:r>
            <a:endParaRPr lang="ko-KR" alt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595917" y="4978908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3.40% · 1,485.3㎡</a:t>
            </a:r>
            <a:endParaRPr lang="ko-KR" alt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178597" y="5699730"/>
            <a:ext cx="3555898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8343189" y="5791170"/>
            <a:ext cx="322671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32,988.4㎡에는 1F 램프 · 정산 · 이륜차 1,200㎡ 포함. 주차 비율 75.62%, 요건 70% 이상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898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동선 및 진입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0875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24723" y="182880"/>
            <a:ext cx="2952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차량은 소로로, 보행은 1층 외곽으로 나눔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9743" y="466344"/>
            <a:ext cx="188174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· 진출입 위치는 구청 · 경찰 협의 전 개념이며 도면은 개략 / 「주차장법 시행규칙」 제5 · 6조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23</a:t>
            </a:r>
            <a:endParaRPr lang="ko-KR" altLang="en-US" sz="850" dirty="0"/>
          </a:p>
        </p:txBody>
      </p:sp>
      <p:pic>
        <p:nvPicPr>
          <p:cNvPr id="14" name="Image 0" descr="C:\Users\jsy07\AppData\Local\Temp\work\img\plan1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2962263" cy="491947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2962263" cy="491947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89320"/>
            <a:ext cx="2962263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동선 개념도 · 위치와 폭은 개략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23958" y="1042416"/>
            <a:ext cx="3890969" cy="227882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851974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</a:t>
            </a:r>
            <a:endParaRPr lang="ko-KR" alt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879406" y="1888945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남단 진입 · 북단 진출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소로는 남→북 일방, 차량 전용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· 출구가 서로 만나지 않음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400대 초과 노외주차장의 분리 기준</a:t>
            </a:r>
            <a:endParaRPr lang="ko-KR" alt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843527" y="1042416"/>
            <a:ext cx="3890969" cy="227882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71543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동선</a:t>
            </a:r>
            <a:endParaRPr lang="ko-KR" alt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998975" y="1786075"/>
            <a:ext cx="3580073" cy="1120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외곽을 한 바퀴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전포대로변, 북 · 남 3m 이격 마당, 동측 도로변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중간에 횡단보도 1곳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 · 카페 · 로비는 전포대로 쪽</a:t>
            </a:r>
            <a:endParaRPr lang="ko-KR" alt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723958" y="3473943"/>
            <a:ext cx="3890969" cy="207308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851974" y="3583671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동선</a:t>
            </a:r>
            <a:endParaRPr lang="ko-KR" alt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3879406" y="4217601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2곳이 이동의 중심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개방 순환 계단 + 승강기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지하는 같은 자리에 특별피난계단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관객은 끝 코어②에서 선큰 마당으로</a:t>
            </a:r>
            <a:endParaRPr lang="ko-KR" alt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843527" y="3473943"/>
            <a:ext cx="3890969" cy="207308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971543" y="3583671"/>
            <a:ext cx="94887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· 이륜차</a:t>
            </a:r>
            <a:endParaRPr lang="ko-KR" alt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998975" y="4217601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이면도로 쪽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150㎡, 이륜차 · 자전거 200㎡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동측 북쪽, 일반 차량과 분리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진출입은 남 · 북단 소로만 사용</a:t>
            </a:r>
            <a:endParaRPr lang="ko-KR" alt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723958" y="5699730"/>
            <a:ext cx="8010537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888550" y="5791170"/>
            <a:ext cx="7681353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용량(피크 대기행렬) · 소로 남단이 224번길 모퉁이 · 횡단보도 · 정류장과 떨어진 거리 · 출입구 설치 금지 구간(교차로 5m, 정류장 10m)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8894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07813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15293" y="182880"/>
            <a:ext cx="38252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요건은 적합하고 출입구 · 구조 · 피난은 조건부임</a:t>
            </a:r>
            <a:endParaRPr lang="ko-KR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법제처 국가법령정보센터 현행본(2026.10.11 조회) · 판정은 참고용이며 최종 판단은 원문으로 다시 확인함 / 구조 · 방재는 확정 설계가 아닌 제안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24</a:t>
            </a:r>
            <a:endParaRPr lang="ko-KR" alt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14600"/>
                <a:gridCol w="3566160"/>
                <a:gridCol w="1920240"/>
                <a:gridCol w="126461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계획값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판정(참고)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주차전용건축물 요건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시행령」 제1조의2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외 용도가 근생 · 문화집회 등이면 주차 70% 이상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75.62%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451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건폐율 · 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「주차장법」 제12조의2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 이하 · 1,500% 이하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87.1% · 481.9%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안의 공지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「부산광역시 건축 조례」 별표4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문화집회 1,000㎡ 이상: 건축선에서 3m (20m 이상 도로 면 면제)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 · 남 3m, 전포대로 0m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적합(반영)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노외주차장 출입구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400대 초과 시 입구 · 출구 분리, 교차로 5m · 정류장 10m 안 금지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남단 진입 · 북단 진출 분리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 구조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제6조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경사로 직선 17% · 곡선 14% 이하, 주차부분 높이 2.1m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층고 3.3m, 반 층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「건축법 시행령」 제34 · 35조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보행거리 50m(지하 공연장 30m), 지하 3층 이하 특별피난계단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 + 보조 2, 지하 특피 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5216" y="4533595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12648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모듈에 맞춘 기둥 격자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7.5~8.1m 단위로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가변홀은 트러스 · 전이보로 무주 공간 검토</a:t>
            </a:r>
            <a:endParaRPr lang="ko-KR" alt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2498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20514" y="4533595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방재 · 피난</a:t>
            </a:r>
            <a:endParaRPr lang="ko-KR" alt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447946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공연장과 순환 계단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방화구획과 전용 특별피난계단(보행거리 30m)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계단의 피난계단 인정 여부 검토</a:t>
            </a:r>
            <a:endParaRPr lang="ko-KR" alt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27797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55813" y="4533595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운영</a:t>
            </a:r>
            <a:endParaRPr lang="ko-KR" alt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83245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자연환기와 후속 과제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외피로 주차층 자연환기, 지하는 기계환기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· 조명 운영시간, 처리 용량은 후속 검토</a:t>
            </a:r>
            <a:endParaRPr lang="ko-KR" alt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699730"/>
            <a:ext cx="11277295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1792" y="5791170"/>
            <a:ext cx="10948111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· 방재는 확정 설계가 아닌 제안이며, 설계 단계에서 작도와 계산으로 검증함 조건부 3건: 노외주차장 출입구(교차로 5m · 정류장 10m) · 주차장 구조(램프 17%) · 피난(보행거리 50m, 지하 공연장 30m)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1147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30345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40613" y="182880"/>
            <a:ext cx="31934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매스에 사례의 외피 방식만 바꿔 비교함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16943" y="466344"/>
            <a:ext cx="142454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ArchDaily(Saint-Luc Lieven Van Landschoot, Blaibach NAARO) · Phillip Pessar CC BY 2.0(1111 Lincoln Road) / 투시도: Blender Cycles, 비용 · 법규 · 구조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25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1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071311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물결치는 목재 슬랫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alt_saintluc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2\c_saintluc.jpg">    </p:cNvPr>
          <p:cNvPicPr>
            <a:picLocks noChangeAspect="1"/>
          </p:cNvPicPr>
          <p:nvPr/>
        </p:nvPicPr>
        <p:blipFill>
          <a:blip r:embed="rId2"/>
          <a:srcRect l="0" r="0" t="1316" b="1316"/>
          <a:stretch/>
        </p:blipFill>
        <p:spPr>
          <a:xfrm>
            <a:off x="457200" y="3856163"/>
            <a:ext cx="868680" cy="11430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7200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478585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슬랫이 층 높이에 따라 물결치고, 슬랫마다 목재 톤이 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광장을 녹지로 돌려 주는 방식도 함께 차용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 유지관리와 방화 · 내후성 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2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931908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없는 개방 슬래브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alt_lincoln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2\c_lincoln.jpg">    </p:cNvPr>
          <p:cNvPicPr>
            <a:picLocks noChangeAspect="1"/>
          </p:cNvPicPr>
          <p:nvPr/>
        </p:nvPicPr>
        <p:blipFill>
          <a:blip r:embed="rId4"/>
          <a:srcRect l="0" r="0" t="1316" b="1316"/>
          <a:stretch/>
        </p:blipFill>
        <p:spPr>
          <a:xfrm>
            <a:off x="4317797" y="3856163"/>
            <a:ext cx="868680" cy="11430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17797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5339182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없이 슬래브 · 기둥 · 램프만으로 구성, 주차 차량이 보임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 단면이 그대로 외관이 되어 층고 변화가 드러남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 없어 6F 홀 보완 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3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792505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화강암 골재 콘크리트 블록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alt_blaibach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2\c_blaibach.jpg">    </p:cNvPr>
          <p:cNvPicPr>
            <a:picLocks noChangeAspect="1"/>
          </p:cNvPicPr>
          <p:nvPr/>
        </p:nvPicPr>
        <p:blipFill>
          <a:blip r:embed="rId6"/>
          <a:srcRect l="0" r="0" t="1316" b="1316"/>
          <a:stretch/>
        </p:blipFill>
        <p:spPr>
          <a:xfrm>
            <a:off x="8178394" y="3856163"/>
            <a:ext cx="868680" cy="11430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178394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9199778" y="3856163"/>
            <a:ext cx="2534717" cy="9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거친 화강암 칩 콘크리트 매스에 불규칙한 세로 슬릿으로 빛이 새어 나옴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홀과 주차층을 하나의 단단한 덩어리로 표현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 면적 부족, 기계환기 · 슬릿 방화 검토 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516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대안 3종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04978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42138" y="182880"/>
            <a:ext cx="4152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대지에서 매스만 바꾸면 바닥면적이 최대 19% 줄어듦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77308" y="466344"/>
            <a:ext cx="106417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매스 스터디 · 상부 바닥면적은 2층 이상 슬래브 면적 합(개략) · 외피는 Alt 1 · 2 · 3 방식을 각각 적용 / 법규 · 구조 · 주차 대수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26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9646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A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63391" y="1042416"/>
            <a:ext cx="2849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계단식 테라스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남→북 1 · 2 · 4 · 6층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form_A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\prof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56163"/>
            <a:ext cx="1963757" cy="5669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573661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16,100㎡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−19% · 최고 30.8m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575796"/>
            <a:ext cx="3556102" cy="40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단마다 녹지 테라스가 생겨 옥상 광장이 3개로 늘어남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Saint-Luc식 물결 슬랫, 지붕을 녹지로 돌려 줌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바닥면적이 줄어 주차 대수 재검토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88508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B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5016033" y="1042416"/>
            <a:ext cx="2857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엇갈린 슬래브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층마다 폭 · 위치 · 층고가 다름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form_B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\prof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797" y="3856163"/>
            <a:ext cx="1963757" cy="56692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434258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18,600㎡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−6% · 최고 31.4m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4317797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슬래브가 서로 내밀고 들어가 그림자와 처마가 생김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Road처럼 외벽 없이 기둥 · 슬래브 · 램프만 보임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 없어 보완 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9006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C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878184" y="1042416"/>
            <a:ext cx="2856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 협곡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틈 폭 약 9m, 6F 홀이 위에서 이음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form_C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\prof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4" y="3856163"/>
            <a:ext cx="1963757" cy="5669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94855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19,700㎡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−1% · 최고 30.5m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8178394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매스를 대각선 틈으로 갈라 빛과 바람이 들고, 틈 안 검은 계단이 옥상까지 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Blaibach식 화강암 골재 콘크리트와 세로 슬릿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판으로 나뉘어 동선 · 방화구획 · 코어 재계획 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2529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일은 법규 원문 확인과 작도임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37374" y="466344"/>
            <a:ext cx="31041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시안의 열린 이슈 · 수치는 모두 개략이며 확정은 법규 원문 확인과 작도에서 이뤄짐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27</a:t>
            </a:r>
            <a:endParaRPr lang="ko-KR" alt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7416597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2753157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 · 방향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 600대와 주차 면적 약 33,000㎡의 관계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1대당 약 55㎡로 계산됨, 기준층 배치로 확인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진입부(소로 남단)와 224번길 모퉁이 · 횡단보도 · 정류장 거리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출입구 설치 금지 구간(5m · 10m)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개방 순환 계단의 피난계단 인정 여부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되면 보조 피난계단 2곳이 법정 계단 역할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안의 공지의 지하층 적용 여부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지하를 대지 전체로 계산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207-15 · 79 용도지역 표기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제3종일반주거지역 동시 표기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보행거리 작도(코어 4곳 50m, 지하 공연장 30m)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피난 조건부 판정 해소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 외피 재료, 소음 · 조명 운영시간, 소음 실측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후속 설계 과제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5699730"/>
            <a:ext cx="7416597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1792" y="5791170"/>
            <a:ext cx="7087413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보고서에서 다루지 않은 사항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사업성(토지 매입 · 공사비 · 주차 수입) · 합필 방식과 운영 주체 · 침수 · 지반 · 소음 실측 · 상세 평면 · 단면(미작성)</a:t>
            </a:r>
            <a:endParaRPr lang="ko-KR" alt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78597" y="1042416"/>
            <a:ext cx="3555898" cy="5175504"/>
          </a:xfrm>
          <a:prstGeom prst="rect">
            <a:avLst/>
          </a:prstGeom>
          <a:solidFill>
            <a:srgbClr val="4C4C4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78597" y="1865376"/>
            <a:ext cx="3555898" cy="123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</a:t>
            </a:r>
            <a:endParaRPr lang="ko-KR" altLang="en-US" sz="4000" dirty="0"/>
          </a:p>
          <a:p>
            <a:pPr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</a:t>
            </a:r>
            <a:endParaRPr lang="ko-KR" alt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8178597" y="3328416"/>
            <a:ext cx="35558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4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8361477" y="4242816"/>
            <a:ext cx="319013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</a:t>
            </a:r>
            <a:endParaRPr lang="ko-KR" altLang="en-US" sz="12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ko-KR" alt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178597" y="5577840"/>
            <a:ext cx="355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ko-KR" alt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전포 정동관 · 복합주차장 시안 (공설기 v1.2)</dc:title>
  <dc:subject>PptxGenJS Presentation</dc:subject>
  <dc:creator>정성윤</dc:creator>
  <cp:lastModifiedBy>정성윤</cp:lastModifiedBy>
  <cp:revision>1</cp:revision>
  <dcterms:created xsi:type="dcterms:W3CDTF">2026-10-13T04:34:52Z</dcterms:created>
  <dcterms:modified xsi:type="dcterms:W3CDTF">2026-10-13T04:34:52Z</dcterms:modified>
</cp:coreProperties>
</file>