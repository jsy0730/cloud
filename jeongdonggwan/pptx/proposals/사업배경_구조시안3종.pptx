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968edd2-c081-e172-b83c-7e95ad292d4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jpg"/><Relationship Id="rId3" Type="http://schemas.openxmlformats.org/officeDocument/2006/relationships/image" Target="../media/image-5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532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3쪽 구조 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72096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58128" y="182880"/>
            <a:ext cx="2529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내용을 세 가지 구조로 배치함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70878" y="466344"/>
            <a:ext cx="167060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문구 · 수치는 v6 사업 배경 3쪽과 동일하며 배치와 도형만 바꿈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01</a:t>
            </a:r>
            <a:endParaRPr lang="ko-KR" alt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2834640"/>
                <a:gridCol w="2240280"/>
                <a:gridCol w="227045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3쪽 구성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도형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맞는 경우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유의점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흐름형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시간 흐름 띠(쉐브론) + 지금 ▶ 앞으로 / 04 원 3개(먹고 + 보고 + 듣고) / 05 단계 화살 3칸 + 사례 카드 4장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쉐브론 · 원(점선 원 = 빈칸) · 오각 화살 · 삼각 화살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말로 설명하며 순서를 따라갈 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도형이 많아 글자 수는 줄여야 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숫자형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어두운 세로 띠 + 큰 숫자 타일 4개 / 04 좌 채움 2줄 · 우 어두운 "듣고" 블록 / 05 번호 레일 + 사례 2×2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숫자 타일 · 어두운 블록 · 번호 레일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심사에서 숫자로 설득할 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출처를 타일마다 달아야 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도식형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과거 · 지금 · 앞으로 세 열 + 얇은 시간선 / 04 퍼즐 띠(빈 조각) + 공백 표 / 05 건물 단면 도식 + 사례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퍼즐 띠 · 건물 단면 막대 · 세 열 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계획 논리를 그림으로 보여 줄 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작도할 도식이 늘어 수정 부담이 큼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078224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4050792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ko-KR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62272"/>
            <a:ext cx="11277295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공설기 v1.2의 색 · 글꼴 역할 · 헤더 · 푸터는 그대로 두고 본문 배치와 도형만 바꿈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· 수치 · 출처는 v6과 같음(새 주장 없음)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시안마다 03 · 04 · 05 세 쪽씩이며 채택한 시안을 본 덱의 사업 배경 쪽에 반영함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02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83803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A · 흐름형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1042416"/>
            <a:ext cx="7635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전포가 받아 온 사람들</a:t>
            </a:r>
            <a:endParaRPr lang="ko-KR" alt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463040"/>
            <a:ext cx="1614830" cy="457200"/>
          </a:xfrm>
          <a:prstGeom prst="chevron">
            <a:avLst/>
          </a:prstGeom>
          <a:solidFill>
            <a:srgbClr val="8493B2"/>
          </a:solidFill>
          <a:ln/>
        </p:spPr>
        <p:txBody>
          <a:bodyPr wrap="square" lIns="201168" tIns="0" rIns="164592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2011680"/>
            <a:ext cx="143195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62302" y="1463040"/>
            <a:ext cx="1614830" cy="457200"/>
          </a:xfrm>
          <a:prstGeom prst="chevron">
            <a:avLst/>
          </a:prstGeom>
          <a:solidFill>
            <a:srgbClr val="8493B2"/>
          </a:solidFill>
          <a:ln/>
        </p:spPr>
        <p:txBody>
          <a:bodyPr wrap="square" lIns="201168" tIns="0" rIns="164592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</a:t>
            </a:r>
            <a:endParaRPr lang="ko-KR" alt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090318" y="2011680"/>
            <a:ext cx="1431950" cy="729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 모인 산업 골목</a:t>
            </a:r>
            <a:endParaRPr lang="ko-KR" alt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467405" y="1463040"/>
            <a:ext cx="1614830" cy="457200"/>
          </a:xfrm>
          <a:prstGeom prst="chevron">
            <a:avLst/>
          </a:prstGeom>
          <a:solidFill>
            <a:srgbClr val="7F9DCF"/>
          </a:solidFill>
          <a:ln/>
        </p:spPr>
        <p:txBody>
          <a:bodyPr wrap="square" lIns="201168" tIns="0" rIns="164592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</a:t>
            </a:r>
            <a:endParaRPr lang="ko-KR" alt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595421" y="2011680"/>
            <a:ext cx="1431950" cy="729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972507" y="1463040"/>
            <a:ext cx="1614830" cy="457200"/>
          </a:xfrm>
          <a:prstGeom prst="chevron">
            <a:avLst/>
          </a:prstGeom>
          <a:solidFill>
            <a:srgbClr val="4272C4"/>
          </a:solidFill>
          <a:ln/>
        </p:spPr>
        <p:txBody>
          <a:bodyPr wrap="square" lIns="201168" tIns="0" rIns="164592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100523" y="2011680"/>
            <a:ext cx="1431950" cy="729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 운영단 협약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77610" y="1463040"/>
            <a:ext cx="1614830" cy="457200"/>
          </a:xfrm>
          <a:prstGeom prst="chevron">
            <a:avLst/>
          </a:prstGeom>
          <a:solidFill>
            <a:srgbClr val="002060"/>
          </a:solidFill>
          <a:ln/>
        </p:spPr>
        <p:txBody>
          <a:bodyPr wrap="square" lIns="201168" tIns="0" rIns="164592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605626" y="2011680"/>
            <a:ext cx="1431950" cy="897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 600대 · 공연장 200석 · 옥상 광장</a:t>
            </a:r>
            <a:endParaRPr lang="ko-KR" altLang="en-US" sz="1200" dirty="0"/>
          </a:p>
        </p:txBody>
      </p:sp>
      <p:pic>
        <p:nvPicPr>
          <p:cNvPr id="28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10685" r="10685" t="0" b="0"/>
          <a:stretch/>
        </p:blipFill>
        <p:spPr>
          <a:xfrm>
            <a:off x="8321040" y="1042416"/>
            <a:ext cx="1668780" cy="1783080"/>
          </a:xfrm>
          <a:prstGeom prst="rect">
            <a:avLst/>
          </a:prstGeom>
        </p:spPr>
      </p:pic>
      <p:pic>
        <p:nvPicPr>
          <p:cNvPr id="29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10685" r="10685" t="0" b="0"/>
          <a:stretch/>
        </p:blipFill>
        <p:spPr>
          <a:xfrm>
            <a:off x="10065715" y="1042416"/>
            <a:ext cx="1668780" cy="178308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321040" y="2852928"/>
            <a:ext cx="341345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" y="3236976"/>
            <a:ext cx="3611880" cy="29809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585216" y="3346704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612648" y="4016776"/>
            <a:ext cx="3300984" cy="175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위에 서 있는 차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 1만 명, 주말 이틀 5만 명 이상 방문(2018, 구 집계)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 300m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4142232" y="4453128"/>
            <a:ext cx="310896" cy="548640"/>
          </a:xfrm>
          <a:prstGeom prst="rightArrow">
            <a:avLst/>
          </a:prstGeom>
          <a:solidFill>
            <a:srgbClr val="8493B2"/>
          </a:solidFill>
          <a:ln/>
        </p:spPr>
      </p:sp>
      <p:sp>
        <p:nvSpPr>
          <p:cNvPr id="35" name="Shape 30"/>
          <p:cNvSpPr/>
          <p:nvPr/>
        </p:nvSpPr>
        <p:spPr>
          <a:xfrm>
            <a:off x="4526280" y="3236976"/>
            <a:ext cx="3611880" cy="29809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654296" y="3346704"/>
            <a:ext cx="59006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4681728" y="4228826"/>
            <a:ext cx="3300984" cy="132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수요를 키우는 계획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 4.35만㎡, 2031 이전 목표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 운영단 협약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8366760" y="326440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503920" y="3236976"/>
            <a:ext cx="33677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8366760" y="3555187"/>
          <a:ext cx="3367735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1" name="Text 35"/>
          <p:cNvSpPr txBox="1"/>
          <p:nvPr/>
        </p:nvSpPr>
        <p:spPr>
          <a:xfrm>
            <a:off x="8366760" y="4698187"/>
            <a:ext cx="336773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8366760" y="496455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503920" y="4937120"/>
            <a:ext cx="33677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확충 후 상권(서울 사당)</a:t>
            </a:r>
            <a:endParaRPr lang="ko-KR" altLang="en-US" sz="1350" dirty="0"/>
          </a:p>
        </p:txBody>
      </p:sp>
      <p:sp>
        <p:nvSpPr>
          <p:cNvPr id="44" name="Shape 38"/>
          <p:cNvSpPr/>
          <p:nvPr/>
        </p:nvSpPr>
        <p:spPr>
          <a:xfrm>
            <a:off x="8366760" y="5255331"/>
            <a:ext cx="1071982" cy="566928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366760" y="5291907"/>
            <a:ext cx="107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+4.5%</a:t>
            </a:r>
            <a:endParaRPr lang="ko-KR" altLang="en-US" sz="15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</a:t>
            </a:r>
            <a:endParaRPr lang="ko-KR" alt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9514637" y="5255331"/>
            <a:ext cx="1071982" cy="566928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514637" y="5291907"/>
            <a:ext cx="107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+5.0%</a:t>
            </a:r>
            <a:endParaRPr lang="ko-KR" altLang="en-US" sz="15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점포 수</a:t>
            </a:r>
            <a:endParaRPr lang="ko-KR" altLang="en-US" sz="1500" dirty="0"/>
          </a:p>
        </p:txBody>
      </p:sp>
      <p:sp>
        <p:nvSpPr>
          <p:cNvPr id="48" name="Shape 42"/>
          <p:cNvSpPr/>
          <p:nvPr/>
        </p:nvSpPr>
        <p:spPr>
          <a:xfrm>
            <a:off x="10662514" y="5255331"/>
            <a:ext cx="1071982" cy="566928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10662514" y="5291907"/>
            <a:ext cx="107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+10.2%</a:t>
            </a:r>
            <a:endParaRPr lang="ko-KR" altLang="en-US" sz="15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매출</a:t>
            </a:r>
            <a:endParaRPr lang="ko-KR" alt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8366760" y="5898154"/>
            <a:ext cx="336773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 145면 조성 후 · 구청 발표이며 다른 사업이 병행되어 주차 확충만의 효과는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83803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A · 흐름형</a:t>
            </a:r>
            <a:endParaRPr lang="ko-KR" alt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453896"/>
            <a:ext cx="2011680" cy="2011680"/>
          </a:xfrm>
          <a:prstGeom prst="ellipse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1453896"/>
            <a:ext cx="2011680" cy="2011680"/>
          </a:xfrm>
          <a:prstGeom prst="ellipse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1453896"/>
            <a:ext cx="2011680" cy="2011680"/>
          </a:xfrm>
          <a:prstGeom prst="ellipse">
            <a:avLst/>
          </a:prstGeom>
          <a:ln w="38100">
            <a:solidFill>
              <a:srgbClr val="FFC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21854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21854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3593592"/>
            <a:ext cx="1005840" cy="274320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" y="3995928"/>
            <a:ext cx="2231136" cy="139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593592"/>
            <a:ext cx="1005840" cy="274320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862072" y="3995928"/>
            <a:ext cx="2231136" cy="121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3593592"/>
            <a:ext cx="100584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376672" y="3995928"/>
            <a:ext cx="2231136" cy="163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802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939735" y="1042416"/>
            <a:ext cx="3931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802575" y="1360627"/>
            <a:ext cx="3931920" cy="1400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Shape 27"/>
          <p:cNvSpPr/>
          <p:nvPr/>
        </p:nvSpPr>
        <p:spPr>
          <a:xfrm>
            <a:off x="7802575" y="1360627"/>
            <a:ext cx="54864" cy="14008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985455" y="1360627"/>
            <a:ext cx="3657600" cy="1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200~300석이 없음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"부산에는 제대로 된 200석, 300석 극장이 없다"(지역 연극 제작자)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소극장은 너무 작고 큰 공연장은 대관비가 부담</a:t>
            </a:r>
            <a:endParaRPr lang="ko-KR" alt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02575" y="2837322"/>
            <a:ext cx="3931920" cy="123309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Shape 30"/>
          <p:cNvSpPr/>
          <p:nvPr/>
        </p:nvSpPr>
        <p:spPr>
          <a:xfrm>
            <a:off x="7802575" y="2837322"/>
            <a:ext cx="54864" cy="1233099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985455" y="2837322"/>
            <a:ext cx="3657600" cy="123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라이브클럽은 공연장이 아님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법적으로 식품접객업으로 분류되어 예술 지원에서 빠짐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인디 공연이 한 곳에 몰린다는 보도</a:t>
            </a:r>
            <a:endParaRPr lang="ko-KR" alt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02575" y="4146316"/>
            <a:ext cx="3931920" cy="123309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Shape 33"/>
          <p:cNvSpPr/>
          <p:nvPr/>
        </p:nvSpPr>
        <p:spPr>
          <a:xfrm>
            <a:off x="7802575" y="4146316"/>
            <a:ext cx="54864" cy="1233099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985455" y="4146316"/>
            <a:ext cx="3657600" cy="1233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안에 들어올 자리가 없음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 오르는 상권에서 객석 공연장은 버티기 어려움</a:t>
            </a:r>
            <a:endParaRPr lang="ko-KR" altLang="en-US" sz="9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· 코로나)</a:t>
            </a:r>
            <a:endParaRPr lang="ko-KR" alt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802575" y="5532120"/>
            <a:ext cx="3931920" cy="6858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967167" y="562356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 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83803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A · 흐름형</a:t>
            </a:r>
            <a:endParaRPr lang="ko-KR" alt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042416"/>
            <a:ext cx="3698138" cy="713232"/>
          </a:xfrm>
          <a:prstGeom prst="homePlate">
            <a:avLst/>
          </a:prstGeom>
          <a:solidFill>
            <a:srgbClr val="8493B2"/>
          </a:solidFill>
          <a:ln/>
        </p:spPr>
        <p:txBody>
          <a:bodyPr wrap="square" lIns="164592" tIns="0" rIns="36576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극장 하나만으론 살아남기 어려움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883664"/>
            <a:ext cx="3423818" cy="78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292498" y="1042416"/>
            <a:ext cx="3698138" cy="713232"/>
          </a:xfrm>
          <a:prstGeom prst="homePlate">
            <a:avLst/>
          </a:prstGeom>
          <a:solidFill>
            <a:srgbClr val="4272C4"/>
          </a:solidFill>
          <a:ln/>
        </p:spPr>
        <p:txBody>
          <a:bodyPr wrap="square" lIns="164592" tIns="0" rIns="36576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건물이 문화시설을 품어야 함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338218" y="1883664"/>
            <a:ext cx="3423818" cy="78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 두 번 씀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127797" y="1042416"/>
            <a:ext cx="3606698" cy="713232"/>
          </a:xfrm>
          <a:prstGeom prst="homePlate">
            <a:avLst/>
          </a:prstGeom>
          <a:solidFill>
            <a:srgbClr val="002060"/>
          </a:solidFill>
          <a:ln/>
        </p:spPr>
        <p:txBody>
          <a:bodyPr wrap="square" lIns="164592" tIns="0" rIns="36576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주차 건물이라 공연 소음이 건물 안에서는 문제가 적음</a:t>
            </a:r>
            <a:endParaRPr lang="ko-KR" alt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73517" y="1883664"/>
            <a:ext cx="3423818" cy="97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31012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3282696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pic>
        <p:nvPicPr>
          <p:cNvPr id="24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33739" b="33739"/>
          <a:stretch/>
        </p:blipFill>
        <p:spPr>
          <a:xfrm>
            <a:off x="457200" y="3600907"/>
            <a:ext cx="2704795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57200" y="4862779"/>
            <a:ext cx="270479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 300대 + 행사 공간(최대 700명)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 · 콘서트에 씀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314700" y="3600907"/>
            <a:ext cx="2704795" cy="118872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351276" y="3600907"/>
            <a:ext cx="26316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15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314700" y="4862779"/>
            <a:ext cx="2704795" cy="93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1200" dirty="0"/>
          </a:p>
        </p:txBody>
      </p:sp>
      <p:pic>
        <p:nvPicPr>
          <p:cNvPr id="29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33739" b="33739"/>
          <a:stretch/>
        </p:blipFill>
        <p:spPr>
          <a:xfrm>
            <a:off x="6172200" y="3600907"/>
            <a:ext cx="2704795" cy="11887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172200" y="4862779"/>
            <a:ext cx="2704795" cy="93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 · 2014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1200" dirty="0"/>
          </a:p>
        </p:txBody>
      </p:sp>
      <p:pic>
        <p:nvPicPr>
          <p:cNvPr id="31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33739" b="33739"/>
          <a:stretch/>
        </p:blipFill>
        <p:spPr>
          <a:xfrm>
            <a:off x="9029700" y="3600907"/>
            <a:ext cx="2704795" cy="11887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29700" y="4862779"/>
            <a:ext cx="2704795" cy="93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016752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B · 숫자형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42416"/>
            <a:ext cx="3566160" cy="517550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1042416"/>
            <a:ext cx="3566160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1225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전포가 받아 온 사람들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9808" y="1865376"/>
            <a:ext cx="0" cy="3822192"/>
          </a:xfrm>
          <a:prstGeom prst="line">
            <a:avLst/>
          </a:prstGeom>
          <a:noFill/>
          <a:ln w="15875">
            <a:solidFill>
              <a:srgbClr val="4A4F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" y="1819656"/>
            <a:ext cx="137160" cy="137160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" y="1755648"/>
            <a:ext cx="2743200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  </a:t>
            </a:r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1228" y="2627917"/>
            <a:ext cx="137160" cy="137160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5840" y="2563909"/>
            <a:ext cx="274320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  </a:t>
            </a:r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 모인 산업 골목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1228" y="3603788"/>
            <a:ext cx="137160" cy="137160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05840" y="3539780"/>
            <a:ext cx="274320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  </a:t>
            </a:r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1228" y="4579658"/>
            <a:ext cx="137160" cy="137160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05840" y="4515650"/>
            <a:ext cx="274320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 </a:t>
            </a:r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 운영단 협약</a:t>
            </a:r>
            <a:endParaRPr lang="ko-KR" alt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" y="5555529"/>
            <a:ext cx="137160" cy="13716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05840" y="5491521"/>
            <a:ext cx="2743200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 </a:t>
            </a:r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 600대 · 공연장 200석 · 옥상 광장</a:t>
            </a:r>
            <a:endParaRPr lang="ko-KR" alt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51960" y="1042416"/>
            <a:ext cx="1813712" cy="141732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1" name="Shape 28"/>
          <p:cNvSpPr/>
          <p:nvPr/>
        </p:nvSpPr>
        <p:spPr>
          <a:xfrm>
            <a:off x="4251960" y="1042416"/>
            <a:ext cx="1813712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379976" y="1152144"/>
            <a:ext cx="155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24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 · 5만+</a:t>
            </a:r>
            <a:endParaRPr lang="ko-KR" altLang="en-US" sz="24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· 주말 이틀 방문 인원(2018, 구 집계)</a:t>
            </a:r>
            <a:endParaRPr lang="ko-KR" alt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6141568" y="1042416"/>
            <a:ext cx="1813712" cy="141732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4" name="Shape 31"/>
          <p:cNvSpPr/>
          <p:nvPr/>
        </p:nvSpPr>
        <p:spPr>
          <a:xfrm>
            <a:off x="6141568" y="1042416"/>
            <a:ext cx="1813712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269584" y="1152144"/>
            <a:ext cx="155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27면</a:t>
            </a:r>
            <a:endParaRPr lang="ko-KR" altLang="en-US" sz="28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공영주차장, 인근 사설 3~4곳</a:t>
            </a:r>
            <a:endParaRPr lang="ko-KR" alt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8031175" y="1042416"/>
            <a:ext cx="1813712" cy="141732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31175" y="1042416"/>
            <a:ext cx="1813712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159191" y="1152144"/>
            <a:ext cx="155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69.1%</a:t>
            </a:r>
            <a:endParaRPr lang="ko-KR" altLang="en-US" sz="28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주차환경개선지구 평균 확보율(부산 전체 130.5%)</a:t>
            </a:r>
            <a:endParaRPr lang="ko-KR" altLang="en-US" sz="2800" dirty="0"/>
          </a:p>
        </p:txBody>
      </p:sp>
      <p:sp>
        <p:nvSpPr>
          <p:cNvPr id="39" name="Shape 36"/>
          <p:cNvSpPr/>
          <p:nvPr/>
        </p:nvSpPr>
        <p:spPr>
          <a:xfrm>
            <a:off x="9920783" y="1042416"/>
            <a:ext cx="1813712" cy="141732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0" name="Shape 37"/>
          <p:cNvSpPr/>
          <p:nvPr/>
        </p:nvSpPr>
        <p:spPr>
          <a:xfrm>
            <a:off x="9920783" y="1042416"/>
            <a:ext cx="1813712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048799" y="1152144"/>
            <a:ext cx="155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+10.2%</a:t>
            </a:r>
            <a:endParaRPr lang="ko-KR" altLang="en-US" sz="28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사당 공영 145면 조성 후 상권 매출(구청 발표)</a:t>
            </a:r>
            <a:endParaRPr lang="ko-KR" altLang="en-US" sz="2800" dirty="0"/>
          </a:p>
        </p:txBody>
      </p:sp>
      <p:sp>
        <p:nvSpPr>
          <p:cNvPr id="42" name="Shape 39"/>
          <p:cNvSpPr/>
          <p:nvPr/>
        </p:nvSpPr>
        <p:spPr>
          <a:xfrm>
            <a:off x="4251960" y="2639873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389120" y="2612441"/>
            <a:ext cx="36269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4251960" y="2930652"/>
          <a:ext cx="36269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Text 41"/>
          <p:cNvSpPr txBox="1"/>
          <p:nvPr/>
        </p:nvSpPr>
        <p:spPr>
          <a:xfrm>
            <a:off x="4251960" y="4393692"/>
            <a:ext cx="362696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pic>
        <p:nvPicPr>
          <p:cNvPr id="46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2"/>
          <a:srcRect l="9215" r="9215" t="0" b="0"/>
          <a:stretch/>
        </p:blipFill>
        <p:spPr>
          <a:xfrm>
            <a:off x="8107528" y="2612441"/>
            <a:ext cx="1775536" cy="1828800"/>
          </a:xfrm>
          <a:prstGeom prst="rect">
            <a:avLst/>
          </a:prstGeom>
        </p:spPr>
      </p:pic>
      <p:pic>
        <p:nvPicPr>
          <p:cNvPr id="47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3"/>
          <a:srcRect l="9215" r="9215" t="0" b="0"/>
          <a:stretch/>
        </p:blipFill>
        <p:spPr>
          <a:xfrm>
            <a:off x="9958959" y="2612441"/>
            <a:ext cx="1775536" cy="182880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8107528" y="4468673"/>
            <a:ext cx="362696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4251960" y="4807001"/>
            <a:ext cx="3626968" cy="14109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4398264" y="4807001"/>
            <a:ext cx="3352648" cy="141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+</a:t>
            </a:r>
            <a:endParaRPr lang="ko-KR" altLang="en-US" sz="12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 300m</a:t>
            </a:r>
            <a:endParaRPr lang="ko-KR" altLang="en-US" sz="12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8107528" y="4807001"/>
            <a:ext cx="3626968" cy="14109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253832" y="4807001"/>
            <a:ext cx="3352648" cy="141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 4.35만㎡, 2031 이전 목표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 운영단 협약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B · 숫자형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42416"/>
            <a:ext cx="71780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1042416"/>
            <a:ext cx="1737360" cy="109728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1042416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2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1042416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1453896"/>
            <a:ext cx="914400" cy="274320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15591"/>
            <a:ext cx="717804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2215591"/>
            <a:ext cx="1737360" cy="109728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7200" y="2215591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2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2377440" y="2215591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2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2627071"/>
            <a:ext cx="914400" cy="274320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492094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4360" y="3464662"/>
            <a:ext cx="7178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57200" y="3782873"/>
            <a:ext cx="2290877" cy="176415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" y="3874313"/>
            <a:ext cx="2034845" cy="158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200~300석이 없음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"부산에는 제대로 된 200석, 300석 극장이 없다"(지역 연극 제작자)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소극장은 너무 작고 큰 공연장은 대관비가 부담</a:t>
            </a:r>
            <a:endParaRPr lang="ko-KR" alt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900782" y="3782873"/>
            <a:ext cx="2290877" cy="176415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028798" y="3874313"/>
            <a:ext cx="2034845" cy="158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라이브클럽은 공연장이 아님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법적으로 식품접객업으로 분류되어 예술 지원에서 빠짐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인디 공연이 한 곳에 몰린다는 보도</a:t>
            </a:r>
            <a:endParaRPr lang="ko-KR" alt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344363" y="3782873"/>
            <a:ext cx="2290877" cy="176415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72379" y="3874313"/>
            <a:ext cx="2034845" cy="158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위치의 공백</a:t>
            </a:r>
            <a:endParaRPr lang="ko-KR" altLang="en-US" sz="9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안에 들어올 자리가 없음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 오르는 상권에서 객석 공연장은 버티기 어려움</a:t>
            </a:r>
            <a:endParaRPr lang="ko-KR" altLang="en-US" sz="9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· 코로나)</a:t>
            </a:r>
            <a:endParaRPr lang="ko-KR" alt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5699730"/>
            <a:ext cx="7178040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21792" y="5791170"/>
            <a:ext cx="6848856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 2만 원을 식사 · 음료 · 주류에 씀(2013)</a:t>
            </a:r>
            <a:endParaRPr lang="ko-KR" alt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863840" y="1042416"/>
            <a:ext cx="3870655" cy="517550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7" name="Shape 34"/>
          <p:cNvSpPr/>
          <p:nvPr/>
        </p:nvSpPr>
        <p:spPr>
          <a:xfrm>
            <a:off x="7863840" y="1042416"/>
            <a:ext cx="3870655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092440" y="12252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400" dirty="0"/>
          </a:p>
        </p:txBody>
      </p:sp>
      <p:sp>
        <p:nvSpPr>
          <p:cNvPr id="39" name="Text 36"/>
          <p:cNvSpPr txBox="1"/>
          <p:nvPr/>
        </p:nvSpPr>
        <p:spPr>
          <a:xfrm>
            <a:off x="10454335" y="1353312"/>
            <a:ext cx="105156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092440" y="1819656"/>
            <a:ext cx="3413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092440" y="2139696"/>
            <a:ext cx="3413455" cy="0"/>
          </a:xfrm>
          <a:prstGeom prst="line">
            <a:avLst/>
          </a:prstGeom>
          <a:noFill/>
          <a:ln w="9525">
            <a:solidFill>
              <a:srgbClr val="4A4F5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92440" y="2276856"/>
            <a:ext cx="3413455" cy="729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34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: 319</a:t>
            </a:r>
            <a:endParaRPr lang="ko-KR" altLang="en-US" sz="34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: 서울 공연장(2022)</a:t>
            </a:r>
            <a:endParaRPr lang="ko-KR" altLang="en-US" sz="3400" dirty="0"/>
          </a:p>
        </p:txBody>
      </p:sp>
      <p:sp>
        <p:nvSpPr>
          <p:cNvPr id="43" name="Shape 40"/>
          <p:cNvSpPr/>
          <p:nvPr/>
        </p:nvSpPr>
        <p:spPr>
          <a:xfrm>
            <a:off x="8092440" y="3328416"/>
            <a:ext cx="3413455" cy="0"/>
          </a:xfrm>
          <a:prstGeom prst="line">
            <a:avLst/>
          </a:prstGeom>
          <a:noFill/>
          <a:ln w="9525">
            <a:solidFill>
              <a:srgbClr val="4A4F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092440" y="3557016"/>
            <a:ext cx="3413455" cy="101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350" dirty="0"/>
          </a:p>
          <a:p>
            <a:pPr algn="l" marL="152400" indent="-152400">
              <a:spcAft>
                <a:spcPts val="14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B · 숫자형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1042416"/>
            <a:ext cx="4297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453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1499616"/>
            <a:ext cx="342900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2616175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02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2947904"/>
            <a:ext cx="3429000" cy="97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 두 번 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200" y="4232163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5181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563892"/>
            <a:ext cx="3429000" cy="100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 문제가 적음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0593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96535" y="1042416"/>
            <a:ext cx="6675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05937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Shape 26"/>
          <p:cNvSpPr/>
          <p:nvPr/>
        </p:nvSpPr>
        <p:spPr>
          <a:xfrm>
            <a:off x="505937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30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9103" y="1516075"/>
            <a:ext cx="960120" cy="1297459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25723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300대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행사 700명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 300대 + 행사 공간(최대 700명)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 · 콘서트에 씀</a:t>
            </a:r>
            <a:endParaRPr lang="ko-KR" altLang="en-US" sz="3000" dirty="0"/>
          </a:p>
        </p:txBody>
      </p:sp>
      <p:sp>
        <p:nvSpPr>
          <p:cNvPr id="32" name="Shape 28"/>
          <p:cNvSpPr/>
          <p:nvPr/>
        </p:nvSpPr>
        <p:spPr>
          <a:xfrm>
            <a:off x="851123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Shape 29"/>
          <p:cNvSpPr/>
          <p:nvPr/>
        </p:nvSpPr>
        <p:spPr>
          <a:xfrm>
            <a:off x="851123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4" name="Shape 30"/>
          <p:cNvSpPr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주차빌딩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상층부</a:t>
            </a:r>
            <a:endParaRPr lang="ko-KR" alt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970909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3000" dirty="0"/>
          </a:p>
        </p:txBody>
      </p:sp>
      <p:sp>
        <p:nvSpPr>
          <p:cNvPr id="37" name="Shape 33"/>
          <p:cNvSpPr/>
          <p:nvPr/>
        </p:nvSpPr>
        <p:spPr>
          <a:xfrm>
            <a:off x="505937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8" name="Shape 34"/>
          <p:cNvSpPr/>
          <p:nvPr/>
        </p:nvSpPr>
        <p:spPr>
          <a:xfrm>
            <a:off x="505937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39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9103" y="3911346"/>
            <a:ext cx="960120" cy="1297459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25723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홀 + 지상 화강암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 · 2014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3000" dirty="0"/>
          </a:p>
        </p:txBody>
      </p:sp>
      <p:sp>
        <p:nvSpPr>
          <p:cNvPr id="41" name="Shape 36"/>
          <p:cNvSpPr/>
          <p:nvPr/>
        </p:nvSpPr>
        <p:spPr>
          <a:xfrm>
            <a:off x="851123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2" name="Shape 37"/>
          <p:cNvSpPr/>
          <p:nvPr/>
        </p:nvSpPr>
        <p:spPr>
          <a:xfrm>
            <a:off x="851123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43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20963" y="3911346"/>
            <a:ext cx="960120" cy="1297459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70909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24m 시민 공간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3000" dirty="0"/>
          </a:p>
        </p:txBody>
      </p:sp>
      <p:sp>
        <p:nvSpPr>
          <p:cNvPr id="45" name="Text 39"/>
          <p:cNvSpPr txBox="1"/>
          <p:nvPr/>
        </p:nvSpPr>
        <p:spPr>
          <a:xfrm>
            <a:off x="5059375" y="6016752"/>
            <a:ext cx="66751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C · 도식형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9050">
            <a:solidFill>
              <a:srgbClr val="8493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02634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1463040"/>
            <a:ext cx="2072579" cy="52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758093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04099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 모인 산업 골목</a:t>
            </a:r>
            <a:endParaRPr lang="ko-KR" alt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13552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59558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269011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017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 운영단 협약</a:t>
            </a:r>
            <a:endParaRPr lang="ko-KR" alt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0524470" y="1216152"/>
            <a:ext cx="164592" cy="164592"/>
          </a:xfrm>
          <a:prstGeom prst="ellipse">
            <a:avLst/>
          </a:prstGeom>
          <a:solidFill>
            <a:srgbClr val="002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70476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 600대 · 공연장 200석 · 옥상 광장</a:t>
            </a:r>
            <a:endParaRPr lang="ko-KR" alt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2615184"/>
            <a:ext cx="2971800" cy="310896"/>
          </a:xfrm>
          <a:prstGeom prst="homePlate">
            <a:avLst/>
          </a:prstGeom>
          <a:solidFill>
            <a:srgbClr val="8493B2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ko-KR" altLang="en-US" sz="1100" dirty="0"/>
          </a:p>
        </p:txBody>
      </p:sp>
      <p:pic>
        <p:nvPicPr>
          <p:cNvPr id="28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0" r="0" t="21306" b="21306"/>
          <a:stretch/>
        </p:blipFill>
        <p:spPr>
          <a:xfrm>
            <a:off x="457200" y="3001975"/>
            <a:ext cx="2971800" cy="1432865"/>
          </a:xfrm>
          <a:prstGeom prst="rect">
            <a:avLst/>
          </a:prstGeom>
        </p:spPr>
      </p:pic>
      <p:pic>
        <p:nvPicPr>
          <p:cNvPr id="29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0" r="0" t="21306" b="21306"/>
          <a:stretch/>
        </p:blipFill>
        <p:spPr>
          <a:xfrm>
            <a:off x="457200" y="4510735"/>
            <a:ext cx="2971800" cy="143286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57200" y="6016752"/>
            <a:ext cx="29718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3657600" y="2615184"/>
            <a:ext cx="4343400" cy="310896"/>
          </a:xfrm>
          <a:prstGeom prst="homePlate">
            <a:avLst/>
          </a:prstGeom>
          <a:solidFill>
            <a:srgbClr val="4272C4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3703320" y="3001975"/>
            <a:ext cx="425196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 1만 명, 주말 이틀 5만 명 이상 방문(2018, 구 집계)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 300m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657600" y="396694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794760" y="3939510"/>
            <a:ext cx="4343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3657600" y="4257721"/>
          <a:ext cx="4343400" cy="17041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Text 30"/>
          <p:cNvSpPr txBox="1"/>
          <p:nvPr/>
        </p:nvSpPr>
        <p:spPr>
          <a:xfrm>
            <a:off x="3657600" y="5998464"/>
            <a:ext cx="43434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8229600" y="2615184"/>
            <a:ext cx="3504895" cy="310896"/>
          </a:xfrm>
          <a:prstGeom prst="homePlate">
            <a:avLst/>
          </a:prstGeom>
          <a:solidFill>
            <a:srgbClr val="002060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275320" y="3001975"/>
            <a:ext cx="3413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 4.35만㎡, 2031 이전 목표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 운영단 협약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229600" y="409651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366760" y="4069080"/>
            <a:ext cx="35048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늘려 상권이 산 사례</a:t>
            </a:r>
            <a:endParaRPr lang="ko-KR" alt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387291"/>
          <a:ext cx="3504895" cy="914400"/>
        </p:xfrm>
        <a:graphic>
          <a:graphicData uri="http://schemas.openxmlformats.org/drawingml/2006/table">
            <a:tbl>
              <a:tblPr/>
              <a:tblGrid>
                <a:gridCol w="2590495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사당 · 공영 145면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조성 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유동인구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점포 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+5.0%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매출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229600" y="5560466"/>
            <a:ext cx="350489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발표이며 같은 기간 에스컬레이터 설치 등 다른 사업이 병행되어 주차 확충만의 효과는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C · 도식형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42416"/>
            <a:ext cx="3740810" cy="214884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17" name="Shape 14"/>
          <p:cNvSpPr/>
          <p:nvPr/>
        </p:nvSpPr>
        <p:spPr>
          <a:xfrm flipH="1">
            <a:off x="3905402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2844698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16298" y="1042416"/>
            <a:ext cx="3740810" cy="2148840"/>
          </a:xfrm>
          <a:prstGeom prst="rect">
            <a:avLst/>
          </a:prstGeom>
          <a:solidFill>
            <a:srgbClr val="C5D3EC"/>
          </a:solidFill>
          <a:ln/>
        </p:spPr>
      </p:sp>
      <p:sp>
        <p:nvSpPr>
          <p:cNvPr id="23" name="Shape 20"/>
          <p:cNvSpPr/>
          <p:nvPr/>
        </p:nvSpPr>
        <p:spPr>
          <a:xfrm flipH="1">
            <a:off x="7664501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490618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800" dirty="0"/>
          </a:p>
        </p:txBody>
      </p:sp>
      <p:sp>
        <p:nvSpPr>
          <p:cNvPr id="25" name="Text 22"/>
          <p:cNvSpPr txBox="1"/>
          <p:nvPr/>
        </p:nvSpPr>
        <p:spPr>
          <a:xfrm>
            <a:off x="6603797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490618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93685" y="1060704"/>
            <a:ext cx="3722522" cy="2112264"/>
          </a:xfrm>
          <a:prstGeom prst="rect">
            <a:avLst/>
          </a:prstGeom>
          <a:ln w="38100">
            <a:solidFill>
              <a:srgbClr val="FFC000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8249717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800" dirty="0"/>
          </a:p>
        </p:txBody>
      </p:sp>
      <p:sp>
        <p:nvSpPr>
          <p:cNvPr id="30" name="Text 27"/>
          <p:cNvSpPr txBox="1"/>
          <p:nvPr/>
        </p:nvSpPr>
        <p:spPr>
          <a:xfrm>
            <a:off x="10362895" y="1316736"/>
            <a:ext cx="100584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49717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49717" y="2093976"/>
            <a:ext cx="311901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371393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94360" y="3343961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2172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61385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비었나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200~300석이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"부산에는 제대로 된 200석, 300석 극장이 없다"(지역 연극 제작자) / 소극장은 너무 작고 큰 공연장은 대관비가 부담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제도의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라이브클럽은 공연장이 아님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법적으로 식품접객업으로 분류되어 예술 지원에서 빠짐 / 부산 인디 공연이 한 곳에 몰린다는 보도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골목 안에 들어올 자리가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임대료 오르는 상권에서 객석 공연장은 버티기 어려움 / 부산 소극장 2020년 두 곳 폐관(임대료 · 코로나)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457200" y="5867430"/>
            <a:ext cx="11277295" cy="3504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21792" y="5958870"/>
            <a:ext cx="10948111" cy="16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 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288"/>
            <a:ext cx="975848" cy="18288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C · 도식형</a:t>
            </a:r>
            <a:endParaRPr lang="ko-KR" alt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1042416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1360627"/>
            <a:ext cx="3429000" cy="14516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7200" y="1360627"/>
            <a:ext cx="384048" cy="1451671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1360627"/>
            <a:ext cx="2834640" cy="1451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888193"/>
            <a:ext cx="3429000" cy="14516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" y="2888193"/>
            <a:ext cx="384048" cy="1451671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2888193"/>
            <a:ext cx="2834640" cy="1451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 두 번 씀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415760"/>
            <a:ext cx="3429000" cy="1802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4415760"/>
            <a:ext cx="384048" cy="18021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4415760"/>
            <a:ext cx="2834640" cy="180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 문제가 적음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251960" y="104241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건물의 하루 (개념 단면)</a:t>
            </a:r>
            <a:endParaRPr lang="ko-KR" alt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5166360" y="1360627"/>
            <a:ext cx="2331720" cy="470005"/>
          </a:xfrm>
          <a:prstGeom prst="rect">
            <a:avLst/>
          </a:prstGeom>
          <a:solidFill>
            <a:srgbClr val="CFE5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66360" y="1360627"/>
            <a:ext cx="2331720" cy="47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166360" y="1830632"/>
            <a:ext cx="2331720" cy="799009"/>
          </a:xfrm>
          <a:prstGeom prst="rect">
            <a:avLst/>
          </a:prstGeom>
          <a:solidFill>
            <a:srgbClr val="8FAA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66360" y="1830632"/>
            <a:ext cx="2331720" cy="799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66360" y="2629641"/>
            <a:ext cx="2331720" cy="1410016"/>
          </a:xfrm>
          <a:prstGeom prst="rect">
            <a:avLst/>
          </a:prstGeom>
          <a:solidFill>
            <a:srgbClr val="CFCF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166360" y="2629641"/>
            <a:ext cx="2331720" cy="141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2~5F 주차(스킵플로어)</a:t>
            </a:r>
            <a:endParaRPr lang="ko-KR" alt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66360" y="4039657"/>
            <a:ext cx="2331720" cy="582806"/>
          </a:xfrm>
          <a:prstGeom prst="rect">
            <a:avLst/>
          </a:prstGeom>
          <a:solidFill>
            <a:srgbClr val="FBF3A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66360" y="4039657"/>
            <a:ext cx="2331720" cy="58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 서점 · 카페 · 근생</a:t>
            </a:r>
            <a:endParaRPr lang="ko-KR" alt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166360" y="4622463"/>
            <a:ext cx="2331720" cy="846009"/>
          </a:xfrm>
          <a:prstGeom prst="rect">
            <a:avLst/>
          </a:prstGeom>
          <a:solidFill>
            <a:srgbClr val="8FAA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66360" y="4622463"/>
            <a:ext cx="2331720" cy="846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B1~B2 공연장 200석</a:t>
            </a:r>
            <a:endParaRPr lang="ko-KR" alt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166360" y="5468473"/>
            <a:ext cx="2331720" cy="658007"/>
          </a:xfrm>
          <a:prstGeom prst="rect">
            <a:avLst/>
          </a:prstGeom>
          <a:solidFill>
            <a:srgbClr val="CFCF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166360" y="5468473"/>
            <a:ext cx="2331720" cy="65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B3~B4 주차 · 설비</a:t>
            </a:r>
            <a:endParaRPr lang="ko-KR" alt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846320" y="4622463"/>
            <a:ext cx="29718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43800" y="4421295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096512" y="3151769"/>
            <a:ext cx="1143000" cy="365760"/>
          </a:xfrm>
          <a:prstGeom prst="rightArrow">
            <a:avLst/>
          </a:prstGeom>
          <a:solidFill>
            <a:srgbClr val="8493B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114800" y="3535817"/>
            <a:ext cx="1051560" cy="34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들어와 쉼(停)</a:t>
            </a:r>
            <a:endParaRPr lang="ko-KR" alt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406640" y="4862588"/>
            <a:ext cx="1143000" cy="365760"/>
          </a:xfrm>
          <a:prstGeom prst="leftArrow">
            <a:avLst/>
          </a:prstGeom>
          <a:solidFill>
            <a:srgbClr val="FFC000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516368" y="5246636"/>
            <a:ext cx="1051560" cy="48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관객이 모여 내려감(動)</a:t>
            </a:r>
            <a:endParaRPr lang="ko-KR" alt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114800" y="2702793"/>
            <a:ext cx="1014984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· 숙박 ·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용도 없음</a:t>
            </a:r>
            <a:endParaRPr lang="ko-KR" alt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77824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915400" y="1042416"/>
            <a:ext cx="295625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8778240" y="1360627"/>
            <a:ext cx="2956255" cy="106596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51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51392" y="1433779"/>
            <a:ext cx="680547" cy="919658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9641667" y="1397203"/>
            <a:ext cx="2019676" cy="9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 300대 + 행사 공간(최대 700명)</a:t>
            </a:r>
            <a:endParaRPr lang="ko-KR" alt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778240" y="2502484"/>
            <a:ext cx="2956255" cy="106596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851392" y="2575636"/>
            <a:ext cx="680547" cy="919658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8851392" y="2575636"/>
            <a:ext cx="680547" cy="919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주차빌딩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상층부</a:t>
            </a:r>
            <a:endParaRPr lang="ko-KR" altLang="en-US" sz="950" dirty="0"/>
          </a:p>
        </p:txBody>
      </p:sp>
      <p:sp>
        <p:nvSpPr>
          <p:cNvPr id="56" name="Text 52"/>
          <p:cNvSpPr txBox="1"/>
          <p:nvPr/>
        </p:nvSpPr>
        <p:spPr>
          <a:xfrm>
            <a:off x="9641667" y="2539060"/>
            <a:ext cx="2019676" cy="9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8778240" y="3644341"/>
            <a:ext cx="2956255" cy="106596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58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1392" y="3717493"/>
            <a:ext cx="680547" cy="919658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9641667" y="3680917"/>
            <a:ext cx="2019676" cy="9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1100" dirty="0"/>
          </a:p>
        </p:txBody>
      </p:sp>
      <p:sp>
        <p:nvSpPr>
          <p:cNvPr id="60" name="Shape 55"/>
          <p:cNvSpPr/>
          <p:nvPr/>
        </p:nvSpPr>
        <p:spPr>
          <a:xfrm>
            <a:off x="8778240" y="4786198"/>
            <a:ext cx="2956255" cy="106596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61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51392" y="4859350"/>
            <a:ext cx="680547" cy="919658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9641667" y="4822774"/>
            <a:ext cx="2019676" cy="9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1100" dirty="0"/>
          </a:p>
        </p:txBody>
      </p:sp>
      <p:sp>
        <p:nvSpPr>
          <p:cNvPr id="63" name="Text 57"/>
          <p:cNvSpPr txBox="1"/>
          <p:nvPr/>
        </p:nvSpPr>
        <p:spPr>
          <a:xfrm>
            <a:off x="8778240" y="5888736"/>
            <a:ext cx="295625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2026-10-13T03:29:31Z</dcterms:created>
  <dcterms:modified xsi:type="dcterms:W3CDTF">2026-10-13T03:29:31Z</dcterms:modified>
</cp:coreProperties>
</file>